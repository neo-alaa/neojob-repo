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1508760" y="-2240280"/>
            <a:ext cx="5943600" cy="5943600"/>
          </a:xfrm>
          <a:prstGeom prst="ellipse">
            <a:avLst/>
          </a:prstGeom>
          <a:solidFill>
            <a:srgbClr val="2F6FE0">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92440" y="2880360"/>
            <a:ext cx="6858000" cy="6858000"/>
          </a:xfrm>
          <a:prstGeom prst="ellipse">
            <a:avLst/>
          </a:prstGeom>
          <a:solidFill>
            <a:srgbClr val="6D59E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78240" y="-1097280"/>
            <a:ext cx="3657600" cy="3657600"/>
          </a:xfrm>
          <a:prstGeom prst="ellipse">
            <a:avLst/>
          </a:prstGeom>
          <a:solidFill>
            <a:srgbClr val="0E8F6B">
              <a:alpha val="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777240"/>
            <a:ext cx="2386500"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2F6FE0"/>
                </a:solidFill>
                <a:latin typeface="Inter"/>
              </a:rPr>
              <a:t>PRESENTATION PRODUIT COMPLETE</a:t>
            </a:r>
          </a:p>
        </p:txBody>
      </p:sp>
      <p:sp>
        <p:nvSpPr>
          <p:cNvPr id="6" name="TextBox 5"/>
          <p:cNvSpPr txBox="1"/>
          <p:nvPr/>
        </p:nvSpPr>
        <p:spPr>
          <a:xfrm>
            <a:off x="777240" y="1828800"/>
            <a:ext cx="10515600" cy="1828800"/>
          </a:xfrm>
          <a:prstGeom prst="rect">
            <a:avLst/>
          </a:prstGeom>
          <a:noFill/>
        </p:spPr>
        <p:txBody>
          <a:bodyPr wrap="square" anchor="t" lIns="0" rIns="0" tIns="0" bIns="0">
            <a:noAutofit/>
          </a:bodyPr>
          <a:lstStyle/>
          <a:p>
            <a:pPr algn="l"/>
            <a:r>
              <a:rPr sz="11200" b="1">
                <a:solidFill>
                  <a:srgbClr val="16233A"/>
                </a:solidFill>
                <a:latin typeface="Sora"/>
              </a:rPr>
              <a:t>Neo</a:t>
            </a:r>
            <a:r>
              <a:rPr sz="11200" b="1">
                <a:gradFill rotWithShape="1">
                  <a:gsLst>
                    <a:gs pos="0">
                      <a:srgbClr val="2F6FE0"/>
                    </a:gs>
                    <a:gs pos="100000">
                      <a:srgbClr val="6D59E0"/>
                    </a:gs>
                  </a:gsLst>
                  <a:lin ang="6000000" scaled="1"/>
                </a:gradFill>
                <a:latin typeface="Sora"/>
              </a:rPr>
              <a:t>Job</a:t>
            </a:r>
          </a:p>
        </p:txBody>
      </p:sp>
      <p:sp>
        <p:nvSpPr>
          <p:cNvPr id="7" name="TextBox 6"/>
          <p:cNvSpPr txBox="1"/>
          <p:nvPr/>
        </p:nvSpPr>
        <p:spPr>
          <a:xfrm>
            <a:off x="841248" y="3429000"/>
            <a:ext cx="9875520" cy="640080"/>
          </a:xfrm>
          <a:prstGeom prst="rect">
            <a:avLst/>
          </a:prstGeom>
          <a:noFill/>
        </p:spPr>
        <p:txBody>
          <a:bodyPr wrap="square" anchor="t" lIns="0" rIns="0" tIns="0" bIns="0">
            <a:noAutofit/>
          </a:bodyPr>
          <a:lstStyle/>
          <a:p>
            <a:pPr algn="l">
              <a:lnSpc>
                <a:spcPct val="100000"/>
              </a:lnSpc>
            </a:pPr>
            <a:r>
              <a:rPr sz="2100" b="1" i="0">
                <a:solidFill>
                  <a:srgbClr val="44506A"/>
                </a:solidFill>
                <a:latin typeface="Sora"/>
              </a:rPr>
              <a:t>Trouvez le job qui vous correspond, vraiment.</a:t>
            </a:r>
          </a:p>
        </p:txBody>
      </p:sp>
      <p:sp>
        <p:nvSpPr>
          <p:cNvPr id="8" name="TextBox 7"/>
          <p:cNvSpPr txBox="1"/>
          <p:nvPr/>
        </p:nvSpPr>
        <p:spPr>
          <a:xfrm>
            <a:off x="841248" y="3977639"/>
            <a:ext cx="9601200" cy="914400"/>
          </a:xfrm>
          <a:prstGeom prst="rect">
            <a:avLst/>
          </a:prstGeom>
          <a:noFill/>
        </p:spPr>
        <p:txBody>
          <a:bodyPr wrap="square" anchor="t" lIns="0" rIns="0" tIns="0" bIns="0">
            <a:noAutofit/>
          </a:bodyPr>
          <a:lstStyle/>
          <a:p>
            <a:pPr algn="l">
              <a:lnSpc>
                <a:spcPct val="140000"/>
              </a:lnSpc>
            </a:pPr>
            <a:r>
              <a:rPr sz="1300" b="0" i="0">
                <a:solidFill>
                  <a:srgbClr val="44506A"/>
                </a:solidFill>
                <a:latin typeface="Inter"/>
              </a:rPr>
              <a:t>Une plateforme d'emploi marocaine complète — recherche d'offres, candidature, pipeline de recrutement, back-office de modération — construite en full-stack : PHP, MySQL, JavaScript. Ce document couvre l'ensemble du produit : les quatre espaces utilisateurs, l'architecture technique, le modèle de données, et les difficultés réelles rencontrées pendant le développement.</a:t>
            </a:r>
          </a:p>
        </p:txBody>
      </p:sp>
      <p:sp>
        <p:nvSpPr>
          <p:cNvPr id="9" name="Rectangle 8"/>
          <p:cNvSpPr/>
          <p:nvPr/>
        </p:nvSpPr>
        <p:spPr>
          <a:xfrm>
            <a:off x="841248" y="5532120"/>
            <a:ext cx="1005840" cy="3810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5760720"/>
            <a:ext cx="1241339"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E8F6B"/>
                </a:solidFill>
                <a:latin typeface="Inter"/>
              </a:rPr>
              <a:t>17 tables 3NF</a:t>
            </a:r>
          </a:p>
        </p:txBody>
      </p:sp>
      <p:sp>
        <p:nvSpPr>
          <p:cNvPr id="11" name="Rounded Rectangle 10"/>
          <p:cNvSpPr/>
          <p:nvPr/>
        </p:nvSpPr>
        <p:spPr>
          <a:xfrm>
            <a:off x="2210603" y="5760720"/>
            <a:ext cx="1885492"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4 espaces utilisateurs</a:t>
            </a:r>
          </a:p>
        </p:txBody>
      </p:sp>
      <p:sp>
        <p:nvSpPr>
          <p:cNvPr id="12" name="Rounded Rectangle 11"/>
          <p:cNvSpPr/>
          <p:nvPr/>
        </p:nvSpPr>
        <p:spPr>
          <a:xfrm>
            <a:off x="4224111" y="5760720"/>
            <a:ext cx="1742347"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2F6FE0"/>
                </a:solidFill>
                <a:latin typeface="Inter"/>
              </a:rPr>
              <a:t>14 fichiers API REST</a:t>
            </a:r>
          </a:p>
        </p:txBody>
      </p:sp>
      <p:sp>
        <p:nvSpPr>
          <p:cNvPr id="13" name="Rounded Rectangle 12"/>
          <p:cNvSpPr/>
          <p:nvPr/>
        </p:nvSpPr>
        <p:spPr>
          <a:xfrm>
            <a:off x="6094474" y="5760720"/>
            <a:ext cx="1742347"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~30 pages connectees</a:t>
            </a:r>
          </a:p>
        </p:txBody>
      </p:sp>
      <p:sp>
        <p:nvSpPr>
          <p:cNvPr id="14" name="TextBox 13"/>
          <p:cNvSpPr txBox="1"/>
          <p:nvPr/>
        </p:nvSpPr>
        <p:spPr>
          <a:xfrm>
            <a:off x="8899855" y="6309360"/>
            <a:ext cx="2926080" cy="365760"/>
          </a:xfrm>
          <a:prstGeom prst="rect">
            <a:avLst/>
          </a:prstGeom>
          <a:noFill/>
        </p:spPr>
        <p:txBody>
          <a:bodyPr wrap="square" anchor="t" lIns="0" rIns="0" tIns="0" bIns="0">
            <a:noAutofit/>
          </a:bodyPr>
          <a:lstStyle/>
          <a:p>
            <a:pPr algn="r">
              <a:lnSpc>
                <a:spcPct val="100000"/>
              </a:lnSpc>
            </a:pPr>
            <a:r>
              <a:rPr sz="1000" b="0" i="0">
                <a:solidFill>
                  <a:srgbClr val="7A879C"/>
                </a:solidFill>
                <a:latin typeface="Consolas"/>
              </a:rPr>
              <a:t>NEOJOB.MA —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48640"/>
            <a:ext cx="883476"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SOMMAIRE</a:t>
            </a:r>
          </a:p>
        </p:txBody>
      </p:sp>
      <p:sp>
        <p:nvSpPr>
          <p:cNvPr id="5" name="TextBox 4"/>
          <p:cNvSpPr txBox="1"/>
          <p:nvPr/>
        </p:nvSpPr>
        <p:spPr>
          <a:xfrm>
            <a:off x="822960" y="960120"/>
            <a:ext cx="10058400" cy="640080"/>
          </a:xfrm>
          <a:prstGeom prst="rect">
            <a:avLst/>
          </a:prstGeom>
          <a:noFill/>
        </p:spPr>
        <p:txBody>
          <a:bodyPr wrap="square" anchor="t" lIns="0" rIns="0" tIns="0" bIns="0">
            <a:noAutofit/>
          </a:bodyPr>
          <a:lstStyle/>
          <a:p>
            <a:pPr algn="l">
              <a:lnSpc>
                <a:spcPct val="100000"/>
              </a:lnSpc>
            </a:pPr>
            <a:r>
              <a:rPr sz="2700" b="1" i="0">
                <a:solidFill>
                  <a:srgbClr val="16233A"/>
                </a:solidFill>
                <a:latin typeface="Sora"/>
              </a:rPr>
              <a:t>Ce que couvre cette presentation</a:t>
            </a:r>
          </a:p>
        </p:txBody>
      </p:sp>
      <p:sp>
        <p:nvSpPr>
          <p:cNvPr id="6" name="TextBox 5"/>
          <p:cNvSpPr txBox="1"/>
          <p:nvPr/>
        </p:nvSpPr>
        <p:spPr>
          <a:xfrm>
            <a:off x="822960" y="1600200"/>
            <a:ext cx="9875520" cy="548640"/>
          </a:xfrm>
          <a:prstGeom prst="rect">
            <a:avLst/>
          </a:prstGeom>
          <a:noFill/>
        </p:spPr>
        <p:txBody>
          <a:bodyPr wrap="square" anchor="t" lIns="0" rIns="0" tIns="0" bIns="0">
            <a:noAutofit/>
          </a:bodyPr>
          <a:lstStyle/>
          <a:p>
            <a:pPr algn="l">
              <a:lnSpc>
                <a:spcPct val="130000"/>
              </a:lnSpc>
            </a:pPr>
            <a:r>
              <a:rPr sz="1250" b="0" i="0">
                <a:solidFill>
                  <a:srgbClr val="44506A"/>
                </a:solidFill>
                <a:latin typeface="Inter"/>
              </a:rPr>
              <a:t>Six volets, du contexte du projet jusqu'aux difficultes techniques reellement rencontrees — une vue complete, pas seulement une demo d'ecrans.</a:t>
            </a:r>
          </a:p>
        </p:txBody>
      </p:sp>
      <p:sp>
        <p:nvSpPr>
          <p:cNvPr id="7" name="Rectangle 6"/>
          <p:cNvSpPr/>
          <p:nvPr/>
        </p:nvSpPr>
        <p:spPr>
          <a:xfrm>
            <a:off x="868680" y="4160520"/>
            <a:ext cx="10424160" cy="25400"/>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55064" y="4090924"/>
            <a:ext cx="164592" cy="164592"/>
          </a:xfrm>
          <a:prstGeom prst="ellipse">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645920" cy="457200"/>
          </a:xfrm>
          <a:prstGeom prst="rect">
            <a:avLst/>
          </a:prstGeom>
          <a:noFill/>
        </p:spPr>
        <p:txBody>
          <a:bodyPr wrap="square" anchor="t" lIns="0" rIns="0" tIns="0" bIns="0">
            <a:noAutofit/>
          </a:bodyPr>
          <a:lstStyle/>
          <a:p>
            <a:pPr algn="ctr">
              <a:lnSpc>
                <a:spcPct val="100000"/>
              </a:lnSpc>
            </a:pPr>
            <a:r>
              <a:rPr sz="2400" b="1" i="0">
                <a:solidFill>
                  <a:srgbClr val="16233A"/>
                </a:solidFill>
                <a:latin typeface="Sora"/>
              </a:rPr>
              <a:t>00</a:t>
            </a:r>
          </a:p>
        </p:txBody>
      </p:sp>
      <p:sp>
        <p:nvSpPr>
          <p:cNvPr id="10" name="TextBox 9"/>
          <p:cNvSpPr txBox="1"/>
          <p:nvPr/>
        </p:nvSpPr>
        <p:spPr>
          <a:xfrm>
            <a:off x="91440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Contexte &amp;</a:t>
            </a:r>
          </a:p>
          <a:p>
            <a:pPr algn="ctr">
              <a:lnSpc>
                <a:spcPct val="105000"/>
              </a:lnSpc>
            </a:pPr>
            <a:r>
              <a:rPr sz="1250" b="1" i="0">
                <a:solidFill>
                  <a:srgbClr val="16233A"/>
                </a:solidFill>
                <a:latin typeface="Sora"/>
              </a:rPr>
              <a:t>Vision</a:t>
            </a:r>
          </a:p>
        </p:txBody>
      </p:sp>
      <p:sp>
        <p:nvSpPr>
          <p:cNvPr id="11" name="TextBox 10"/>
          <p:cNvSpPr txBox="1"/>
          <p:nvPr/>
        </p:nvSpPr>
        <p:spPr>
          <a:xfrm>
            <a:off x="91440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Pourquoi NeoJob, objectifs,</a:t>
            </a:r>
          </a:p>
          <a:p>
            <a:pPr algn="ctr">
              <a:lnSpc>
                <a:spcPct val="130000"/>
              </a:lnSpc>
            </a:pPr>
            <a:r>
              <a:rPr sz="930" b="0" i="0">
                <a:solidFill>
                  <a:srgbClr val="7A879C"/>
                </a:solidFill>
                <a:latin typeface="Inter"/>
              </a:rPr>
              <a:t>chiffres cles du projet</a:t>
            </a:r>
          </a:p>
        </p:txBody>
      </p:sp>
      <p:sp>
        <p:nvSpPr>
          <p:cNvPr id="12" name="Oval 11"/>
          <p:cNvSpPr/>
          <p:nvPr/>
        </p:nvSpPr>
        <p:spPr>
          <a:xfrm>
            <a:off x="3392424" y="4090924"/>
            <a:ext cx="164592" cy="164592"/>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2560320"/>
            <a:ext cx="1645920" cy="457200"/>
          </a:xfrm>
          <a:prstGeom prst="rect">
            <a:avLst/>
          </a:prstGeom>
          <a:noFill/>
        </p:spPr>
        <p:txBody>
          <a:bodyPr wrap="square" anchor="t" lIns="0" rIns="0" tIns="0" bIns="0">
            <a:noAutofit/>
          </a:bodyPr>
          <a:lstStyle/>
          <a:p>
            <a:pPr algn="ctr">
              <a:lnSpc>
                <a:spcPct val="100000"/>
              </a:lnSpc>
            </a:pPr>
            <a:r>
              <a:rPr sz="2400" b="1" i="0">
                <a:solidFill>
                  <a:srgbClr val="0E8F6B"/>
                </a:solidFill>
                <a:latin typeface="Sora"/>
              </a:rPr>
              <a:t>01</a:t>
            </a:r>
          </a:p>
        </p:txBody>
      </p:sp>
      <p:sp>
        <p:nvSpPr>
          <p:cNvPr id="14" name="TextBox 13"/>
          <p:cNvSpPr txBox="1"/>
          <p:nvPr/>
        </p:nvSpPr>
        <p:spPr>
          <a:xfrm>
            <a:off x="265176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Architecture &amp;</a:t>
            </a:r>
          </a:p>
          <a:p>
            <a:pPr algn="ctr">
              <a:lnSpc>
                <a:spcPct val="105000"/>
              </a:lnSpc>
            </a:pPr>
            <a:r>
              <a:rPr sz="1250" b="1" i="0">
                <a:solidFill>
                  <a:srgbClr val="16233A"/>
                </a:solidFill>
                <a:latin typeface="Sora"/>
              </a:rPr>
              <a:t>Base de donnees</a:t>
            </a:r>
          </a:p>
        </p:txBody>
      </p:sp>
      <p:sp>
        <p:nvSpPr>
          <p:cNvPr id="15" name="TextBox 14"/>
          <p:cNvSpPr txBox="1"/>
          <p:nvPr/>
        </p:nvSpPr>
        <p:spPr>
          <a:xfrm>
            <a:off x="265176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3 couches, schema relationnel,</a:t>
            </a:r>
          </a:p>
          <a:p>
            <a:pPr algn="ctr">
              <a:lnSpc>
                <a:spcPct val="130000"/>
              </a:lnSpc>
            </a:pPr>
            <a:r>
              <a:rPr sz="930" b="0" i="0">
                <a:solidFill>
                  <a:srgbClr val="7A879C"/>
                </a:solidFill>
                <a:latin typeface="Inter"/>
              </a:rPr>
              <a:t>17 tables et leurs relations</a:t>
            </a:r>
          </a:p>
        </p:txBody>
      </p:sp>
      <p:sp>
        <p:nvSpPr>
          <p:cNvPr id="16" name="Oval 15"/>
          <p:cNvSpPr/>
          <p:nvPr/>
        </p:nvSpPr>
        <p:spPr>
          <a:xfrm>
            <a:off x="5129784" y="4090924"/>
            <a:ext cx="164592" cy="164592"/>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2560320"/>
            <a:ext cx="1645920" cy="457200"/>
          </a:xfrm>
          <a:prstGeom prst="rect">
            <a:avLst/>
          </a:prstGeom>
          <a:noFill/>
        </p:spPr>
        <p:txBody>
          <a:bodyPr wrap="square" anchor="t" lIns="0" rIns="0" tIns="0" bIns="0">
            <a:noAutofit/>
          </a:bodyPr>
          <a:lstStyle/>
          <a:p>
            <a:pPr algn="ctr">
              <a:lnSpc>
                <a:spcPct val="100000"/>
              </a:lnSpc>
            </a:pPr>
            <a:r>
              <a:rPr sz="2400" b="1" i="0">
                <a:solidFill>
                  <a:srgbClr val="2F6FE0"/>
                </a:solidFill>
                <a:latin typeface="Sora"/>
              </a:rPr>
              <a:t>02</a:t>
            </a:r>
          </a:p>
        </p:txBody>
      </p:sp>
      <p:sp>
        <p:nvSpPr>
          <p:cNvPr id="18" name="TextBox 17"/>
          <p:cNvSpPr txBox="1"/>
          <p:nvPr/>
        </p:nvSpPr>
        <p:spPr>
          <a:xfrm>
            <a:off x="438912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Espace</a:t>
            </a:r>
          </a:p>
          <a:p>
            <a:pPr algn="ctr">
              <a:lnSpc>
                <a:spcPct val="105000"/>
              </a:lnSpc>
            </a:pPr>
            <a:r>
              <a:rPr sz="1250" b="1" i="0">
                <a:solidFill>
                  <a:srgbClr val="16233A"/>
                </a:solidFill>
                <a:latin typeface="Sora"/>
              </a:rPr>
              <a:t>Public</a:t>
            </a:r>
          </a:p>
        </p:txBody>
      </p:sp>
      <p:sp>
        <p:nvSpPr>
          <p:cNvPr id="19" name="TextBox 18"/>
          <p:cNvSpPr txBox="1"/>
          <p:nvPr/>
        </p:nvSpPr>
        <p:spPr>
          <a:xfrm>
            <a:off x="438912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Accueil, offres, entreprise,</a:t>
            </a:r>
          </a:p>
          <a:p>
            <a:pPr algn="ctr">
              <a:lnSpc>
                <a:spcPct val="130000"/>
              </a:lnSpc>
            </a:pPr>
            <a:r>
              <a:rPr sz="930" b="0" i="0">
                <a:solidFill>
                  <a:srgbClr val="7A879C"/>
                </a:solidFill>
                <a:latin typeface="Inter"/>
              </a:rPr>
              <a:t>simulateur, connexion</a:t>
            </a:r>
          </a:p>
        </p:txBody>
      </p:sp>
      <p:sp>
        <p:nvSpPr>
          <p:cNvPr id="20" name="Oval 19"/>
          <p:cNvSpPr/>
          <p:nvPr/>
        </p:nvSpPr>
        <p:spPr>
          <a:xfrm>
            <a:off x="6867144" y="4090924"/>
            <a:ext cx="164592" cy="164592"/>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2560320"/>
            <a:ext cx="1645920" cy="457200"/>
          </a:xfrm>
          <a:prstGeom prst="rect">
            <a:avLst/>
          </a:prstGeom>
          <a:noFill/>
        </p:spPr>
        <p:txBody>
          <a:bodyPr wrap="square" anchor="t" lIns="0" rIns="0" tIns="0" bIns="0">
            <a:noAutofit/>
          </a:bodyPr>
          <a:lstStyle/>
          <a:p>
            <a:pPr algn="ctr">
              <a:lnSpc>
                <a:spcPct val="100000"/>
              </a:lnSpc>
            </a:pPr>
            <a:r>
              <a:rPr sz="2400" b="1" i="0">
                <a:solidFill>
                  <a:srgbClr val="0E8F6B"/>
                </a:solidFill>
                <a:latin typeface="Sora"/>
              </a:rPr>
              <a:t>03</a:t>
            </a:r>
          </a:p>
        </p:txBody>
      </p:sp>
      <p:sp>
        <p:nvSpPr>
          <p:cNvPr id="22" name="TextBox 21"/>
          <p:cNvSpPr txBox="1"/>
          <p:nvPr/>
        </p:nvSpPr>
        <p:spPr>
          <a:xfrm>
            <a:off x="612648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Espace</a:t>
            </a:r>
          </a:p>
          <a:p>
            <a:pPr algn="ctr">
              <a:lnSpc>
                <a:spcPct val="105000"/>
              </a:lnSpc>
            </a:pPr>
            <a:r>
              <a:rPr sz="1250" b="1" i="0">
                <a:solidFill>
                  <a:srgbClr val="16233A"/>
                </a:solidFill>
                <a:latin typeface="Sora"/>
              </a:rPr>
              <a:t>Candidat</a:t>
            </a:r>
          </a:p>
        </p:txBody>
      </p:sp>
      <p:sp>
        <p:nvSpPr>
          <p:cNvPr id="23" name="TextBox 22"/>
          <p:cNvSpPr txBox="1"/>
          <p:nvPr/>
        </p:nvSpPr>
        <p:spPr>
          <a:xfrm>
            <a:off x="612648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Profil, quiz de competences,</a:t>
            </a:r>
          </a:p>
          <a:p>
            <a:pPr algn="ctr">
              <a:lnSpc>
                <a:spcPct val="130000"/>
              </a:lnSpc>
            </a:pPr>
            <a:r>
              <a:rPr sz="930" b="0" i="0">
                <a:solidFill>
                  <a:srgbClr val="7A879C"/>
                </a:solidFill>
                <a:latin typeface="Inter"/>
              </a:rPr>
              <a:t>candidatures, alertes</a:t>
            </a:r>
          </a:p>
        </p:txBody>
      </p:sp>
      <p:sp>
        <p:nvSpPr>
          <p:cNvPr id="24" name="Oval 23"/>
          <p:cNvSpPr/>
          <p:nvPr/>
        </p:nvSpPr>
        <p:spPr>
          <a:xfrm>
            <a:off x="8604504" y="4090924"/>
            <a:ext cx="164592" cy="164592"/>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2560320"/>
            <a:ext cx="1645920" cy="457200"/>
          </a:xfrm>
          <a:prstGeom prst="rect">
            <a:avLst/>
          </a:prstGeom>
          <a:noFill/>
        </p:spPr>
        <p:txBody>
          <a:bodyPr wrap="square" anchor="t" lIns="0" rIns="0" tIns="0" bIns="0">
            <a:noAutofit/>
          </a:bodyPr>
          <a:lstStyle/>
          <a:p>
            <a:pPr algn="ctr">
              <a:lnSpc>
                <a:spcPct val="100000"/>
              </a:lnSpc>
            </a:pPr>
            <a:r>
              <a:rPr sz="2400" b="1" i="0">
                <a:solidFill>
                  <a:srgbClr val="6D59E0"/>
                </a:solidFill>
                <a:latin typeface="Sora"/>
              </a:rPr>
              <a:t>04</a:t>
            </a:r>
          </a:p>
        </p:txBody>
      </p:sp>
      <p:sp>
        <p:nvSpPr>
          <p:cNvPr id="26" name="TextBox 25"/>
          <p:cNvSpPr txBox="1"/>
          <p:nvPr/>
        </p:nvSpPr>
        <p:spPr>
          <a:xfrm>
            <a:off x="786384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Espace</a:t>
            </a:r>
          </a:p>
          <a:p>
            <a:pPr algn="ctr">
              <a:lnSpc>
                <a:spcPct val="105000"/>
              </a:lnSpc>
            </a:pPr>
            <a:r>
              <a:rPr sz="1250" b="1" i="0">
                <a:solidFill>
                  <a:srgbClr val="16233A"/>
                </a:solidFill>
                <a:latin typeface="Sora"/>
              </a:rPr>
              <a:t>Recruteur</a:t>
            </a:r>
          </a:p>
        </p:txBody>
      </p:sp>
      <p:sp>
        <p:nvSpPr>
          <p:cNvPr id="27" name="TextBox 26"/>
          <p:cNvSpPr txBox="1"/>
          <p:nvPr/>
        </p:nvSpPr>
        <p:spPr>
          <a:xfrm>
            <a:off x="786384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Publier, pipeline Kanban,</a:t>
            </a:r>
          </a:p>
          <a:p>
            <a:pPr algn="ctr">
              <a:lnSpc>
                <a:spcPct val="130000"/>
              </a:lnSpc>
            </a:pPr>
            <a:r>
              <a:rPr sz="930" b="0" i="0">
                <a:solidFill>
                  <a:srgbClr val="7A879C"/>
                </a:solidFill>
                <a:latin typeface="Inter"/>
              </a:rPr>
              <a:t>recherche de candidats</a:t>
            </a:r>
          </a:p>
        </p:txBody>
      </p:sp>
      <p:sp>
        <p:nvSpPr>
          <p:cNvPr id="28" name="Oval 27"/>
          <p:cNvSpPr/>
          <p:nvPr/>
        </p:nvSpPr>
        <p:spPr>
          <a:xfrm>
            <a:off x="10341864" y="4090924"/>
            <a:ext cx="164592" cy="164592"/>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0" y="2560320"/>
            <a:ext cx="1645920" cy="457200"/>
          </a:xfrm>
          <a:prstGeom prst="rect">
            <a:avLst/>
          </a:prstGeom>
          <a:noFill/>
        </p:spPr>
        <p:txBody>
          <a:bodyPr wrap="square" anchor="t" lIns="0" rIns="0" tIns="0" bIns="0">
            <a:noAutofit/>
          </a:bodyPr>
          <a:lstStyle/>
          <a:p>
            <a:pPr algn="ctr">
              <a:lnSpc>
                <a:spcPct val="100000"/>
              </a:lnSpc>
            </a:pPr>
            <a:r>
              <a:rPr sz="2400" b="1" i="0">
                <a:solidFill>
                  <a:srgbClr val="C9721E"/>
                </a:solidFill>
                <a:latin typeface="Sora"/>
              </a:rPr>
              <a:t>05</a:t>
            </a:r>
          </a:p>
        </p:txBody>
      </p:sp>
      <p:sp>
        <p:nvSpPr>
          <p:cNvPr id="30" name="TextBox 29"/>
          <p:cNvSpPr txBox="1"/>
          <p:nvPr/>
        </p:nvSpPr>
        <p:spPr>
          <a:xfrm>
            <a:off x="9601200" y="3017520"/>
            <a:ext cx="1645920" cy="640080"/>
          </a:xfrm>
          <a:prstGeom prst="rect">
            <a:avLst/>
          </a:prstGeom>
          <a:noFill/>
        </p:spPr>
        <p:txBody>
          <a:bodyPr wrap="square" anchor="t" lIns="0" rIns="0" tIns="0" bIns="0">
            <a:noAutofit/>
          </a:bodyPr>
          <a:lstStyle/>
          <a:p>
            <a:pPr algn="ctr">
              <a:lnSpc>
                <a:spcPct val="105000"/>
              </a:lnSpc>
            </a:pPr>
            <a:r>
              <a:rPr sz="1250" b="1" i="0">
                <a:solidFill>
                  <a:srgbClr val="16233A"/>
                </a:solidFill>
                <a:latin typeface="Sora"/>
              </a:rPr>
              <a:t>Admin &amp;</a:t>
            </a:r>
          </a:p>
          <a:p>
            <a:pPr algn="ctr">
              <a:lnSpc>
                <a:spcPct val="105000"/>
              </a:lnSpc>
            </a:pPr>
            <a:r>
              <a:rPr sz="1250" b="1" i="0">
                <a:solidFill>
                  <a:srgbClr val="16233A"/>
                </a:solidFill>
                <a:latin typeface="Sora"/>
              </a:rPr>
              <a:t>Difficultes</a:t>
            </a:r>
          </a:p>
        </p:txBody>
      </p:sp>
      <p:sp>
        <p:nvSpPr>
          <p:cNvPr id="31" name="TextBox 30"/>
          <p:cNvSpPr txBox="1"/>
          <p:nvPr/>
        </p:nvSpPr>
        <p:spPr>
          <a:xfrm>
            <a:off x="9601200" y="4434840"/>
            <a:ext cx="1645920" cy="914400"/>
          </a:xfrm>
          <a:prstGeom prst="rect">
            <a:avLst/>
          </a:prstGeom>
          <a:noFill/>
        </p:spPr>
        <p:txBody>
          <a:bodyPr wrap="square" anchor="t" lIns="0" rIns="0" tIns="0" bIns="0">
            <a:noAutofit/>
          </a:bodyPr>
          <a:lstStyle/>
          <a:p>
            <a:pPr algn="ctr">
              <a:lnSpc>
                <a:spcPct val="130000"/>
              </a:lnSpc>
            </a:pPr>
            <a:r>
              <a:rPr sz="930" b="0" i="0">
                <a:solidFill>
                  <a:srgbClr val="7A879C"/>
                </a:solidFill>
                <a:latin typeface="Inter"/>
              </a:rPr>
              <a:t>Back-office, choix techniques,</a:t>
            </a:r>
          </a:p>
          <a:p>
            <a:pPr algn="ctr">
              <a:lnSpc>
                <a:spcPct val="130000"/>
              </a:lnSpc>
            </a:pPr>
            <a:r>
              <a:rPr sz="930" b="0" i="0">
                <a:solidFill>
                  <a:srgbClr val="7A879C"/>
                </a:solidFill>
                <a:latin typeface="Inter"/>
              </a:rPr>
              <a:t>problemes reellement rencontres</a:t>
            </a:r>
          </a:p>
        </p:txBody>
      </p:sp>
      <p:sp>
        <p:nvSpPr>
          <p:cNvPr id="32" name="TextBox 31"/>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01</a:t>
            </a:r>
          </a:p>
        </p:txBody>
      </p:sp>
      <p:sp>
        <p:nvSpPr>
          <p:cNvPr id="33" name="Rectangle 32"/>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640080"/>
            <a:ext cx="1384484"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2F6FE0"/>
                </a:solidFill>
                <a:latin typeface="Inter"/>
              </a:rPr>
              <a:t>POURQUOI NEOJOB</a:t>
            </a:r>
          </a:p>
        </p:txBody>
      </p:sp>
      <p:sp>
        <p:nvSpPr>
          <p:cNvPr id="5" name="TextBox 4"/>
          <p:cNvSpPr txBox="1"/>
          <p:nvPr/>
        </p:nvSpPr>
        <p:spPr>
          <a:xfrm>
            <a:off x="777240" y="1417320"/>
            <a:ext cx="10607040" cy="1828800"/>
          </a:xfrm>
          <a:prstGeom prst="rect">
            <a:avLst/>
          </a:prstGeom>
          <a:noFill/>
        </p:spPr>
        <p:txBody>
          <a:bodyPr wrap="square" anchor="t" lIns="0" rIns="0" tIns="0" bIns="0">
            <a:noAutofit/>
          </a:bodyPr>
          <a:lstStyle/>
          <a:p>
            <a:pPr algn="l">
              <a:lnSpc>
                <a:spcPct val="110000"/>
              </a:lnSpc>
            </a:pPr>
            <a:r>
              <a:rPr sz="3800" b="1" i="0">
                <a:solidFill>
                  <a:srgbClr val="16233A"/>
                </a:solidFill>
                <a:latin typeface="Sora"/>
              </a:rPr>
              <a:t>Le recrutement en ligne ne devrait pas s'arreter</a:t>
            </a:r>
          </a:p>
          <a:p>
            <a:pPr algn="l">
              <a:lnSpc>
                <a:spcPct val="110000"/>
              </a:lnSpc>
            </a:pPr>
            <a:r>
              <a:rPr sz="3800" b="1" i="0">
                <a:solidFill>
                  <a:srgbClr val="16233A"/>
                </a:solidFill>
                <a:latin typeface="Sora"/>
              </a:rPr>
              <a:t>au depot d'un CV.</a:t>
            </a:r>
          </a:p>
        </p:txBody>
      </p:sp>
      <p:sp>
        <p:nvSpPr>
          <p:cNvPr id="6" name="TextBox 5"/>
          <p:cNvSpPr txBox="1"/>
          <p:nvPr/>
        </p:nvSpPr>
        <p:spPr>
          <a:xfrm>
            <a:off x="822960" y="2880360"/>
            <a:ext cx="8961120" cy="1463040"/>
          </a:xfrm>
          <a:prstGeom prst="rect">
            <a:avLst/>
          </a:prstGeom>
          <a:noFill/>
        </p:spPr>
        <p:txBody>
          <a:bodyPr wrap="square" anchor="t" lIns="0" rIns="0" tIns="0" bIns="0">
            <a:noAutofit/>
          </a:bodyPr>
          <a:lstStyle/>
          <a:p>
            <a:pPr algn="l">
              <a:lnSpc>
                <a:spcPct val="145000"/>
              </a:lnSpc>
            </a:pPr>
            <a:r>
              <a:rPr sz="1350" b="0" i="0">
                <a:solidFill>
                  <a:srgbClr val="44506A"/>
                </a:solidFill>
                <a:latin typeface="Inter"/>
              </a:rPr>
              <a:t>La plupart des plateformes d'emploi reduisent le recrutement a une simple liste d'annonces : le candidat postule et attend, sans jamais savoir ou en est vraiment sa candidature ; le recruteur recoit des dizaines de candidatures qu'il doit trier a la main, sans aucun outil pour organiser son processus de recrutement. NeoJob part d'un constat simple : le recrutement est un processus avec des etapes — reception, preselection, entretien, offre, embauche — et une plateforme d'emploi devrait rendre ce processus visible et actionnable pour les deux parties, pas seulement servir de boite aux lettres.</a:t>
            </a:r>
          </a:p>
        </p:txBody>
      </p:sp>
      <p:sp>
        <p:nvSpPr>
          <p:cNvPr id="7" name="Rectangle 6"/>
          <p:cNvSpPr/>
          <p:nvPr/>
        </p:nvSpPr>
        <p:spPr>
          <a:xfrm>
            <a:off x="822960" y="4617720"/>
            <a:ext cx="1005840" cy="3810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846320"/>
            <a:ext cx="9144000" cy="822960"/>
          </a:xfrm>
          <a:prstGeom prst="rect">
            <a:avLst/>
          </a:prstGeom>
          <a:noFill/>
        </p:spPr>
        <p:txBody>
          <a:bodyPr wrap="square" anchor="t" lIns="0" rIns="0" tIns="0" bIns="0">
            <a:noAutofit/>
          </a:bodyPr>
          <a:lstStyle/>
          <a:p>
            <a:pPr algn="l">
              <a:lnSpc>
                <a:spcPct val="140000"/>
              </a:lnSpc>
            </a:pPr>
            <a:r>
              <a:rPr sz="1250" b="0" i="1">
                <a:solidFill>
                  <a:srgbClr val="44506A"/>
                </a:solidFill>
                <a:latin typeface="Inter"/>
              </a:rPr>
              <a:t>Le projet a donc ete concu comme un veritable outil de recrutement — pas comme un site vitrine — avec un pipeline de candidatures visible par le recruteur, et un suivi en temps reel visible par le candidat.</a:t>
            </a:r>
          </a:p>
        </p:txBody>
      </p:sp>
      <p:sp>
        <p:nvSpPr>
          <p:cNvPr id="9" name="TextBox 8"/>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02</a:t>
            </a:r>
          </a:p>
        </p:txBody>
      </p:sp>
      <p:sp>
        <p:nvSpPr>
          <p:cNvPr id="10" name="Rectangle 9"/>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640080"/>
            <a:ext cx="1813920"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E8F6B"/>
                </a:solidFill>
                <a:latin typeface="Inter"/>
              </a:rPr>
              <a:t>LE PROJET EN CHIFFRES</a:t>
            </a:r>
          </a:p>
        </p:txBody>
      </p:sp>
      <p:sp>
        <p:nvSpPr>
          <p:cNvPr id="5" name="TextBox 4"/>
          <p:cNvSpPr txBox="1"/>
          <p:nvPr/>
        </p:nvSpPr>
        <p:spPr>
          <a:xfrm>
            <a:off x="822960" y="1143000"/>
            <a:ext cx="9144000" cy="640080"/>
          </a:xfrm>
          <a:prstGeom prst="rect">
            <a:avLst/>
          </a:prstGeom>
          <a:noFill/>
        </p:spPr>
        <p:txBody>
          <a:bodyPr wrap="square" anchor="t" lIns="0" rIns="0" tIns="0" bIns="0">
            <a:noAutofit/>
          </a:bodyPr>
          <a:lstStyle/>
          <a:p>
            <a:pPr algn="l">
              <a:lnSpc>
                <a:spcPct val="100000"/>
              </a:lnSpc>
            </a:pPr>
            <a:r>
              <a:rPr sz="2600" b="1" i="0">
                <a:solidFill>
                  <a:srgbClr val="16233A"/>
                </a:solidFill>
                <a:latin typeface="Sora"/>
              </a:rPr>
              <a:t>Une plateforme complete, pas un prototype</a:t>
            </a:r>
          </a:p>
        </p:txBody>
      </p:sp>
      <p:sp>
        <p:nvSpPr>
          <p:cNvPr id="6" name="TextBox 5"/>
          <p:cNvSpPr txBox="1"/>
          <p:nvPr/>
        </p:nvSpPr>
        <p:spPr>
          <a:xfrm rot="21480000">
            <a:off x="822960" y="2286000"/>
            <a:ext cx="2926080" cy="1287780"/>
          </a:xfrm>
          <a:prstGeom prst="rect">
            <a:avLst/>
          </a:prstGeom>
          <a:noFill/>
        </p:spPr>
        <p:txBody>
          <a:bodyPr wrap="none" anchor="t" lIns="0" rIns="0" tIns="0" bIns="0">
            <a:noAutofit/>
          </a:bodyPr>
          <a:lstStyle/>
          <a:p>
            <a:pPr algn="l">
              <a:lnSpc>
                <a:spcPct val="100000"/>
              </a:lnSpc>
            </a:pPr>
            <a:r>
              <a:rPr sz="7800" b="1" i="0">
                <a:solidFill>
                  <a:srgbClr val="2F6FE0"/>
                </a:solidFill>
                <a:latin typeface="Sora"/>
              </a:rPr>
              <a:t>17</a:t>
            </a:r>
          </a:p>
        </p:txBody>
      </p:sp>
      <p:sp>
        <p:nvSpPr>
          <p:cNvPr id="7" name="TextBox 6"/>
          <p:cNvSpPr txBox="1"/>
          <p:nvPr/>
        </p:nvSpPr>
        <p:spPr>
          <a:xfrm rot="21480000">
            <a:off x="868680" y="3593592"/>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tables de base de donnees,</a:t>
            </a:r>
          </a:p>
          <a:p>
            <a:pPr algn="l">
              <a:lnSpc>
                <a:spcPct val="120000"/>
              </a:lnSpc>
            </a:pPr>
            <a:r>
              <a:rPr sz="1200" b="0" i="0">
                <a:solidFill>
                  <a:srgbClr val="44506A"/>
                </a:solidFill>
                <a:latin typeface="Inter"/>
              </a:rPr>
              <a:t>normalisees en 3NF</a:t>
            </a:r>
          </a:p>
        </p:txBody>
      </p:sp>
      <p:sp>
        <p:nvSpPr>
          <p:cNvPr id="8" name="TextBox 7"/>
          <p:cNvSpPr txBox="1"/>
          <p:nvPr/>
        </p:nvSpPr>
        <p:spPr>
          <a:xfrm rot="120000">
            <a:off x="4160520" y="2286000"/>
            <a:ext cx="2926080" cy="1287780"/>
          </a:xfrm>
          <a:prstGeom prst="rect">
            <a:avLst/>
          </a:prstGeom>
          <a:noFill/>
        </p:spPr>
        <p:txBody>
          <a:bodyPr wrap="none" anchor="t" lIns="0" rIns="0" tIns="0" bIns="0">
            <a:noAutofit/>
          </a:bodyPr>
          <a:lstStyle/>
          <a:p>
            <a:pPr algn="l">
              <a:lnSpc>
                <a:spcPct val="100000"/>
              </a:lnSpc>
            </a:pPr>
            <a:r>
              <a:rPr sz="7800" b="1" i="0">
                <a:solidFill>
                  <a:srgbClr val="0E8F6B"/>
                </a:solidFill>
                <a:latin typeface="Sora"/>
              </a:rPr>
              <a:t>4</a:t>
            </a:r>
          </a:p>
        </p:txBody>
      </p:sp>
      <p:sp>
        <p:nvSpPr>
          <p:cNvPr id="9" name="TextBox 8"/>
          <p:cNvSpPr txBox="1"/>
          <p:nvPr/>
        </p:nvSpPr>
        <p:spPr>
          <a:xfrm rot="120000">
            <a:off x="4206240" y="3593592"/>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espaces utilisateurs distincts</a:t>
            </a:r>
          </a:p>
          <a:p>
            <a:pPr algn="l">
              <a:lnSpc>
                <a:spcPct val="120000"/>
              </a:lnSpc>
            </a:pPr>
            <a:r>
              <a:rPr sz="1200" b="0" i="0">
                <a:solidFill>
                  <a:srgbClr val="44506A"/>
                </a:solidFill>
                <a:latin typeface="Inter"/>
              </a:rPr>
              <a:t>(public, candidat, recruteur, admin)</a:t>
            </a:r>
          </a:p>
        </p:txBody>
      </p:sp>
      <p:sp>
        <p:nvSpPr>
          <p:cNvPr id="10" name="TextBox 9"/>
          <p:cNvSpPr txBox="1"/>
          <p:nvPr/>
        </p:nvSpPr>
        <p:spPr>
          <a:xfrm rot="21480000">
            <a:off x="7498079" y="2286000"/>
            <a:ext cx="2926080" cy="1287780"/>
          </a:xfrm>
          <a:prstGeom prst="rect">
            <a:avLst/>
          </a:prstGeom>
          <a:noFill/>
        </p:spPr>
        <p:txBody>
          <a:bodyPr wrap="none" anchor="t" lIns="0" rIns="0" tIns="0" bIns="0">
            <a:noAutofit/>
          </a:bodyPr>
          <a:lstStyle/>
          <a:p>
            <a:pPr algn="l">
              <a:lnSpc>
                <a:spcPct val="100000"/>
              </a:lnSpc>
            </a:pPr>
            <a:r>
              <a:rPr sz="7800" b="1" i="0">
                <a:solidFill>
                  <a:srgbClr val="6D59E0"/>
                </a:solidFill>
                <a:latin typeface="Sora"/>
              </a:rPr>
              <a:t>14</a:t>
            </a:r>
          </a:p>
        </p:txBody>
      </p:sp>
      <p:sp>
        <p:nvSpPr>
          <p:cNvPr id="11" name="TextBox 10"/>
          <p:cNvSpPr txBox="1"/>
          <p:nvPr/>
        </p:nvSpPr>
        <p:spPr>
          <a:xfrm rot="21480000">
            <a:off x="7543799" y="3593592"/>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fichiers API REST en PHP,</a:t>
            </a:r>
          </a:p>
          <a:p>
            <a:pPr algn="l">
              <a:lnSpc>
                <a:spcPct val="120000"/>
              </a:lnSpc>
            </a:pPr>
            <a:r>
              <a:rPr sz="1200" b="0" i="0">
                <a:solidFill>
                  <a:srgbClr val="44506A"/>
                </a:solidFill>
                <a:latin typeface="Inter"/>
              </a:rPr>
              <a:t>un par ressource metier</a:t>
            </a:r>
          </a:p>
        </p:txBody>
      </p:sp>
      <p:sp>
        <p:nvSpPr>
          <p:cNvPr id="12" name="TextBox 11"/>
          <p:cNvSpPr txBox="1"/>
          <p:nvPr/>
        </p:nvSpPr>
        <p:spPr>
          <a:xfrm rot="120000">
            <a:off x="822960" y="4343400"/>
            <a:ext cx="2926080" cy="1089660"/>
          </a:xfrm>
          <a:prstGeom prst="rect">
            <a:avLst/>
          </a:prstGeom>
          <a:noFill/>
        </p:spPr>
        <p:txBody>
          <a:bodyPr wrap="none" anchor="t" lIns="0" rIns="0" tIns="0" bIns="0">
            <a:noAutofit/>
          </a:bodyPr>
          <a:lstStyle/>
          <a:p>
            <a:pPr algn="l">
              <a:lnSpc>
                <a:spcPct val="100000"/>
              </a:lnSpc>
            </a:pPr>
            <a:r>
              <a:rPr sz="6600" b="1" i="0">
                <a:solidFill>
                  <a:srgbClr val="C9721E"/>
                </a:solidFill>
                <a:latin typeface="Sora"/>
              </a:rPr>
              <a:t>~30</a:t>
            </a:r>
          </a:p>
        </p:txBody>
      </p:sp>
      <p:sp>
        <p:nvSpPr>
          <p:cNvPr id="13" name="TextBox 12"/>
          <p:cNvSpPr txBox="1"/>
          <p:nvPr/>
        </p:nvSpPr>
        <p:spPr>
          <a:xfrm rot="120000">
            <a:off x="868680" y="5449824"/>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pages HTML connectees</a:t>
            </a:r>
          </a:p>
          <a:p>
            <a:pPr algn="l">
              <a:lnSpc>
                <a:spcPct val="120000"/>
              </a:lnSpc>
            </a:pPr>
            <a:r>
              <a:rPr sz="1200" b="0" i="0">
                <a:solidFill>
                  <a:srgbClr val="44506A"/>
                </a:solidFill>
                <a:latin typeface="Inter"/>
              </a:rPr>
              <a:t>a l'API en temps reel</a:t>
            </a:r>
          </a:p>
        </p:txBody>
      </p:sp>
      <p:sp>
        <p:nvSpPr>
          <p:cNvPr id="14" name="TextBox 13"/>
          <p:cNvSpPr txBox="1"/>
          <p:nvPr/>
        </p:nvSpPr>
        <p:spPr>
          <a:xfrm rot="21420000">
            <a:off x="4160520" y="4343400"/>
            <a:ext cx="2926080" cy="1089660"/>
          </a:xfrm>
          <a:prstGeom prst="rect">
            <a:avLst/>
          </a:prstGeom>
          <a:noFill/>
        </p:spPr>
        <p:txBody>
          <a:bodyPr wrap="none" anchor="t" lIns="0" rIns="0" tIns="0" bIns="0">
            <a:noAutofit/>
          </a:bodyPr>
          <a:lstStyle/>
          <a:p>
            <a:pPr algn="l">
              <a:lnSpc>
                <a:spcPct val="100000"/>
              </a:lnSpc>
            </a:pPr>
            <a:r>
              <a:rPr sz="6600" b="1" i="0">
                <a:solidFill>
                  <a:srgbClr val="2F6FE0"/>
                </a:solidFill>
                <a:latin typeface="Sora"/>
              </a:rPr>
              <a:t>1</a:t>
            </a:r>
          </a:p>
        </p:txBody>
      </p:sp>
      <p:sp>
        <p:nvSpPr>
          <p:cNvPr id="15" name="TextBox 14"/>
          <p:cNvSpPr txBox="1"/>
          <p:nvPr/>
        </p:nvSpPr>
        <p:spPr>
          <a:xfrm rot="21420000">
            <a:off x="4206240" y="5449824"/>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pipeline de recrutement</a:t>
            </a:r>
          </a:p>
          <a:p>
            <a:pPr algn="l">
              <a:lnSpc>
                <a:spcPct val="120000"/>
              </a:lnSpc>
            </a:pPr>
            <a:r>
              <a:rPr sz="1200" b="0" i="0">
                <a:solidFill>
                  <a:srgbClr val="44506A"/>
                </a:solidFill>
                <a:latin typeface="Inter"/>
              </a:rPr>
              <a:t>Kanban en glisser-deposer</a:t>
            </a:r>
          </a:p>
        </p:txBody>
      </p:sp>
      <p:sp>
        <p:nvSpPr>
          <p:cNvPr id="16" name="TextBox 15"/>
          <p:cNvSpPr txBox="1"/>
          <p:nvPr/>
        </p:nvSpPr>
        <p:spPr>
          <a:xfrm rot="180000">
            <a:off x="7498079" y="4343400"/>
            <a:ext cx="2926080" cy="1089660"/>
          </a:xfrm>
          <a:prstGeom prst="rect">
            <a:avLst/>
          </a:prstGeom>
          <a:noFill/>
        </p:spPr>
        <p:txBody>
          <a:bodyPr wrap="none" anchor="t" lIns="0" rIns="0" tIns="0" bIns="0">
            <a:noAutofit/>
          </a:bodyPr>
          <a:lstStyle/>
          <a:p>
            <a:pPr algn="l">
              <a:lnSpc>
                <a:spcPct val="100000"/>
              </a:lnSpc>
            </a:pPr>
            <a:r>
              <a:rPr sz="6600" b="1" i="0">
                <a:solidFill>
                  <a:srgbClr val="0E8F6B"/>
                </a:solidFill>
                <a:latin typeface="Sora"/>
              </a:rPr>
              <a:t>5</a:t>
            </a:r>
          </a:p>
        </p:txBody>
      </p:sp>
      <p:sp>
        <p:nvSpPr>
          <p:cNvPr id="17" name="TextBox 16"/>
          <p:cNvSpPr txBox="1"/>
          <p:nvPr/>
        </p:nvSpPr>
        <p:spPr>
          <a:xfrm rot="180000">
            <a:off x="7543799" y="5449824"/>
            <a:ext cx="2743200" cy="777240"/>
          </a:xfrm>
          <a:prstGeom prst="rect">
            <a:avLst/>
          </a:prstGeom>
          <a:noFill/>
        </p:spPr>
        <p:txBody>
          <a:bodyPr wrap="square" anchor="t" lIns="0" rIns="0" tIns="0" bIns="0">
            <a:noAutofit/>
          </a:bodyPr>
          <a:lstStyle/>
          <a:p>
            <a:pPr algn="l">
              <a:lnSpc>
                <a:spcPct val="120000"/>
              </a:lnSpc>
            </a:pPr>
            <a:r>
              <a:rPr sz="1200" b="0" i="0">
                <a:solidFill>
                  <a:srgbClr val="44506A"/>
                </a:solidFill>
                <a:latin typeface="Inter"/>
              </a:rPr>
              <a:t>roles de comptes de</a:t>
            </a:r>
          </a:p>
          <a:p>
            <a:pPr algn="l">
              <a:lnSpc>
                <a:spcPct val="120000"/>
              </a:lnSpc>
            </a:pPr>
            <a:r>
              <a:rPr sz="1200" b="0" i="0">
                <a:solidFill>
                  <a:srgbClr val="44506A"/>
                </a:solidFill>
                <a:latin typeface="Inter"/>
              </a:rPr>
              <a:t>demonstration preconfigures</a:t>
            </a:r>
          </a:p>
        </p:txBody>
      </p:sp>
      <p:sp>
        <p:nvSpPr>
          <p:cNvPr id="18" name="TextBox 17"/>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03</a:t>
            </a:r>
          </a:p>
        </p:txBody>
      </p:sp>
      <p:sp>
        <p:nvSpPr>
          <p:cNvPr id="19" name="Rectangle 18"/>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48640"/>
            <a:ext cx="2458073"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TROIS ROLES, UN SEUL PROCESSUS</a:t>
            </a:r>
          </a:p>
        </p:txBody>
      </p:sp>
      <p:sp>
        <p:nvSpPr>
          <p:cNvPr id="5" name="TextBox 4"/>
          <p:cNvSpPr txBox="1"/>
          <p:nvPr/>
        </p:nvSpPr>
        <p:spPr>
          <a:xfrm>
            <a:off x="822960" y="1005840"/>
            <a:ext cx="9601200" cy="640080"/>
          </a:xfrm>
          <a:prstGeom prst="rect">
            <a:avLst/>
          </a:prstGeom>
          <a:noFill/>
        </p:spPr>
        <p:txBody>
          <a:bodyPr wrap="square" anchor="t" lIns="0" rIns="0" tIns="0" bIns="0">
            <a:noAutofit/>
          </a:bodyPr>
          <a:lstStyle/>
          <a:p>
            <a:pPr algn="l">
              <a:lnSpc>
                <a:spcPct val="100000"/>
              </a:lnSpc>
            </a:pPr>
            <a:r>
              <a:rPr sz="2600" b="1" i="0">
                <a:solidFill>
                  <a:srgbClr val="16233A"/>
                </a:solidFill>
                <a:latin typeface="Sora"/>
              </a:rPr>
              <a:t>Un parcours de recrutement complet</a:t>
            </a:r>
          </a:p>
        </p:txBody>
      </p:sp>
      <p:sp>
        <p:nvSpPr>
          <p:cNvPr id="6" name="TextBox 5"/>
          <p:cNvSpPr txBox="1"/>
          <p:nvPr/>
        </p:nvSpPr>
        <p:spPr>
          <a:xfrm>
            <a:off x="822960" y="1600200"/>
            <a:ext cx="9875520" cy="548640"/>
          </a:xfrm>
          <a:prstGeom prst="rect">
            <a:avLst/>
          </a:prstGeom>
          <a:noFill/>
        </p:spPr>
        <p:txBody>
          <a:bodyPr wrap="square" anchor="t" lIns="0" rIns="0" tIns="0" bIns="0">
            <a:noAutofit/>
          </a:bodyPr>
          <a:lstStyle/>
          <a:p>
            <a:pPr algn="l">
              <a:lnSpc>
                <a:spcPct val="130000"/>
              </a:lnSpc>
            </a:pPr>
            <a:r>
              <a:rPr sz="1230" b="0" i="0">
                <a:solidFill>
                  <a:srgbClr val="44506A"/>
                </a:solidFill>
                <a:latin typeface="Inter"/>
              </a:rPr>
              <a:t>Chaque role a son propre espace, ses propres outils, mais partage le meme processus sous-jacent — c'est ce qui distingue NeoJob d'un simple agregateur d'annonces.</a:t>
            </a:r>
          </a:p>
        </p:txBody>
      </p:sp>
      <p:sp>
        <p:nvSpPr>
          <p:cNvPr id="7" name="Rounded Rectangle 6"/>
          <p:cNvSpPr/>
          <p:nvPr/>
        </p:nvSpPr>
        <p:spPr>
          <a:xfrm>
            <a:off x="822960" y="2331720"/>
            <a:ext cx="3429000" cy="3977639"/>
          </a:xfrm>
          <a:prstGeom prst="roundRect">
            <a:avLst>
              <a:gd name="adj" fmla="val 6000"/>
            </a:avLst>
          </a:prstGeom>
          <a:solidFill>
            <a:srgbClr val="FFFFFF"/>
          </a:solidFill>
          <a:ln w="12700">
            <a:solidFill>
              <a:srgbClr val="2F6FE0">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587752"/>
            <a:ext cx="2880360" cy="365760"/>
          </a:xfrm>
          <a:prstGeom prst="rect">
            <a:avLst/>
          </a:prstGeom>
          <a:noFill/>
        </p:spPr>
        <p:txBody>
          <a:bodyPr wrap="square" anchor="t" lIns="0" rIns="0" tIns="0" bIns="0">
            <a:noAutofit/>
          </a:bodyPr>
          <a:lstStyle/>
          <a:p>
            <a:pPr algn="l">
              <a:lnSpc>
                <a:spcPct val="100000"/>
              </a:lnSpc>
            </a:pPr>
            <a:r>
              <a:rPr sz="1400" b="1" i="0">
                <a:solidFill>
                  <a:srgbClr val="2F6FE0"/>
                </a:solidFill>
                <a:latin typeface="Consolas"/>
              </a:rPr>
              <a:t>01</a:t>
            </a:r>
          </a:p>
        </p:txBody>
      </p:sp>
      <p:sp>
        <p:nvSpPr>
          <p:cNvPr id="9" name="TextBox 8"/>
          <p:cNvSpPr txBox="1"/>
          <p:nvPr/>
        </p:nvSpPr>
        <p:spPr>
          <a:xfrm>
            <a:off x="1097280" y="3017520"/>
            <a:ext cx="2880360" cy="502920"/>
          </a:xfrm>
          <a:prstGeom prst="rect">
            <a:avLst/>
          </a:prstGeom>
          <a:noFill/>
        </p:spPr>
        <p:txBody>
          <a:bodyPr wrap="square" anchor="t" lIns="0" rIns="0" tIns="0" bIns="0">
            <a:noAutofit/>
          </a:bodyPr>
          <a:lstStyle/>
          <a:p>
            <a:pPr algn="l">
              <a:lnSpc>
                <a:spcPct val="100000"/>
              </a:lnSpc>
            </a:pPr>
            <a:r>
              <a:rPr sz="2100" b="1" i="0">
                <a:solidFill>
                  <a:srgbClr val="16233A"/>
                </a:solidFill>
                <a:latin typeface="Sora"/>
              </a:rPr>
              <a:t>Candidat</a:t>
            </a:r>
          </a:p>
        </p:txBody>
      </p:sp>
      <p:sp>
        <p:nvSpPr>
          <p:cNvPr id="10" name="Rectangle 9"/>
          <p:cNvSpPr/>
          <p:nvPr/>
        </p:nvSpPr>
        <p:spPr>
          <a:xfrm>
            <a:off x="1097280" y="3566160"/>
            <a:ext cx="502920" cy="3175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794760"/>
            <a:ext cx="2880360" cy="1600200"/>
          </a:xfrm>
          <a:prstGeom prst="rect">
            <a:avLst/>
          </a:prstGeom>
          <a:noFill/>
        </p:spPr>
        <p:txBody>
          <a:bodyPr wrap="square" anchor="t" lIns="0" rIns="0" tIns="0" bIns="0">
            <a:noAutofit/>
          </a:bodyPr>
          <a:lstStyle/>
          <a:p>
            <a:pPr algn="l">
              <a:lnSpc>
                <a:spcPct val="132000"/>
              </a:lnSpc>
            </a:pPr>
            <a:r>
              <a:rPr sz="1100" b="0" i="0">
                <a:solidFill>
                  <a:srgbClr val="44506A"/>
                </a:solidFill>
                <a:latin typeface="Inter"/>
              </a:rPr>
              <a:t>Cree son profil, declare ses competences et les fait verifier par un quiz, postule aux offres, suit precisement l'etat de chaque candidature, planifie ses entretiens et recoit des alertes emploi personnalisees.</a:t>
            </a:r>
          </a:p>
        </p:txBody>
      </p:sp>
      <p:sp>
        <p:nvSpPr>
          <p:cNvPr id="12" name="TextBox 11"/>
          <p:cNvSpPr txBox="1"/>
          <p:nvPr/>
        </p:nvSpPr>
        <p:spPr>
          <a:xfrm>
            <a:off x="1097280" y="5440680"/>
            <a:ext cx="2926080" cy="822960"/>
          </a:xfrm>
          <a:prstGeom prst="rect">
            <a:avLst/>
          </a:prstGeom>
          <a:noFill/>
        </p:spPr>
        <p:txBody>
          <a:bodyPr wrap="square" lIns="0" rIns="0" tIns="0" bIns="0">
            <a:noAutofit/>
          </a:bodyPr>
          <a:lstStyle/>
          <a:p>
            <a:pPr algn="l">
              <a:lnSpc>
                <a:spcPct val="110000"/>
              </a:lnSpc>
              <a:spcAft>
                <a:spcPts val="400"/>
              </a:spcAft>
            </a:pPr>
            <a:r>
              <a:rPr sz="1000" b="1">
                <a:solidFill>
                  <a:srgbClr val="2F6FE0"/>
                </a:solidFill>
                <a:latin typeface="Inter"/>
              </a:rPr>
              <a:t>–  </a:t>
            </a:r>
            <a:r>
              <a:rPr sz="1000">
                <a:solidFill>
                  <a:srgbClr val="44506A"/>
                </a:solidFill>
                <a:latin typeface="Inter"/>
              </a:rPr>
              <a:t>Profil + CV + quiz de competences</a:t>
            </a:r>
          </a:p>
          <a:p>
            <a:pPr algn="l">
              <a:lnSpc>
                <a:spcPct val="110000"/>
              </a:lnSpc>
              <a:spcAft>
                <a:spcPts val="400"/>
              </a:spcAft>
            </a:pPr>
            <a:r>
              <a:rPr sz="1000" b="1">
                <a:solidFill>
                  <a:srgbClr val="2F6FE0"/>
                </a:solidFill>
                <a:latin typeface="Inter"/>
              </a:rPr>
              <a:t>–  </a:t>
            </a:r>
            <a:r>
              <a:rPr sz="1000">
                <a:solidFill>
                  <a:srgbClr val="44506A"/>
                </a:solidFill>
                <a:latin typeface="Inter"/>
              </a:rPr>
              <a:t>Suivi du pipeline en temps reel</a:t>
            </a:r>
          </a:p>
          <a:p>
            <a:pPr algn="l">
              <a:lnSpc>
                <a:spcPct val="110000"/>
              </a:lnSpc>
              <a:spcAft>
                <a:spcPts val="400"/>
              </a:spcAft>
            </a:pPr>
            <a:r>
              <a:rPr sz="1000" b="1">
                <a:solidFill>
                  <a:srgbClr val="2F6FE0"/>
                </a:solidFill>
                <a:latin typeface="Inter"/>
              </a:rPr>
              <a:t>–  </a:t>
            </a:r>
            <a:r>
              <a:rPr sz="1000">
                <a:solidFill>
                  <a:srgbClr val="44506A"/>
                </a:solidFill>
                <a:latin typeface="Inter"/>
              </a:rPr>
              <a:t>Alertes et favoris</a:t>
            </a:r>
          </a:p>
        </p:txBody>
      </p:sp>
      <p:sp>
        <p:nvSpPr>
          <p:cNvPr id="13" name="Rounded Rectangle 12"/>
          <p:cNvSpPr/>
          <p:nvPr/>
        </p:nvSpPr>
        <p:spPr>
          <a:xfrm>
            <a:off x="4572000" y="2331720"/>
            <a:ext cx="3429000" cy="3977639"/>
          </a:xfrm>
          <a:prstGeom prst="roundRect">
            <a:avLst>
              <a:gd name="adj" fmla="val 6000"/>
            </a:avLst>
          </a:prstGeom>
          <a:solidFill>
            <a:srgbClr val="FFFFFF"/>
          </a:solidFill>
          <a:ln w="12700">
            <a:solidFill>
              <a:srgbClr val="0E8F6B">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2587752"/>
            <a:ext cx="2880360" cy="365760"/>
          </a:xfrm>
          <a:prstGeom prst="rect">
            <a:avLst/>
          </a:prstGeom>
          <a:noFill/>
        </p:spPr>
        <p:txBody>
          <a:bodyPr wrap="square" anchor="t" lIns="0" rIns="0" tIns="0" bIns="0">
            <a:noAutofit/>
          </a:bodyPr>
          <a:lstStyle/>
          <a:p>
            <a:pPr algn="l">
              <a:lnSpc>
                <a:spcPct val="100000"/>
              </a:lnSpc>
            </a:pPr>
            <a:r>
              <a:rPr sz="1400" b="1" i="0">
                <a:solidFill>
                  <a:srgbClr val="0E8F6B"/>
                </a:solidFill>
                <a:latin typeface="Consolas"/>
              </a:rPr>
              <a:t>02</a:t>
            </a:r>
          </a:p>
        </p:txBody>
      </p:sp>
      <p:sp>
        <p:nvSpPr>
          <p:cNvPr id="15" name="TextBox 14"/>
          <p:cNvSpPr txBox="1"/>
          <p:nvPr/>
        </p:nvSpPr>
        <p:spPr>
          <a:xfrm>
            <a:off x="4846320" y="3017520"/>
            <a:ext cx="2880360" cy="502920"/>
          </a:xfrm>
          <a:prstGeom prst="rect">
            <a:avLst/>
          </a:prstGeom>
          <a:noFill/>
        </p:spPr>
        <p:txBody>
          <a:bodyPr wrap="square" anchor="t" lIns="0" rIns="0" tIns="0" bIns="0">
            <a:noAutofit/>
          </a:bodyPr>
          <a:lstStyle/>
          <a:p>
            <a:pPr algn="l">
              <a:lnSpc>
                <a:spcPct val="100000"/>
              </a:lnSpc>
            </a:pPr>
            <a:r>
              <a:rPr sz="2100" b="1" i="0">
                <a:solidFill>
                  <a:srgbClr val="16233A"/>
                </a:solidFill>
                <a:latin typeface="Sora"/>
              </a:rPr>
              <a:t>Recruteur</a:t>
            </a:r>
          </a:p>
        </p:txBody>
      </p:sp>
      <p:sp>
        <p:nvSpPr>
          <p:cNvPr id="16" name="Rectangle 15"/>
          <p:cNvSpPr/>
          <p:nvPr/>
        </p:nvSpPr>
        <p:spPr>
          <a:xfrm>
            <a:off x="4846320" y="3566160"/>
            <a:ext cx="502920" cy="31750"/>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3794760"/>
            <a:ext cx="2880360" cy="1600200"/>
          </a:xfrm>
          <a:prstGeom prst="rect">
            <a:avLst/>
          </a:prstGeom>
          <a:noFill/>
        </p:spPr>
        <p:txBody>
          <a:bodyPr wrap="square" anchor="t" lIns="0" rIns="0" tIns="0" bIns="0">
            <a:noAutofit/>
          </a:bodyPr>
          <a:lstStyle/>
          <a:p>
            <a:pPr algn="l">
              <a:lnSpc>
                <a:spcPct val="132000"/>
              </a:lnSpc>
            </a:pPr>
            <a:r>
              <a:rPr sz="1100" b="0" i="0">
                <a:solidFill>
                  <a:srgbClr val="44506A"/>
                </a:solidFill>
                <a:latin typeface="Inter"/>
              </a:rPr>
              <a:t>Publie des offres (soumises a moderation), gere ses candidatures recues via un tableau Kanban en glisser-deposer, planifie des entretiens avec plusieurs creneaux, et va chercher activement des profils dans la CVtheque.</a:t>
            </a:r>
          </a:p>
        </p:txBody>
      </p:sp>
      <p:sp>
        <p:nvSpPr>
          <p:cNvPr id="18" name="TextBox 17"/>
          <p:cNvSpPr txBox="1"/>
          <p:nvPr/>
        </p:nvSpPr>
        <p:spPr>
          <a:xfrm>
            <a:off x="4846320" y="5440680"/>
            <a:ext cx="2926080" cy="822960"/>
          </a:xfrm>
          <a:prstGeom prst="rect">
            <a:avLst/>
          </a:prstGeom>
          <a:noFill/>
        </p:spPr>
        <p:txBody>
          <a:bodyPr wrap="square" lIns="0" rIns="0" tIns="0" bIns="0">
            <a:noAutofit/>
          </a:bodyPr>
          <a:lstStyle/>
          <a:p>
            <a:pPr algn="l">
              <a:lnSpc>
                <a:spcPct val="110000"/>
              </a:lnSpc>
              <a:spcAft>
                <a:spcPts val="400"/>
              </a:spcAft>
            </a:pPr>
            <a:r>
              <a:rPr sz="1000" b="1">
                <a:solidFill>
                  <a:srgbClr val="0E8F6B"/>
                </a:solidFill>
                <a:latin typeface="Inter"/>
              </a:rPr>
              <a:t>–  </a:t>
            </a:r>
            <a:r>
              <a:rPr sz="1000">
                <a:solidFill>
                  <a:srgbClr val="44506A"/>
                </a:solidFill>
                <a:latin typeface="Inter"/>
              </a:rPr>
              <a:t>Pipeline Kanban drag &amp; drop</a:t>
            </a:r>
          </a:p>
          <a:p>
            <a:pPr algn="l">
              <a:lnSpc>
                <a:spcPct val="110000"/>
              </a:lnSpc>
              <a:spcAft>
                <a:spcPts val="400"/>
              </a:spcAft>
            </a:pPr>
            <a:r>
              <a:rPr sz="1000" b="1">
                <a:solidFill>
                  <a:srgbClr val="0E8F6B"/>
                </a:solidFill>
                <a:latin typeface="Inter"/>
              </a:rPr>
              <a:t>–  </a:t>
            </a:r>
            <a:r>
              <a:rPr sz="1000">
                <a:solidFill>
                  <a:srgbClr val="44506A"/>
                </a:solidFill>
                <a:latin typeface="Inter"/>
              </a:rPr>
              <a:t>Planification d'entretiens</a:t>
            </a:r>
          </a:p>
          <a:p>
            <a:pPr algn="l">
              <a:lnSpc>
                <a:spcPct val="110000"/>
              </a:lnSpc>
              <a:spcAft>
                <a:spcPts val="400"/>
              </a:spcAft>
            </a:pPr>
            <a:r>
              <a:rPr sz="1000" b="1">
                <a:solidFill>
                  <a:srgbClr val="0E8F6B"/>
                </a:solidFill>
                <a:latin typeface="Inter"/>
              </a:rPr>
              <a:t>–  </a:t>
            </a:r>
            <a:r>
              <a:rPr sz="1000">
                <a:solidFill>
                  <a:srgbClr val="44506A"/>
                </a:solidFill>
                <a:latin typeface="Inter"/>
              </a:rPr>
              <a:t>Recherche de candidats</a:t>
            </a:r>
          </a:p>
        </p:txBody>
      </p:sp>
      <p:sp>
        <p:nvSpPr>
          <p:cNvPr id="19" name="Rounded Rectangle 18"/>
          <p:cNvSpPr/>
          <p:nvPr/>
        </p:nvSpPr>
        <p:spPr>
          <a:xfrm>
            <a:off x="8321040" y="2331720"/>
            <a:ext cx="3429000" cy="3977639"/>
          </a:xfrm>
          <a:prstGeom prst="roundRect">
            <a:avLst>
              <a:gd name="adj" fmla="val 6000"/>
            </a:avLst>
          </a:prstGeom>
          <a:solidFill>
            <a:srgbClr val="FFFFFF"/>
          </a:solidFill>
          <a:ln w="12700">
            <a:solidFill>
              <a:srgbClr val="C9721E">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2587752"/>
            <a:ext cx="2880360" cy="365760"/>
          </a:xfrm>
          <a:prstGeom prst="rect">
            <a:avLst/>
          </a:prstGeom>
          <a:noFill/>
        </p:spPr>
        <p:txBody>
          <a:bodyPr wrap="square" anchor="t" lIns="0" rIns="0" tIns="0" bIns="0">
            <a:noAutofit/>
          </a:bodyPr>
          <a:lstStyle/>
          <a:p>
            <a:pPr algn="l">
              <a:lnSpc>
                <a:spcPct val="100000"/>
              </a:lnSpc>
            </a:pPr>
            <a:r>
              <a:rPr sz="1400" b="1" i="0">
                <a:solidFill>
                  <a:srgbClr val="C9721E"/>
                </a:solidFill>
                <a:latin typeface="Consolas"/>
              </a:rPr>
              <a:t>03</a:t>
            </a:r>
          </a:p>
        </p:txBody>
      </p:sp>
      <p:sp>
        <p:nvSpPr>
          <p:cNvPr id="21" name="TextBox 20"/>
          <p:cNvSpPr txBox="1"/>
          <p:nvPr/>
        </p:nvSpPr>
        <p:spPr>
          <a:xfrm>
            <a:off x="8595360" y="3017520"/>
            <a:ext cx="2880360" cy="502920"/>
          </a:xfrm>
          <a:prstGeom prst="rect">
            <a:avLst/>
          </a:prstGeom>
          <a:noFill/>
        </p:spPr>
        <p:txBody>
          <a:bodyPr wrap="square" anchor="t" lIns="0" rIns="0" tIns="0" bIns="0">
            <a:noAutofit/>
          </a:bodyPr>
          <a:lstStyle/>
          <a:p>
            <a:pPr algn="l">
              <a:lnSpc>
                <a:spcPct val="100000"/>
              </a:lnSpc>
            </a:pPr>
            <a:r>
              <a:rPr sz="2100" b="1" i="0">
                <a:solidFill>
                  <a:srgbClr val="16233A"/>
                </a:solidFill>
                <a:latin typeface="Sora"/>
              </a:rPr>
              <a:t>Administrateur</a:t>
            </a:r>
          </a:p>
        </p:txBody>
      </p:sp>
      <p:sp>
        <p:nvSpPr>
          <p:cNvPr id="22" name="Rectangle 21"/>
          <p:cNvSpPr/>
          <p:nvPr/>
        </p:nvSpPr>
        <p:spPr>
          <a:xfrm>
            <a:off x="8595360" y="3566160"/>
            <a:ext cx="502920" cy="31750"/>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0" y="3794760"/>
            <a:ext cx="2880360" cy="1600200"/>
          </a:xfrm>
          <a:prstGeom prst="rect">
            <a:avLst/>
          </a:prstGeom>
          <a:noFill/>
        </p:spPr>
        <p:txBody>
          <a:bodyPr wrap="square" anchor="t" lIns="0" rIns="0" tIns="0" bIns="0">
            <a:noAutofit/>
          </a:bodyPr>
          <a:lstStyle/>
          <a:p>
            <a:pPr algn="l">
              <a:lnSpc>
                <a:spcPct val="132000"/>
              </a:lnSpc>
            </a:pPr>
            <a:r>
              <a:rPr sz="1100" b="0" i="0">
                <a:solidFill>
                  <a:srgbClr val="44506A"/>
                </a:solidFill>
                <a:latin typeface="Inter"/>
              </a:rPr>
              <a:t>Controle la qualite de la plateforme : valide chaque offre et chaque avis avant publication, gere les comptes utilisateurs, et supervise l'activite globale depuis un tableau de bord.</a:t>
            </a:r>
          </a:p>
        </p:txBody>
      </p:sp>
      <p:sp>
        <p:nvSpPr>
          <p:cNvPr id="24" name="TextBox 23"/>
          <p:cNvSpPr txBox="1"/>
          <p:nvPr/>
        </p:nvSpPr>
        <p:spPr>
          <a:xfrm>
            <a:off x="8595360" y="5440680"/>
            <a:ext cx="2926080" cy="822960"/>
          </a:xfrm>
          <a:prstGeom prst="rect">
            <a:avLst/>
          </a:prstGeom>
          <a:noFill/>
        </p:spPr>
        <p:txBody>
          <a:bodyPr wrap="square" lIns="0" rIns="0" tIns="0" bIns="0">
            <a:noAutofit/>
          </a:bodyPr>
          <a:lstStyle/>
          <a:p>
            <a:pPr algn="l">
              <a:lnSpc>
                <a:spcPct val="110000"/>
              </a:lnSpc>
              <a:spcAft>
                <a:spcPts val="400"/>
              </a:spcAft>
            </a:pPr>
            <a:r>
              <a:rPr sz="1000" b="1">
                <a:solidFill>
                  <a:srgbClr val="C9721E"/>
                </a:solidFill>
                <a:latin typeface="Inter"/>
              </a:rPr>
              <a:t>–  </a:t>
            </a:r>
            <a:r>
              <a:rPr sz="1000">
                <a:solidFill>
                  <a:srgbClr val="44506A"/>
                </a:solidFill>
                <a:latin typeface="Inter"/>
              </a:rPr>
              <a:t>Moderation des offres et avis</a:t>
            </a:r>
          </a:p>
          <a:p>
            <a:pPr algn="l">
              <a:lnSpc>
                <a:spcPct val="110000"/>
              </a:lnSpc>
              <a:spcAft>
                <a:spcPts val="400"/>
              </a:spcAft>
            </a:pPr>
            <a:r>
              <a:rPr sz="1000" b="1">
                <a:solidFill>
                  <a:srgbClr val="C9721E"/>
                </a:solidFill>
                <a:latin typeface="Inter"/>
              </a:rPr>
              <a:t>–  </a:t>
            </a:r>
            <a:r>
              <a:rPr sz="1000">
                <a:solidFill>
                  <a:srgbClr val="44506A"/>
                </a:solidFill>
                <a:latin typeface="Inter"/>
              </a:rPr>
              <a:t>Gestion des comptes</a:t>
            </a:r>
          </a:p>
          <a:p>
            <a:pPr algn="l">
              <a:lnSpc>
                <a:spcPct val="110000"/>
              </a:lnSpc>
              <a:spcAft>
                <a:spcPts val="400"/>
              </a:spcAft>
            </a:pPr>
            <a:r>
              <a:rPr sz="1000" b="1">
                <a:solidFill>
                  <a:srgbClr val="C9721E"/>
                </a:solidFill>
                <a:latin typeface="Inter"/>
              </a:rPr>
              <a:t>–  </a:t>
            </a:r>
            <a:r>
              <a:rPr sz="1000">
                <a:solidFill>
                  <a:srgbClr val="44506A"/>
                </a:solidFill>
                <a:latin typeface="Inter"/>
              </a:rPr>
              <a:t>Tableau de bord global</a:t>
            </a:r>
          </a:p>
        </p:txBody>
      </p:sp>
      <p:sp>
        <p:nvSpPr>
          <p:cNvPr id="25" name="TextBox 24"/>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04</a:t>
            </a:r>
          </a:p>
        </p:txBody>
      </p:sp>
      <p:sp>
        <p:nvSpPr>
          <p:cNvPr id="26" name="Rectangle 25"/>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241339"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E8F6B"/>
                </a:solidFill>
                <a:latin typeface="Inter"/>
              </a:rPr>
              <a:t>SOUS LE CAPOT</a:t>
            </a:r>
          </a:p>
        </p:txBody>
      </p:sp>
      <p:sp>
        <p:nvSpPr>
          <p:cNvPr id="5" name="TextBox 4"/>
          <p:cNvSpPr txBox="1"/>
          <p:nvPr/>
        </p:nvSpPr>
        <p:spPr>
          <a:xfrm>
            <a:off x="822960" y="914400"/>
            <a:ext cx="8686800" cy="594360"/>
          </a:xfrm>
          <a:prstGeom prst="rect">
            <a:avLst/>
          </a:prstGeom>
          <a:noFill/>
        </p:spPr>
        <p:txBody>
          <a:bodyPr wrap="square" anchor="t" lIns="0" rIns="0" tIns="0" bIns="0">
            <a:noAutofit/>
          </a:bodyPr>
          <a:lstStyle/>
          <a:p>
            <a:pPr algn="l">
              <a:lnSpc>
                <a:spcPct val="100000"/>
              </a:lnSpc>
            </a:pPr>
            <a:r>
              <a:rPr sz="2600" b="1" i="0">
                <a:solidFill>
                  <a:srgbClr val="16233A"/>
                </a:solidFill>
                <a:latin typeface="Sora"/>
              </a:rPr>
              <a:t>Architecture en trois couches</a:t>
            </a:r>
          </a:p>
        </p:txBody>
      </p:sp>
      <p:sp>
        <p:nvSpPr>
          <p:cNvPr id="6" name="TextBox 5"/>
          <p:cNvSpPr txBox="1"/>
          <p:nvPr/>
        </p:nvSpPr>
        <p:spPr>
          <a:xfrm>
            <a:off x="822960" y="1481328"/>
            <a:ext cx="4892040" cy="2743200"/>
          </a:xfrm>
          <a:prstGeom prst="rect">
            <a:avLst/>
          </a:prstGeom>
          <a:noFill/>
        </p:spPr>
        <p:txBody>
          <a:bodyPr wrap="square" anchor="t" lIns="0" rIns="0" tIns="0" bIns="0">
            <a:noAutofit/>
          </a:bodyPr>
          <a:lstStyle/>
          <a:p>
            <a:pPr algn="l">
              <a:lnSpc>
                <a:spcPct val="140000"/>
              </a:lnSpc>
            </a:pPr>
            <a:r>
              <a:rPr sz="1250" b="0" i="0">
                <a:solidFill>
                  <a:srgbClr val="44506A"/>
                </a:solidFill>
                <a:latin typeface="Inter"/>
              </a:rPr>
              <a:t>NeoJob suit une architecture classique a trois couches, qui separe strictement l'affichage, la logique metier et le stockage des donnees. Le navigateur ne communique jamais directement avec la base de donnees : il passe systematiquement par l'API REST en PHP, qui valide, securise et traduit chaque requete avant de toucher a MySQL.</a:t>
            </a:r>
          </a:p>
        </p:txBody>
      </p:sp>
      <p:sp>
        <p:nvSpPr>
          <p:cNvPr id="7" name="TextBox 6"/>
          <p:cNvSpPr txBox="1"/>
          <p:nvPr/>
        </p:nvSpPr>
        <p:spPr>
          <a:xfrm>
            <a:off x="822960" y="3429000"/>
            <a:ext cx="4892040" cy="2651760"/>
          </a:xfrm>
          <a:prstGeom prst="rect">
            <a:avLst/>
          </a:prstGeom>
          <a:noFill/>
        </p:spPr>
        <p:txBody>
          <a:bodyPr wrap="square" lIns="0" rIns="0" tIns="0" bIns="0">
            <a:noAutofit/>
          </a:bodyPr>
          <a:lstStyle/>
          <a:p>
            <a:pPr algn="l">
              <a:lnSpc>
                <a:spcPct val="128000"/>
              </a:lnSpc>
              <a:spcAft>
                <a:spcPts val="1000"/>
              </a:spcAft>
            </a:pPr>
            <a:r>
              <a:rPr sz="1130" b="1">
                <a:solidFill>
                  <a:srgbClr val="44506A"/>
                </a:solidFill>
                <a:latin typeface="Inter"/>
              </a:rPr>
              <a:t>–  </a:t>
            </a:r>
            <a:r>
              <a:rPr sz="1130" b="1">
                <a:solidFill>
                  <a:srgbClr val="44506A"/>
                </a:solidFill>
                <a:latin typeface="Inter"/>
              </a:rPr>
              <a:t>Front-end — </a:t>
            </a:r>
            <a:r>
              <a:rPr sz="1130" b="0">
                <a:solidFill>
                  <a:srgbClr val="44506A"/>
                </a:solidFill>
                <a:latin typeface="Inter"/>
              </a:rPr>
              <a:t>HTML5, Bootstrap 5, JavaScript vanilla. Chaque page execute une fonction asynchrone qui interroge l'API via fetch().</a:t>
            </a:r>
          </a:p>
          <a:p>
            <a:pPr algn="l">
              <a:lnSpc>
                <a:spcPct val="128000"/>
              </a:lnSpc>
              <a:spcAft>
                <a:spcPts val="1000"/>
              </a:spcAft>
            </a:pPr>
            <a:r>
              <a:rPr sz="1130" b="1">
                <a:solidFill>
                  <a:srgbClr val="44506A"/>
                </a:solidFill>
                <a:latin typeface="Inter"/>
              </a:rPr>
              <a:t>–  </a:t>
            </a:r>
            <a:r>
              <a:rPr sz="1130" b="1">
                <a:solidFill>
                  <a:srgbClr val="44506A"/>
                </a:solidFill>
                <a:latin typeface="Inter"/>
              </a:rPr>
              <a:t>API REST — </a:t>
            </a:r>
            <a:r>
              <a:rPr sz="1130" b="0">
                <a:solidFill>
                  <a:srgbClr val="44506A"/>
                </a:solidFill>
                <a:latin typeface="Inter"/>
              </a:rPr>
              <a:t>PHP 8, un fichier par ressource metier, routage par methode HTTP et parametre ?action=. Authentification par session, requetes preparees partout.</a:t>
            </a:r>
          </a:p>
          <a:p>
            <a:pPr algn="l">
              <a:lnSpc>
                <a:spcPct val="128000"/>
              </a:lnSpc>
              <a:spcAft>
                <a:spcPts val="1000"/>
              </a:spcAft>
            </a:pPr>
            <a:r>
              <a:rPr sz="1130" b="1">
                <a:solidFill>
                  <a:srgbClr val="44506A"/>
                </a:solidFill>
                <a:latin typeface="Inter"/>
              </a:rPr>
              <a:t>–  </a:t>
            </a:r>
            <a:r>
              <a:rPr sz="1130" b="1">
                <a:solidFill>
                  <a:srgbClr val="44506A"/>
                </a:solidFill>
                <a:latin typeface="Inter"/>
              </a:rPr>
              <a:t>Base de donnees — </a:t>
            </a:r>
            <a:r>
              <a:rPr sz="1130" b="0">
                <a:solidFill>
                  <a:srgbClr val="44506A"/>
                </a:solidFill>
                <a:latin typeface="Inter"/>
              </a:rPr>
              <a:t>MySQL / MariaDB, schema relationnel normalise en 3NF, 17 tables avec cles etrangeres et regles de suppression en cascade.</a:t>
            </a:r>
          </a:p>
        </p:txBody>
      </p:sp>
      <p:pic>
        <p:nvPicPr>
          <p:cNvPr id="8" name="Picture 7" descr="architecture.png"/>
          <p:cNvPicPr>
            <a:picLocks noChangeAspect="1"/>
          </p:cNvPicPr>
          <p:nvPr/>
        </p:nvPicPr>
        <p:blipFill>
          <a:blip r:embed="rId2"/>
          <a:stretch>
            <a:fillRect/>
          </a:stretch>
        </p:blipFill>
        <p:spPr>
          <a:xfrm>
            <a:off x="5989320" y="1417320"/>
            <a:ext cx="5669280" cy="3250349"/>
          </a:xfrm>
          <a:prstGeom prst="roundRect">
            <a:avLst>
              <a:gd name="adj" fmla="val 2000"/>
            </a:avLst>
          </a:prstGeom>
          <a:effectLst>
            <a:outerShdw blurRad="140000" dist="38000" dir="5400000" rotWithShape="0">
              <a:srgbClr val="16233A">
                <a:alpha val="22000"/>
              </a:srgbClr>
            </a:outerShdw>
          </a:effectLst>
        </p:spPr>
      </p:pic>
      <p:sp>
        <p:nvSpPr>
          <p:cNvPr id="9" name="TextBox 8"/>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05</a:t>
            </a:r>
          </a:p>
        </p:txBody>
      </p:sp>
      <p:sp>
        <p:nvSpPr>
          <p:cNvPr id="10" name="Rectangle 9"/>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38448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BASE DE DONNEES</a:t>
            </a:r>
          </a:p>
        </p:txBody>
      </p:sp>
      <p:sp>
        <p:nvSpPr>
          <p:cNvPr id="5" name="TextBox 4"/>
          <p:cNvSpPr txBox="1"/>
          <p:nvPr/>
        </p:nvSpPr>
        <p:spPr>
          <a:xfrm>
            <a:off x="822960" y="914400"/>
            <a:ext cx="9601200" cy="594360"/>
          </a:xfrm>
          <a:prstGeom prst="rect">
            <a:avLst/>
          </a:prstGeom>
          <a:noFill/>
        </p:spPr>
        <p:txBody>
          <a:bodyPr wrap="square" anchor="t" lIns="0" rIns="0" tIns="0" bIns="0">
            <a:noAutofit/>
          </a:bodyPr>
          <a:lstStyle/>
          <a:p>
            <a:pPr algn="l">
              <a:lnSpc>
                <a:spcPct val="100000"/>
              </a:lnSpc>
            </a:pPr>
            <a:r>
              <a:rPr sz="2500" b="1" i="0">
                <a:solidFill>
                  <a:srgbClr val="16233A"/>
                </a:solidFill>
                <a:latin typeface="Sora"/>
              </a:rPr>
              <a:t>Un schema pense pour eviter la duplication</a:t>
            </a:r>
          </a:p>
        </p:txBody>
      </p:sp>
      <p:sp>
        <p:nvSpPr>
          <p:cNvPr id="6" name="TextBox 5"/>
          <p:cNvSpPr txBox="1"/>
          <p:nvPr/>
        </p:nvSpPr>
        <p:spPr>
          <a:xfrm>
            <a:off x="822960" y="1554480"/>
            <a:ext cx="10424160" cy="1188720"/>
          </a:xfrm>
          <a:prstGeom prst="rect">
            <a:avLst/>
          </a:prstGeom>
          <a:noFill/>
        </p:spPr>
        <p:txBody>
          <a:bodyPr wrap="square" anchor="t" lIns="0" rIns="0" tIns="0" bIns="0">
            <a:noAutofit/>
          </a:bodyPr>
          <a:lstStyle/>
          <a:p>
            <a:pPr algn="l">
              <a:lnSpc>
                <a:spcPct val="140000"/>
              </a:lnSpc>
            </a:pPr>
            <a:r>
              <a:rPr sz="1250" b="0" i="0">
                <a:solidFill>
                  <a:srgbClr val="44506A"/>
                </a:solidFill>
                <a:latin typeface="Inter"/>
              </a:rPr>
              <a:t>Le schema de donnees respecte la troisieme forme normale (3NF) : chaque information n'est stockee qu'a un seul endroit. Concretement, tout ce qui etait un simple tableau dans la premiere version du projet (les competences d'un candidat, les competences recherchees par une offre, les photos d'une entreprise, les creneaux proposes pour un entretien) est devenu une veritable table de jointure — pas une colonne texte, pas du JSON stocke en base.</a:t>
            </a:r>
          </a:p>
        </p:txBody>
      </p:sp>
      <p:sp>
        <p:nvSpPr>
          <p:cNvPr id="7" name="Rounded Rectangle 6"/>
          <p:cNvSpPr/>
          <p:nvPr/>
        </p:nvSpPr>
        <p:spPr>
          <a:xfrm>
            <a:off x="822960" y="2971800"/>
            <a:ext cx="5074920" cy="1691640"/>
          </a:xfrm>
          <a:prstGeom prst="roundRect">
            <a:avLst>
              <a:gd name="adj" fmla="val 8000"/>
            </a:avLst>
          </a:prstGeom>
          <a:solidFill>
            <a:srgbClr val="FFFFFF"/>
          </a:solidFill>
          <a:ln w="12700">
            <a:solidFill>
              <a:srgbClr val="2F6F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971800"/>
            <a:ext cx="64008" cy="169164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136392"/>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Comptes &amp; profils</a:t>
            </a:r>
          </a:p>
        </p:txBody>
      </p:sp>
      <p:sp>
        <p:nvSpPr>
          <p:cNvPr id="10" name="TextBox 9"/>
          <p:cNvSpPr txBox="1"/>
          <p:nvPr/>
        </p:nvSpPr>
        <p:spPr>
          <a:xfrm>
            <a:off x="1115568" y="3465576"/>
            <a:ext cx="4526280" cy="365760"/>
          </a:xfrm>
          <a:prstGeom prst="rect">
            <a:avLst/>
          </a:prstGeom>
          <a:noFill/>
        </p:spPr>
        <p:txBody>
          <a:bodyPr wrap="square" anchor="t" lIns="0" rIns="0" tIns="0" bIns="0">
            <a:noAutofit/>
          </a:bodyPr>
          <a:lstStyle/>
          <a:p>
            <a:pPr algn="l">
              <a:lnSpc>
                <a:spcPct val="110000"/>
              </a:lnSpc>
            </a:pPr>
            <a:r>
              <a:rPr sz="900" b="0" i="0">
                <a:solidFill>
                  <a:srgbClr val="2F6FE0"/>
                </a:solidFill>
                <a:latin typeface="Consolas"/>
              </a:rPr>
              <a:t>utilisateurs, candidats, entreprises, entreprise_photos</a:t>
            </a:r>
          </a:p>
        </p:txBody>
      </p:sp>
      <p:sp>
        <p:nvSpPr>
          <p:cNvPr id="11" name="TextBox 10"/>
          <p:cNvSpPr txBox="1"/>
          <p:nvPr/>
        </p:nvSpPr>
        <p:spPr>
          <a:xfrm>
            <a:off x="1115568" y="3867912"/>
            <a:ext cx="4526280" cy="731520"/>
          </a:xfrm>
          <a:prstGeom prst="rect">
            <a:avLst/>
          </a:prstGeom>
          <a:noFill/>
        </p:spPr>
        <p:txBody>
          <a:bodyPr wrap="square" anchor="t" lIns="0" rIns="0" tIns="0" bIns="0">
            <a:noAutofit/>
          </a:bodyPr>
          <a:lstStyle/>
          <a:p>
            <a:pPr algn="l">
              <a:lnSpc>
                <a:spcPct val="122000"/>
              </a:lnSpc>
            </a:pPr>
            <a:r>
              <a:rPr sz="980" b="0" i="0">
                <a:solidFill>
                  <a:srgbClr val="44506A"/>
                </a:solidFill>
                <a:latin typeface="Inter"/>
              </a:rPr>
              <a:t>Un compte de connexion (email + mot de passe hache) lie a un seul profil metier — candidat ou entreprise — selon le role.</a:t>
            </a:r>
          </a:p>
        </p:txBody>
      </p:sp>
      <p:sp>
        <p:nvSpPr>
          <p:cNvPr id="12" name="Rounded Rectangle 11"/>
          <p:cNvSpPr/>
          <p:nvPr/>
        </p:nvSpPr>
        <p:spPr>
          <a:xfrm>
            <a:off x="6172200" y="2971800"/>
            <a:ext cx="5074920" cy="1691640"/>
          </a:xfrm>
          <a:prstGeom prst="roundRect">
            <a:avLst>
              <a:gd name="adj" fmla="val 8000"/>
            </a:avLst>
          </a:prstGeom>
          <a:solidFill>
            <a:srgbClr val="FFFFFF"/>
          </a:solidFill>
          <a:ln w="12700">
            <a:solidFill>
              <a:srgbClr val="0E8F6B">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2971800"/>
            <a:ext cx="64008" cy="1691640"/>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8" y="3136392"/>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Offres &amp; candidatures</a:t>
            </a:r>
          </a:p>
        </p:txBody>
      </p:sp>
      <p:sp>
        <p:nvSpPr>
          <p:cNvPr id="15" name="TextBox 14"/>
          <p:cNvSpPr txBox="1"/>
          <p:nvPr/>
        </p:nvSpPr>
        <p:spPr>
          <a:xfrm>
            <a:off x="6464808" y="3465576"/>
            <a:ext cx="4526280" cy="365760"/>
          </a:xfrm>
          <a:prstGeom prst="rect">
            <a:avLst/>
          </a:prstGeom>
          <a:noFill/>
        </p:spPr>
        <p:txBody>
          <a:bodyPr wrap="square" anchor="t" lIns="0" rIns="0" tIns="0" bIns="0">
            <a:noAutofit/>
          </a:bodyPr>
          <a:lstStyle/>
          <a:p>
            <a:pPr algn="l">
              <a:lnSpc>
                <a:spcPct val="110000"/>
              </a:lnSpc>
            </a:pPr>
            <a:r>
              <a:rPr sz="900" b="0" i="0">
                <a:solidFill>
                  <a:srgbClr val="0E8F6B"/>
                </a:solidFill>
                <a:latin typeface="Consolas"/>
              </a:rPr>
              <a:t>offres, offre_competences, candidatures, candidat_competences</a:t>
            </a:r>
          </a:p>
        </p:txBody>
      </p:sp>
      <p:sp>
        <p:nvSpPr>
          <p:cNvPr id="16" name="TextBox 15"/>
          <p:cNvSpPr txBox="1"/>
          <p:nvPr/>
        </p:nvSpPr>
        <p:spPr>
          <a:xfrm>
            <a:off x="6464808" y="3867912"/>
            <a:ext cx="4526280" cy="731520"/>
          </a:xfrm>
          <a:prstGeom prst="rect">
            <a:avLst/>
          </a:prstGeom>
          <a:noFill/>
        </p:spPr>
        <p:txBody>
          <a:bodyPr wrap="square" anchor="t" lIns="0" rIns="0" tIns="0" bIns="0">
            <a:noAutofit/>
          </a:bodyPr>
          <a:lstStyle/>
          <a:p>
            <a:pPr algn="l">
              <a:lnSpc>
                <a:spcPct val="122000"/>
              </a:lnSpc>
            </a:pPr>
            <a:r>
              <a:rPr sz="980" b="0" i="0">
                <a:solidFill>
                  <a:srgbClr val="44506A"/>
                </a:solidFill>
                <a:latin typeface="Inter"/>
              </a:rPr>
              <a:t>Le coeur du pipeline : une offre, ses competences requises, et chaque candidature avec son statut dans le processus de recrutement.</a:t>
            </a:r>
          </a:p>
        </p:txBody>
      </p:sp>
      <p:sp>
        <p:nvSpPr>
          <p:cNvPr id="17" name="Rounded Rectangle 16"/>
          <p:cNvSpPr/>
          <p:nvPr/>
        </p:nvSpPr>
        <p:spPr>
          <a:xfrm>
            <a:off x="822960" y="4892040"/>
            <a:ext cx="5074920" cy="1691640"/>
          </a:xfrm>
          <a:prstGeom prst="roundRect">
            <a:avLst>
              <a:gd name="adj" fmla="val 8000"/>
            </a:avLst>
          </a:prstGeom>
          <a:solidFill>
            <a:srgbClr val="FFFFFF"/>
          </a:solidFill>
          <a:ln w="12700">
            <a:solidFill>
              <a:srgbClr val="6D59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 y="4892040"/>
            <a:ext cx="64008" cy="1691640"/>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5568" y="5056632"/>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Entretiens &amp; echanges</a:t>
            </a:r>
          </a:p>
        </p:txBody>
      </p:sp>
      <p:sp>
        <p:nvSpPr>
          <p:cNvPr id="20" name="TextBox 19"/>
          <p:cNvSpPr txBox="1"/>
          <p:nvPr/>
        </p:nvSpPr>
        <p:spPr>
          <a:xfrm>
            <a:off x="1115568" y="5385816"/>
            <a:ext cx="4526280" cy="365760"/>
          </a:xfrm>
          <a:prstGeom prst="rect">
            <a:avLst/>
          </a:prstGeom>
          <a:noFill/>
        </p:spPr>
        <p:txBody>
          <a:bodyPr wrap="square" anchor="t" lIns="0" rIns="0" tIns="0" bIns="0">
            <a:noAutofit/>
          </a:bodyPr>
          <a:lstStyle/>
          <a:p>
            <a:pPr algn="l">
              <a:lnSpc>
                <a:spcPct val="110000"/>
              </a:lnSpc>
            </a:pPr>
            <a:r>
              <a:rPr sz="900" b="0" i="0">
                <a:solidFill>
                  <a:srgbClr val="6D59E0"/>
                </a:solidFill>
                <a:latin typeface="Consolas"/>
              </a:rPr>
              <a:t>entretiens, creneaux_entretien, messages</a:t>
            </a:r>
          </a:p>
        </p:txBody>
      </p:sp>
      <p:sp>
        <p:nvSpPr>
          <p:cNvPr id="21" name="TextBox 20"/>
          <p:cNvSpPr txBox="1"/>
          <p:nvPr/>
        </p:nvSpPr>
        <p:spPr>
          <a:xfrm>
            <a:off x="1115568" y="5788152"/>
            <a:ext cx="4526280" cy="731520"/>
          </a:xfrm>
          <a:prstGeom prst="rect">
            <a:avLst/>
          </a:prstGeom>
          <a:noFill/>
        </p:spPr>
        <p:txBody>
          <a:bodyPr wrap="square" anchor="t" lIns="0" rIns="0" tIns="0" bIns="0">
            <a:noAutofit/>
          </a:bodyPr>
          <a:lstStyle/>
          <a:p>
            <a:pPr algn="l">
              <a:lnSpc>
                <a:spcPct val="122000"/>
              </a:lnSpc>
            </a:pPr>
            <a:r>
              <a:rPr sz="980" b="0" i="0">
                <a:solidFill>
                  <a:srgbClr val="44506A"/>
                </a:solidFill>
                <a:latin typeface="Inter"/>
              </a:rPr>
              <a:t>Un entretien propose plusieurs creneaux ; le candidat en choisit un. Chaque candidature porte son propre fil de discussion.</a:t>
            </a:r>
          </a:p>
        </p:txBody>
      </p:sp>
      <p:sp>
        <p:nvSpPr>
          <p:cNvPr id="22" name="Rounded Rectangle 21"/>
          <p:cNvSpPr/>
          <p:nvPr/>
        </p:nvSpPr>
        <p:spPr>
          <a:xfrm>
            <a:off x="6172200" y="4892040"/>
            <a:ext cx="5074920" cy="1691640"/>
          </a:xfrm>
          <a:prstGeom prst="roundRect">
            <a:avLst>
              <a:gd name="adj" fmla="val 8000"/>
            </a:avLst>
          </a:prstGeom>
          <a:solidFill>
            <a:srgbClr val="FFFFFF"/>
          </a:solidFill>
          <a:ln w="12700">
            <a:solidFill>
              <a:srgbClr val="C9721E">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892040"/>
            <a:ext cx="64008" cy="1691640"/>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4808" y="5056632"/>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Engagement &amp; reference</a:t>
            </a:r>
          </a:p>
        </p:txBody>
      </p:sp>
      <p:sp>
        <p:nvSpPr>
          <p:cNvPr id="25" name="TextBox 24"/>
          <p:cNvSpPr txBox="1"/>
          <p:nvPr/>
        </p:nvSpPr>
        <p:spPr>
          <a:xfrm>
            <a:off x="6464808" y="5385816"/>
            <a:ext cx="4526280" cy="365760"/>
          </a:xfrm>
          <a:prstGeom prst="rect">
            <a:avLst/>
          </a:prstGeom>
          <a:noFill/>
        </p:spPr>
        <p:txBody>
          <a:bodyPr wrap="square" anchor="t" lIns="0" rIns="0" tIns="0" bIns="0">
            <a:noAutofit/>
          </a:bodyPr>
          <a:lstStyle/>
          <a:p>
            <a:pPr algn="l">
              <a:lnSpc>
                <a:spcPct val="110000"/>
              </a:lnSpc>
            </a:pPr>
            <a:r>
              <a:rPr sz="900" b="0" i="0">
                <a:solidFill>
                  <a:srgbClr val="C9721E"/>
                </a:solidFill>
                <a:latin typeface="Consolas"/>
              </a:rPr>
              <a:t>favoris, alertes, avis, paiements, categories, competences</a:t>
            </a:r>
          </a:p>
        </p:txBody>
      </p:sp>
      <p:sp>
        <p:nvSpPr>
          <p:cNvPr id="26" name="TextBox 25"/>
          <p:cNvSpPr txBox="1"/>
          <p:nvPr/>
        </p:nvSpPr>
        <p:spPr>
          <a:xfrm>
            <a:off x="6464808" y="5788152"/>
            <a:ext cx="4526280" cy="731520"/>
          </a:xfrm>
          <a:prstGeom prst="rect">
            <a:avLst/>
          </a:prstGeom>
          <a:noFill/>
        </p:spPr>
        <p:txBody>
          <a:bodyPr wrap="square" anchor="t" lIns="0" rIns="0" tIns="0" bIns="0">
            <a:noAutofit/>
          </a:bodyPr>
          <a:lstStyle/>
          <a:p>
            <a:pPr algn="l">
              <a:lnSpc>
                <a:spcPct val="122000"/>
              </a:lnSpc>
            </a:pPr>
            <a:r>
              <a:rPr sz="980" b="0" i="0">
                <a:solidFill>
                  <a:srgbClr val="44506A"/>
                </a:solidFill>
                <a:latin typeface="Inter"/>
              </a:rPr>
              <a:t>Les listes de reference (categories, competences) et tout ce qui personnalise l'experience : favoris, alertes emploi, avis, historique de paiement.</a:t>
            </a:r>
          </a:p>
        </p:txBody>
      </p:sp>
      <p:sp>
        <p:nvSpPr>
          <p:cNvPr id="27" name="TextBox 26"/>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06</a:t>
            </a:r>
          </a:p>
        </p:txBody>
      </p:sp>
      <p:sp>
        <p:nvSpPr>
          <p:cNvPr id="28" name="Rectangle 27"/>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457200"/>
            <a:ext cx="138448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BASE DE DONNEES</a:t>
            </a:r>
          </a:p>
        </p:txBody>
      </p:sp>
      <p:sp>
        <p:nvSpPr>
          <p:cNvPr id="5" name="TextBox 4"/>
          <p:cNvSpPr txBox="1"/>
          <p:nvPr/>
        </p:nvSpPr>
        <p:spPr>
          <a:xfrm>
            <a:off x="822960" y="841248"/>
            <a:ext cx="9601200" cy="548640"/>
          </a:xfrm>
          <a:prstGeom prst="rect">
            <a:avLst/>
          </a:prstGeom>
          <a:noFill/>
        </p:spPr>
        <p:txBody>
          <a:bodyPr wrap="square" anchor="t" lIns="0" rIns="0" tIns="0" bIns="0">
            <a:noAutofit/>
          </a:bodyPr>
          <a:lstStyle/>
          <a:p>
            <a:pPr algn="l">
              <a:lnSpc>
                <a:spcPct val="100000"/>
              </a:lnSpc>
            </a:pPr>
            <a:r>
              <a:rPr sz="2400" b="1" i="0">
                <a:solidFill>
                  <a:srgbClr val="16233A"/>
                </a:solidFill>
                <a:latin typeface="Sora"/>
              </a:rPr>
              <a:t>Le modele relationnel, entites principales</a:t>
            </a:r>
          </a:p>
        </p:txBody>
      </p:sp>
      <p:pic>
        <p:nvPicPr>
          <p:cNvPr id="6" name="Picture 5" descr="er_diagram.png"/>
          <p:cNvPicPr>
            <a:picLocks noChangeAspect="1"/>
          </p:cNvPicPr>
          <p:nvPr/>
        </p:nvPicPr>
        <p:blipFill>
          <a:blip r:embed="rId2"/>
          <a:stretch>
            <a:fillRect/>
          </a:stretch>
        </p:blipFill>
        <p:spPr>
          <a:xfrm>
            <a:off x="2337132" y="1417320"/>
            <a:ext cx="7517426" cy="5074920"/>
          </a:xfrm>
          <a:prstGeom prst="roundRect">
            <a:avLst>
              <a:gd name="adj" fmla="val 1500"/>
            </a:avLst>
          </a:prstGeom>
          <a:effectLst>
            <a:outerShdw blurRad="140000" dist="38000" dir="5400000" rotWithShape="0">
              <a:srgbClr val="16233A">
                <a:alpha val="22000"/>
              </a:srgbClr>
            </a:outerShdw>
          </a:effectLst>
        </p:spPr>
      </p:pic>
      <p:sp>
        <p:nvSpPr>
          <p:cNvPr id="7" name="TextBox 6"/>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07</a:t>
            </a:r>
          </a:p>
        </p:txBody>
      </p:sp>
      <p:sp>
        <p:nvSpPr>
          <p:cNvPr id="8" name="Rectangle 7"/>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38448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BASE DE DONNEES</a:t>
            </a:r>
          </a:p>
        </p:txBody>
      </p:sp>
      <p:sp>
        <p:nvSpPr>
          <p:cNvPr id="5" name="TextBox 4"/>
          <p:cNvSpPr txBox="1"/>
          <p:nvPr/>
        </p:nvSpPr>
        <p:spPr>
          <a:xfrm>
            <a:off x="822960" y="914400"/>
            <a:ext cx="9601200" cy="548640"/>
          </a:xfrm>
          <a:prstGeom prst="rect">
            <a:avLst/>
          </a:prstGeom>
          <a:noFill/>
        </p:spPr>
        <p:txBody>
          <a:bodyPr wrap="square" anchor="t" lIns="0" rIns="0" tIns="0" bIns="0">
            <a:noAutofit/>
          </a:bodyPr>
          <a:lstStyle/>
          <a:p>
            <a:pPr algn="l">
              <a:lnSpc>
                <a:spcPct val="100000"/>
              </a:lnSpc>
            </a:pPr>
            <a:r>
              <a:rPr sz="2500" b="1" i="0">
                <a:solidFill>
                  <a:srgbClr val="16233A"/>
                </a:solidFill>
                <a:latin typeface="Sora"/>
              </a:rPr>
              <a:t>Dictionnaire de donnees — les 17 tables</a:t>
            </a:r>
          </a:p>
        </p:txBody>
      </p:sp>
      <p:sp>
        <p:nvSpPr>
          <p:cNvPr id="6" name="TextBox 5"/>
          <p:cNvSpPr txBox="1"/>
          <p:nvPr/>
        </p:nvSpPr>
        <p:spPr>
          <a:xfrm>
            <a:off x="822960" y="1600200"/>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utilisateurs</a:t>
            </a:r>
          </a:p>
        </p:txBody>
      </p:sp>
      <p:sp>
        <p:nvSpPr>
          <p:cNvPr id="7" name="TextBox 6"/>
          <p:cNvSpPr txBox="1"/>
          <p:nvPr/>
        </p:nvSpPr>
        <p:spPr>
          <a:xfrm>
            <a:off x="822960" y="1847088"/>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Compte de connexion commun : email, mot de passe hache (bcrypt), role, statut actif/bloque.</a:t>
            </a:r>
          </a:p>
        </p:txBody>
      </p:sp>
      <p:sp>
        <p:nvSpPr>
          <p:cNvPr id="8" name="TextBox 7"/>
          <p:cNvSpPr txBox="1"/>
          <p:nvPr/>
        </p:nvSpPr>
        <p:spPr>
          <a:xfrm>
            <a:off x="822960" y="2167128"/>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candidats</a:t>
            </a:r>
          </a:p>
        </p:txBody>
      </p:sp>
      <p:sp>
        <p:nvSpPr>
          <p:cNvPr id="9" name="TextBox 8"/>
          <p:cNvSpPr txBox="1"/>
          <p:nvPr/>
        </p:nvSpPr>
        <p:spPr>
          <a:xfrm>
            <a:off x="822960" y="2414016"/>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Profil candidat : identite, ville, bio, CV, photo, video de presentation.</a:t>
            </a:r>
          </a:p>
        </p:txBody>
      </p:sp>
      <p:sp>
        <p:nvSpPr>
          <p:cNvPr id="10" name="TextBox 9"/>
          <p:cNvSpPr txBox="1"/>
          <p:nvPr/>
        </p:nvSpPr>
        <p:spPr>
          <a:xfrm>
            <a:off x="822960" y="2734056"/>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entreprises</a:t>
            </a:r>
          </a:p>
        </p:txBody>
      </p:sp>
      <p:sp>
        <p:nvSpPr>
          <p:cNvPr id="11" name="TextBox 10"/>
          <p:cNvSpPr txBox="1"/>
          <p:nvPr/>
        </p:nvSpPr>
        <p:spPr>
          <a:xfrm>
            <a:off x="822960" y="2980944"/>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Profil entreprise : nom, secteur, description, logo, plan free/premium, badge verifiee.</a:t>
            </a:r>
          </a:p>
        </p:txBody>
      </p:sp>
      <p:sp>
        <p:nvSpPr>
          <p:cNvPr id="12" name="TextBox 11"/>
          <p:cNvSpPr txBox="1"/>
          <p:nvPr/>
        </p:nvSpPr>
        <p:spPr>
          <a:xfrm>
            <a:off x="822960" y="3300984"/>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entreprise_photos</a:t>
            </a:r>
          </a:p>
        </p:txBody>
      </p:sp>
      <p:sp>
        <p:nvSpPr>
          <p:cNvPr id="13" name="TextBox 12"/>
          <p:cNvSpPr txBox="1"/>
          <p:nvPr/>
        </p:nvSpPr>
        <p:spPr>
          <a:xfrm>
            <a:off x="822960" y="3547872"/>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Galerie photo d'une entreprise (table de jointure).</a:t>
            </a:r>
          </a:p>
        </p:txBody>
      </p:sp>
      <p:sp>
        <p:nvSpPr>
          <p:cNvPr id="14" name="TextBox 13"/>
          <p:cNvSpPr txBox="1"/>
          <p:nvPr/>
        </p:nvSpPr>
        <p:spPr>
          <a:xfrm>
            <a:off x="822960" y="3867912"/>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categories</a:t>
            </a:r>
          </a:p>
        </p:txBody>
      </p:sp>
      <p:sp>
        <p:nvSpPr>
          <p:cNvPr id="15" name="TextBox 14"/>
          <p:cNvSpPr txBox="1"/>
          <p:nvPr/>
        </p:nvSpPr>
        <p:spPr>
          <a:xfrm>
            <a:off x="822960" y="4114800"/>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Liste de reference des categories de postes.</a:t>
            </a:r>
          </a:p>
        </p:txBody>
      </p:sp>
      <p:sp>
        <p:nvSpPr>
          <p:cNvPr id="16" name="TextBox 15"/>
          <p:cNvSpPr txBox="1"/>
          <p:nvPr/>
        </p:nvSpPr>
        <p:spPr>
          <a:xfrm>
            <a:off x="822960" y="4434840"/>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competences</a:t>
            </a:r>
          </a:p>
        </p:txBody>
      </p:sp>
      <p:sp>
        <p:nvSpPr>
          <p:cNvPr id="17" name="TextBox 16"/>
          <p:cNvSpPr txBox="1"/>
          <p:nvPr/>
        </p:nvSpPr>
        <p:spPr>
          <a:xfrm>
            <a:off x="822960" y="4681728"/>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Liste de reference des competences techniques et soft-skills.</a:t>
            </a:r>
          </a:p>
        </p:txBody>
      </p:sp>
      <p:sp>
        <p:nvSpPr>
          <p:cNvPr id="18" name="TextBox 17"/>
          <p:cNvSpPr txBox="1"/>
          <p:nvPr/>
        </p:nvSpPr>
        <p:spPr>
          <a:xfrm>
            <a:off x="822960" y="5001768"/>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candidat_competences</a:t>
            </a:r>
          </a:p>
        </p:txBody>
      </p:sp>
      <p:sp>
        <p:nvSpPr>
          <p:cNvPr id="19" name="TextBox 18"/>
          <p:cNvSpPr txBox="1"/>
          <p:nvPr/>
        </p:nvSpPr>
        <p:spPr>
          <a:xfrm>
            <a:off x="822960" y="5248656"/>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Jointure candidat &lt;-&gt; competence, avec l'indicateur verifiee (badge quiz).</a:t>
            </a:r>
          </a:p>
        </p:txBody>
      </p:sp>
      <p:sp>
        <p:nvSpPr>
          <p:cNvPr id="20" name="TextBox 19"/>
          <p:cNvSpPr txBox="1"/>
          <p:nvPr/>
        </p:nvSpPr>
        <p:spPr>
          <a:xfrm>
            <a:off x="822960" y="5568696"/>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offres</a:t>
            </a:r>
          </a:p>
        </p:txBody>
      </p:sp>
      <p:sp>
        <p:nvSpPr>
          <p:cNvPr id="21" name="TextBox 20"/>
          <p:cNvSpPr txBox="1"/>
          <p:nvPr/>
        </p:nvSpPr>
        <p:spPr>
          <a:xfrm>
            <a:off x="822960" y="5815584"/>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Une offre d'emploi : titre, contrat, ville, salaire, statut de moderation, vues.</a:t>
            </a:r>
          </a:p>
        </p:txBody>
      </p:sp>
      <p:sp>
        <p:nvSpPr>
          <p:cNvPr id="22" name="TextBox 21"/>
          <p:cNvSpPr txBox="1"/>
          <p:nvPr/>
        </p:nvSpPr>
        <p:spPr>
          <a:xfrm>
            <a:off x="822960" y="6135624"/>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offre_competences</a:t>
            </a:r>
          </a:p>
        </p:txBody>
      </p:sp>
      <p:sp>
        <p:nvSpPr>
          <p:cNvPr id="23" name="TextBox 22"/>
          <p:cNvSpPr txBox="1"/>
          <p:nvPr/>
        </p:nvSpPr>
        <p:spPr>
          <a:xfrm>
            <a:off x="822960" y="6382512"/>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Jointure offre &lt;-&gt; competences recherchees.</a:t>
            </a:r>
          </a:p>
        </p:txBody>
      </p:sp>
      <p:sp>
        <p:nvSpPr>
          <p:cNvPr id="24" name="TextBox 23"/>
          <p:cNvSpPr txBox="1"/>
          <p:nvPr/>
        </p:nvSpPr>
        <p:spPr>
          <a:xfrm>
            <a:off x="6263640" y="1600200"/>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candidatures</a:t>
            </a:r>
          </a:p>
        </p:txBody>
      </p:sp>
      <p:sp>
        <p:nvSpPr>
          <p:cNvPr id="25" name="TextBox 24"/>
          <p:cNvSpPr txBox="1"/>
          <p:nvPr/>
        </p:nvSpPr>
        <p:spPr>
          <a:xfrm>
            <a:off x="6263640" y="1847088"/>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Une candidature : lettre, CV, statut dans le pipeline de recrutement.</a:t>
            </a:r>
          </a:p>
        </p:txBody>
      </p:sp>
      <p:sp>
        <p:nvSpPr>
          <p:cNvPr id="26" name="TextBox 25"/>
          <p:cNvSpPr txBox="1"/>
          <p:nvPr/>
        </p:nvSpPr>
        <p:spPr>
          <a:xfrm>
            <a:off x="6263640" y="2167128"/>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entretiens</a:t>
            </a:r>
          </a:p>
        </p:txBody>
      </p:sp>
      <p:sp>
        <p:nvSpPr>
          <p:cNvPr id="27" name="TextBox 26"/>
          <p:cNvSpPr txBox="1"/>
          <p:nvPr/>
        </p:nvSpPr>
        <p:spPr>
          <a:xfrm>
            <a:off x="6263640" y="2414016"/>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Entretien propose pour une candidature : mode, lieu/lien, statut, creneau retenu.</a:t>
            </a:r>
          </a:p>
        </p:txBody>
      </p:sp>
      <p:sp>
        <p:nvSpPr>
          <p:cNvPr id="28" name="TextBox 27"/>
          <p:cNvSpPr txBox="1"/>
          <p:nvPr/>
        </p:nvSpPr>
        <p:spPr>
          <a:xfrm>
            <a:off x="6263640" y="2734056"/>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creneaux_entretien</a:t>
            </a:r>
          </a:p>
        </p:txBody>
      </p:sp>
      <p:sp>
        <p:nvSpPr>
          <p:cNvPr id="29" name="TextBox 28"/>
          <p:cNvSpPr txBox="1"/>
          <p:nvPr/>
        </p:nvSpPr>
        <p:spPr>
          <a:xfrm>
            <a:off x="6263640" y="2980944"/>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Creneaux horaires proposes pour un entretien.</a:t>
            </a:r>
          </a:p>
        </p:txBody>
      </p:sp>
      <p:sp>
        <p:nvSpPr>
          <p:cNvPr id="30" name="TextBox 29"/>
          <p:cNvSpPr txBox="1"/>
          <p:nvPr/>
        </p:nvSpPr>
        <p:spPr>
          <a:xfrm>
            <a:off x="6263640" y="3300984"/>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messages</a:t>
            </a:r>
          </a:p>
        </p:txBody>
      </p:sp>
      <p:sp>
        <p:nvSpPr>
          <p:cNvPr id="31" name="TextBox 30"/>
          <p:cNvSpPr txBox="1"/>
          <p:nvPr/>
        </p:nvSpPr>
        <p:spPr>
          <a:xfrm>
            <a:off x="6263640" y="3547872"/>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Messages echanges entre candidat et recruteur, par candidature.</a:t>
            </a:r>
          </a:p>
        </p:txBody>
      </p:sp>
      <p:sp>
        <p:nvSpPr>
          <p:cNvPr id="32" name="TextBox 31"/>
          <p:cNvSpPr txBox="1"/>
          <p:nvPr/>
        </p:nvSpPr>
        <p:spPr>
          <a:xfrm>
            <a:off x="6263640" y="3867912"/>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favoris</a:t>
            </a:r>
          </a:p>
        </p:txBody>
      </p:sp>
      <p:sp>
        <p:nvSpPr>
          <p:cNvPr id="33" name="TextBox 32"/>
          <p:cNvSpPr txBox="1"/>
          <p:nvPr/>
        </p:nvSpPr>
        <p:spPr>
          <a:xfrm>
            <a:off x="6263640" y="4114800"/>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Offres ajoutees en favori par un candidat.</a:t>
            </a:r>
          </a:p>
        </p:txBody>
      </p:sp>
      <p:sp>
        <p:nvSpPr>
          <p:cNvPr id="34" name="TextBox 33"/>
          <p:cNvSpPr txBox="1"/>
          <p:nvPr/>
        </p:nvSpPr>
        <p:spPr>
          <a:xfrm>
            <a:off x="6263640" y="4434840"/>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paiements</a:t>
            </a:r>
          </a:p>
        </p:txBody>
      </p:sp>
      <p:sp>
        <p:nvSpPr>
          <p:cNvPr id="35" name="TextBox 34"/>
          <p:cNvSpPr txBox="1"/>
          <p:nvPr/>
        </p:nvSpPr>
        <p:spPr>
          <a:xfrm>
            <a:off x="6263640" y="4681728"/>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Historique des paiements (passage au plan Premium).</a:t>
            </a:r>
          </a:p>
        </p:txBody>
      </p:sp>
      <p:sp>
        <p:nvSpPr>
          <p:cNvPr id="36" name="TextBox 35"/>
          <p:cNvSpPr txBox="1"/>
          <p:nvPr/>
        </p:nvSpPr>
        <p:spPr>
          <a:xfrm>
            <a:off x="6263640" y="5001768"/>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avis</a:t>
            </a:r>
          </a:p>
        </p:txBody>
      </p:sp>
      <p:sp>
        <p:nvSpPr>
          <p:cNvPr id="37" name="TextBox 36"/>
          <p:cNvSpPr txBox="1"/>
          <p:nvPr/>
        </p:nvSpPr>
        <p:spPr>
          <a:xfrm>
            <a:off x="6263640" y="5248656"/>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Avis d'un candidat sur une entreprise, avec notes multiples et moderation.</a:t>
            </a:r>
          </a:p>
        </p:txBody>
      </p:sp>
      <p:sp>
        <p:nvSpPr>
          <p:cNvPr id="38" name="TextBox 37"/>
          <p:cNvSpPr txBox="1"/>
          <p:nvPr/>
        </p:nvSpPr>
        <p:spPr>
          <a:xfrm>
            <a:off x="6263640" y="5568696"/>
            <a:ext cx="5120640" cy="237744"/>
          </a:xfrm>
          <a:prstGeom prst="rect">
            <a:avLst/>
          </a:prstGeom>
          <a:noFill/>
        </p:spPr>
        <p:txBody>
          <a:bodyPr wrap="square" anchor="t" lIns="0" rIns="0" tIns="0" bIns="0">
            <a:noAutofit/>
          </a:bodyPr>
          <a:lstStyle/>
          <a:p>
            <a:pPr algn="l">
              <a:lnSpc>
                <a:spcPct val="100000"/>
              </a:lnSpc>
            </a:pPr>
            <a:r>
              <a:rPr sz="1150" b="1" i="0">
                <a:solidFill>
                  <a:srgbClr val="6D59E0"/>
                </a:solidFill>
                <a:latin typeface="Consolas"/>
              </a:rPr>
              <a:t>alertes</a:t>
            </a:r>
          </a:p>
        </p:txBody>
      </p:sp>
      <p:sp>
        <p:nvSpPr>
          <p:cNvPr id="39" name="TextBox 38"/>
          <p:cNvSpPr txBox="1"/>
          <p:nvPr/>
        </p:nvSpPr>
        <p:spPr>
          <a:xfrm>
            <a:off x="6263640" y="5815584"/>
            <a:ext cx="5120640" cy="384048"/>
          </a:xfrm>
          <a:prstGeom prst="rect">
            <a:avLst/>
          </a:prstGeom>
          <a:noFill/>
        </p:spPr>
        <p:txBody>
          <a:bodyPr wrap="square" anchor="t" lIns="0" rIns="0" tIns="0" bIns="0">
            <a:noAutofit/>
          </a:bodyPr>
          <a:lstStyle/>
          <a:p>
            <a:pPr algn="l">
              <a:lnSpc>
                <a:spcPct val="115000"/>
              </a:lnSpc>
            </a:pPr>
            <a:r>
              <a:rPr sz="960" b="0" i="0">
                <a:solidFill>
                  <a:srgbClr val="44506A"/>
                </a:solidFill>
                <a:latin typeface="Inter"/>
              </a:rPr>
              <a:t>Alertes emploi personnalisees creees par un candidat.</a:t>
            </a:r>
          </a:p>
        </p:txBody>
      </p:sp>
      <p:sp>
        <p:nvSpPr>
          <p:cNvPr id="40" name="TextBox 39"/>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08</a:t>
            </a:r>
          </a:p>
        </p:txBody>
      </p:sp>
      <p:sp>
        <p:nvSpPr>
          <p:cNvPr id="41" name="Rectangle 40"/>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48640"/>
            <a:ext cx="138448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BASE DE DONNEES</a:t>
            </a:r>
          </a:p>
        </p:txBody>
      </p:sp>
      <p:sp>
        <p:nvSpPr>
          <p:cNvPr id="5" name="TextBox 4"/>
          <p:cNvSpPr txBox="1"/>
          <p:nvPr/>
        </p:nvSpPr>
        <p:spPr>
          <a:xfrm>
            <a:off x="822960" y="1005840"/>
            <a:ext cx="9875520" cy="594360"/>
          </a:xfrm>
          <a:prstGeom prst="rect">
            <a:avLst/>
          </a:prstGeom>
          <a:noFill/>
        </p:spPr>
        <p:txBody>
          <a:bodyPr wrap="square" anchor="t" lIns="0" rIns="0" tIns="0" bIns="0">
            <a:noAutofit/>
          </a:bodyPr>
          <a:lstStyle/>
          <a:p>
            <a:pPr algn="l">
              <a:lnSpc>
                <a:spcPct val="100000"/>
              </a:lnSpc>
            </a:pPr>
            <a:r>
              <a:rPr sz="2400" b="1" i="0">
                <a:solidFill>
                  <a:srgbClr val="16233A"/>
                </a:solidFill>
                <a:latin typeface="Sora"/>
              </a:rPr>
              <a:t>Des relations qui refletent la vraie logique metier</a:t>
            </a:r>
          </a:p>
        </p:txBody>
      </p:sp>
      <p:sp>
        <p:nvSpPr>
          <p:cNvPr id="6" name="TextBox 5"/>
          <p:cNvSpPr txBox="1"/>
          <p:nvPr/>
        </p:nvSpPr>
        <p:spPr>
          <a:xfrm>
            <a:off x="822960" y="1691640"/>
            <a:ext cx="10332720" cy="1051560"/>
          </a:xfrm>
          <a:prstGeom prst="rect">
            <a:avLst/>
          </a:prstGeom>
          <a:noFill/>
        </p:spPr>
        <p:txBody>
          <a:bodyPr wrap="square" anchor="t" lIns="0" rIns="0" tIns="0" bIns="0">
            <a:noAutofit/>
          </a:bodyPr>
          <a:lstStyle/>
          <a:p>
            <a:pPr algn="l">
              <a:lnSpc>
                <a:spcPct val="140000"/>
              </a:lnSpc>
            </a:pPr>
            <a:r>
              <a:rPr sz="1250" b="0" i="0">
                <a:solidFill>
                  <a:srgbClr val="44506A"/>
                </a:solidFill>
                <a:latin typeface="Inter"/>
              </a:rPr>
              <a:t>Chaque relation est protegee par une cle etrangere — mais la regle de suppression associee est choisie au cas par cas, pour refleter ce qui doit logiquement se passer, plutot qu'appliquee par defaut partout de la meme facon.</a:t>
            </a:r>
          </a:p>
        </p:txBody>
      </p:sp>
      <p:sp>
        <p:nvSpPr>
          <p:cNvPr id="7" name="Rounded Rectangle 6"/>
          <p:cNvSpPr/>
          <p:nvPr/>
        </p:nvSpPr>
        <p:spPr>
          <a:xfrm>
            <a:off x="822960" y="2926080"/>
            <a:ext cx="3429000" cy="2103120"/>
          </a:xfrm>
          <a:prstGeom prst="roundRect">
            <a:avLst>
              <a:gd name="adj" fmla="val 8000"/>
            </a:avLst>
          </a:prstGeom>
          <a:solidFill>
            <a:srgbClr val="FFFFFF"/>
          </a:solidFill>
          <a:ln w="12700">
            <a:solidFill>
              <a:srgbClr val="0E8F6B">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182112"/>
            <a:ext cx="2880360" cy="457200"/>
          </a:xfrm>
          <a:prstGeom prst="rect">
            <a:avLst/>
          </a:prstGeom>
          <a:noFill/>
        </p:spPr>
        <p:txBody>
          <a:bodyPr wrap="square" anchor="t" lIns="0" rIns="0" tIns="0" bIns="0">
            <a:noAutofit/>
          </a:bodyPr>
          <a:lstStyle/>
          <a:p>
            <a:pPr algn="l">
              <a:lnSpc>
                <a:spcPct val="100000"/>
              </a:lnSpc>
            </a:pPr>
            <a:r>
              <a:rPr sz="1300" b="1" i="0">
                <a:solidFill>
                  <a:srgbClr val="0E8F6B"/>
                </a:solidFill>
                <a:latin typeface="Consolas"/>
              </a:rPr>
              <a:t>ON DELETE CASCADE</a:t>
            </a:r>
          </a:p>
        </p:txBody>
      </p:sp>
      <p:sp>
        <p:nvSpPr>
          <p:cNvPr id="9" name="TextBox 8"/>
          <p:cNvSpPr txBox="1"/>
          <p:nvPr/>
        </p:nvSpPr>
        <p:spPr>
          <a:xfrm>
            <a:off x="1097280" y="3703320"/>
            <a:ext cx="2880360" cy="1188720"/>
          </a:xfrm>
          <a:prstGeom prst="rect">
            <a:avLst/>
          </a:prstGeom>
          <a:noFill/>
        </p:spPr>
        <p:txBody>
          <a:bodyPr wrap="square" anchor="t" lIns="0" rIns="0" tIns="0" bIns="0">
            <a:noAutofit/>
          </a:bodyPr>
          <a:lstStyle/>
          <a:p>
            <a:pPr algn="l">
              <a:lnSpc>
                <a:spcPct val="130000"/>
              </a:lnSpc>
            </a:pPr>
            <a:r>
              <a:rPr sz="1080" b="0" i="0">
                <a:solidFill>
                  <a:srgbClr val="44506A"/>
                </a:solidFill>
                <a:latin typeface="Inter"/>
              </a:rPr>
              <a:t>Supprimer une offre supprime automatiquement ses candidatures — une candidature n'a pas de sens sans l'offre a laquelle elle se rapporte.</a:t>
            </a:r>
          </a:p>
        </p:txBody>
      </p:sp>
      <p:sp>
        <p:nvSpPr>
          <p:cNvPr id="10" name="Rounded Rectangle 9"/>
          <p:cNvSpPr/>
          <p:nvPr/>
        </p:nvSpPr>
        <p:spPr>
          <a:xfrm>
            <a:off x="4572000" y="2926080"/>
            <a:ext cx="3429000" cy="2103120"/>
          </a:xfrm>
          <a:prstGeom prst="roundRect">
            <a:avLst>
              <a:gd name="adj" fmla="val 8000"/>
            </a:avLst>
          </a:prstGeom>
          <a:solidFill>
            <a:srgbClr val="FFFFFF"/>
          </a:solidFill>
          <a:ln w="12700">
            <a:solidFill>
              <a:srgbClr val="2F6FE0">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3182112"/>
            <a:ext cx="2880360" cy="457200"/>
          </a:xfrm>
          <a:prstGeom prst="rect">
            <a:avLst/>
          </a:prstGeom>
          <a:noFill/>
        </p:spPr>
        <p:txBody>
          <a:bodyPr wrap="square" anchor="t" lIns="0" rIns="0" tIns="0" bIns="0">
            <a:noAutofit/>
          </a:bodyPr>
          <a:lstStyle/>
          <a:p>
            <a:pPr algn="l">
              <a:lnSpc>
                <a:spcPct val="100000"/>
              </a:lnSpc>
            </a:pPr>
            <a:r>
              <a:rPr sz="1300" b="1" i="0">
                <a:solidFill>
                  <a:srgbClr val="2F6FE0"/>
                </a:solidFill>
                <a:latin typeface="Consolas"/>
              </a:rPr>
              <a:t>ON DELETE SET NULL</a:t>
            </a:r>
          </a:p>
        </p:txBody>
      </p:sp>
      <p:sp>
        <p:nvSpPr>
          <p:cNvPr id="12" name="TextBox 11"/>
          <p:cNvSpPr txBox="1"/>
          <p:nvPr/>
        </p:nvSpPr>
        <p:spPr>
          <a:xfrm>
            <a:off x="4846320" y="3703320"/>
            <a:ext cx="2880360" cy="1188720"/>
          </a:xfrm>
          <a:prstGeom prst="rect">
            <a:avLst/>
          </a:prstGeom>
          <a:noFill/>
        </p:spPr>
        <p:txBody>
          <a:bodyPr wrap="square" anchor="t" lIns="0" rIns="0" tIns="0" bIns="0">
            <a:noAutofit/>
          </a:bodyPr>
          <a:lstStyle/>
          <a:p>
            <a:pPr algn="l">
              <a:lnSpc>
                <a:spcPct val="130000"/>
              </a:lnSpc>
            </a:pPr>
            <a:r>
              <a:rPr sz="1080" b="0" i="0">
                <a:solidFill>
                  <a:srgbClr val="44506A"/>
                </a:solidFill>
                <a:latin typeface="Inter"/>
              </a:rPr>
              <a:t>Supprimer une categorie ne supprime pas les offres liees : leur categorie passe simplement a NULL, l'offre reste intacte.</a:t>
            </a:r>
          </a:p>
        </p:txBody>
      </p:sp>
      <p:sp>
        <p:nvSpPr>
          <p:cNvPr id="13" name="Rounded Rectangle 12"/>
          <p:cNvSpPr/>
          <p:nvPr/>
        </p:nvSpPr>
        <p:spPr>
          <a:xfrm>
            <a:off x="8321040" y="2926080"/>
            <a:ext cx="3429000" cy="2103120"/>
          </a:xfrm>
          <a:prstGeom prst="roundRect">
            <a:avLst>
              <a:gd name="adj" fmla="val 8000"/>
            </a:avLst>
          </a:prstGeom>
          <a:solidFill>
            <a:srgbClr val="FFFFFF"/>
          </a:solidFill>
          <a:ln w="12700">
            <a:solidFill>
              <a:srgbClr val="C9721E">
                <a:alpha val="45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3182112"/>
            <a:ext cx="2880360" cy="457200"/>
          </a:xfrm>
          <a:prstGeom prst="rect">
            <a:avLst/>
          </a:prstGeom>
          <a:noFill/>
        </p:spPr>
        <p:txBody>
          <a:bodyPr wrap="square" anchor="t" lIns="0" rIns="0" tIns="0" bIns="0">
            <a:noAutofit/>
          </a:bodyPr>
          <a:lstStyle/>
          <a:p>
            <a:pPr algn="l">
              <a:lnSpc>
                <a:spcPct val="100000"/>
              </a:lnSpc>
            </a:pPr>
            <a:r>
              <a:rPr sz="1300" b="1" i="0">
                <a:solidFill>
                  <a:srgbClr val="C9721E"/>
                </a:solidFill>
                <a:latin typeface="Consolas"/>
              </a:rPr>
              <a:t>Cle etrangere circulaire</a:t>
            </a:r>
          </a:p>
        </p:txBody>
      </p:sp>
      <p:sp>
        <p:nvSpPr>
          <p:cNvPr id="15" name="TextBox 14"/>
          <p:cNvSpPr txBox="1"/>
          <p:nvPr/>
        </p:nvSpPr>
        <p:spPr>
          <a:xfrm>
            <a:off x="8595360" y="3703320"/>
            <a:ext cx="2880360" cy="1188720"/>
          </a:xfrm>
          <a:prstGeom prst="rect">
            <a:avLst/>
          </a:prstGeom>
          <a:noFill/>
        </p:spPr>
        <p:txBody>
          <a:bodyPr wrap="square" anchor="t" lIns="0" rIns="0" tIns="0" bIns="0">
            <a:noAutofit/>
          </a:bodyPr>
          <a:lstStyle/>
          <a:p>
            <a:pPr algn="l">
              <a:lnSpc>
                <a:spcPct val="130000"/>
              </a:lnSpc>
            </a:pPr>
            <a:r>
              <a:rPr sz="1080" b="0" i="0">
                <a:solidFill>
                  <a:srgbClr val="44506A"/>
                </a:solidFill>
                <a:latin typeface="Inter"/>
              </a:rPr>
              <a:t>entretiens &lt;-&gt; creneaux_entretien : un entretien propose plusieurs creneaux, puis retient l'un d'eux. Resolue via un ALTER TABLE apres coup.</a:t>
            </a:r>
          </a:p>
        </p:txBody>
      </p:sp>
      <p:sp>
        <p:nvSpPr>
          <p:cNvPr id="16" name="TextBox 15"/>
          <p:cNvSpPr txBox="1"/>
          <p:nvPr/>
        </p:nvSpPr>
        <p:spPr>
          <a:xfrm>
            <a:off x="822960" y="5349240"/>
            <a:ext cx="10332720" cy="822960"/>
          </a:xfrm>
          <a:prstGeom prst="rect">
            <a:avLst/>
          </a:prstGeom>
          <a:noFill/>
        </p:spPr>
        <p:txBody>
          <a:bodyPr wrap="square" anchor="t" lIns="0" rIns="0" tIns="0" bIns="0">
            <a:noAutofit/>
          </a:bodyPr>
          <a:lstStyle/>
          <a:p>
            <a:pPr algn="l">
              <a:lnSpc>
                <a:spcPct val="135000"/>
              </a:lnSpc>
            </a:pPr>
            <a:r>
              <a:rPr sz="1150" b="0" i="1">
                <a:solidFill>
                  <a:srgbClr val="44506A"/>
                </a:solidFill>
                <a:latin typeface="Inter"/>
              </a:rPr>
              <a:t>Resultat : supprimer une candidature nettoie automatiquement son entretien et ses messages sans une seule ligne de code PHP dediee — c'est la base de donnees elle-meme qui garantit l'integrite, pas la logique applicative.</a:t>
            </a:r>
          </a:p>
        </p:txBody>
      </p:sp>
      <p:sp>
        <p:nvSpPr>
          <p:cNvPr id="17" name="TextBox 16"/>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09</a:t>
            </a:r>
          </a:p>
        </p:txBody>
      </p:sp>
      <p:sp>
        <p:nvSpPr>
          <p:cNvPr id="18" name="Rectangle 17"/>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7269480" y="2148840"/>
            <a:ext cx="7772400" cy="7772400"/>
          </a:xfrm>
          <a:prstGeom prst="ellipse">
            <a:avLst/>
          </a:prstGeom>
          <a:solidFill>
            <a:srgbClr val="2F6FE0">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3657600" cy="3657600"/>
          </a:xfrm>
          <a:prstGeom prst="ellipse">
            <a:avLst/>
          </a:prstGeom>
          <a:solidFill>
            <a:srgbClr val="2F6FE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0" y="-1234440"/>
            <a:ext cx="7772400" cy="8686800"/>
          </a:xfrm>
          <a:prstGeom prst="rect">
            <a:avLst/>
          </a:prstGeom>
          <a:noFill/>
        </p:spPr>
        <p:txBody>
          <a:bodyPr wrap="none" anchor="t" lIns="0" rIns="0" tIns="0" bIns="0">
            <a:noAutofit/>
          </a:bodyPr>
          <a:lstStyle/>
          <a:p>
            <a:pPr algn="l">
              <a:lnSpc>
                <a:spcPct val="100000"/>
              </a:lnSpc>
            </a:pPr>
            <a:r>
              <a:rPr sz="46000" b="1" i="0">
                <a:solidFill>
                  <a:srgbClr val="2F6FE0">
                    <a:alpha val="9000"/>
                  </a:srgbClr>
                </a:solidFill>
                <a:latin typeface="Sora"/>
              </a:rPr>
              <a:t>I</a:t>
            </a:r>
          </a:p>
        </p:txBody>
      </p:sp>
      <p:sp>
        <p:nvSpPr>
          <p:cNvPr id="5" name="Rounded Rectangle 4"/>
          <p:cNvSpPr/>
          <p:nvPr/>
        </p:nvSpPr>
        <p:spPr>
          <a:xfrm>
            <a:off x="868680" y="2148840"/>
            <a:ext cx="1169766"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2F6FE0"/>
                </a:solidFill>
                <a:latin typeface="Inter"/>
              </a:rPr>
              <a:t>PARTIE 2 / 6</a:t>
            </a:r>
          </a:p>
        </p:txBody>
      </p:sp>
      <p:sp>
        <p:nvSpPr>
          <p:cNvPr id="6" name="TextBox 5"/>
          <p:cNvSpPr txBox="1"/>
          <p:nvPr/>
        </p:nvSpPr>
        <p:spPr>
          <a:xfrm>
            <a:off x="822960" y="2606040"/>
            <a:ext cx="7955279" cy="1005840"/>
          </a:xfrm>
          <a:prstGeom prst="rect">
            <a:avLst/>
          </a:prstGeom>
          <a:noFill/>
        </p:spPr>
        <p:txBody>
          <a:bodyPr wrap="square" anchor="t" lIns="0" rIns="0" tIns="0" bIns="0">
            <a:noAutofit/>
          </a:bodyPr>
          <a:lstStyle/>
          <a:p>
            <a:pPr algn="l">
              <a:lnSpc>
                <a:spcPct val="100000"/>
              </a:lnSpc>
            </a:pPr>
            <a:r>
              <a:rPr sz="4400" b="1" i="0">
                <a:solidFill>
                  <a:srgbClr val="16233A"/>
                </a:solidFill>
                <a:latin typeface="Sora"/>
              </a:rPr>
              <a:t>Decouverte publique</a:t>
            </a:r>
          </a:p>
        </p:txBody>
      </p:sp>
      <p:sp>
        <p:nvSpPr>
          <p:cNvPr id="7" name="Rectangle 6"/>
          <p:cNvSpPr/>
          <p:nvPr/>
        </p:nvSpPr>
        <p:spPr>
          <a:xfrm>
            <a:off x="868680" y="3474720"/>
            <a:ext cx="1188720" cy="3810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6949440" cy="914400"/>
          </a:xfrm>
          <a:prstGeom prst="rect">
            <a:avLst/>
          </a:prstGeom>
          <a:noFill/>
        </p:spPr>
        <p:txBody>
          <a:bodyPr wrap="square" anchor="t" lIns="0" rIns="0" tIns="0" bIns="0">
            <a:noAutofit/>
          </a:bodyPr>
          <a:lstStyle/>
          <a:p>
            <a:pPr algn="l">
              <a:lnSpc>
                <a:spcPct val="135000"/>
              </a:lnSpc>
            </a:pPr>
            <a:r>
              <a:rPr sz="1350" b="0" i="0">
                <a:solidFill>
                  <a:srgbClr val="44506A"/>
                </a:solidFill>
                <a:latin typeface="Inter"/>
              </a:rPr>
              <a:t>Tout ce qu'un visiteur peut faire sans compte : rechercher, comparer, s'informer — et etre convaincu de creer un compte.</a:t>
            </a:r>
          </a:p>
        </p:txBody>
      </p:sp>
      <p:sp>
        <p:nvSpPr>
          <p:cNvPr id="9" name="Rounded Rectangle 8"/>
          <p:cNvSpPr/>
          <p:nvPr/>
        </p:nvSpPr>
        <p:spPr>
          <a:xfrm>
            <a:off x="868680" y="4617720"/>
            <a:ext cx="835761"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Accueil</a:t>
            </a:r>
          </a:p>
        </p:txBody>
      </p:sp>
      <p:sp>
        <p:nvSpPr>
          <p:cNvPr id="10" name="Rounded Rectangle 9"/>
          <p:cNvSpPr/>
          <p:nvPr/>
        </p:nvSpPr>
        <p:spPr>
          <a:xfrm>
            <a:off x="1832457" y="4617720"/>
            <a:ext cx="760780"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Offres</a:t>
            </a:r>
          </a:p>
        </p:txBody>
      </p:sp>
      <p:sp>
        <p:nvSpPr>
          <p:cNvPr id="11" name="Rounded Rectangle 10"/>
          <p:cNvSpPr/>
          <p:nvPr/>
        </p:nvSpPr>
        <p:spPr>
          <a:xfrm>
            <a:off x="2721253" y="4617720"/>
            <a:ext cx="1060704"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Entreprise</a:t>
            </a:r>
          </a:p>
        </p:txBody>
      </p:sp>
      <p:sp>
        <p:nvSpPr>
          <p:cNvPr id="12" name="Rounded Rectangle 11"/>
          <p:cNvSpPr/>
          <p:nvPr/>
        </p:nvSpPr>
        <p:spPr>
          <a:xfrm>
            <a:off x="3909973" y="4617720"/>
            <a:ext cx="1060704"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Simulateur</a:t>
            </a:r>
          </a:p>
        </p:txBody>
      </p:sp>
      <p:sp>
        <p:nvSpPr>
          <p:cNvPr id="13" name="Rounded Rectangle 12"/>
          <p:cNvSpPr/>
          <p:nvPr/>
        </p:nvSpPr>
        <p:spPr>
          <a:xfrm>
            <a:off x="5098693" y="4617720"/>
            <a:ext cx="760780"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Tarifs</a:t>
            </a:r>
          </a:p>
        </p:txBody>
      </p:sp>
      <p:sp>
        <p:nvSpPr>
          <p:cNvPr id="14" name="Rounded Rectangle 13"/>
          <p:cNvSpPr/>
          <p:nvPr/>
        </p:nvSpPr>
        <p:spPr>
          <a:xfrm>
            <a:off x="5987489" y="4617720"/>
            <a:ext cx="985723"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2F6FE0"/>
                </a:solidFill>
                <a:latin typeface="Inter"/>
              </a:rPr>
              <a:t>Connexion</a:t>
            </a:r>
          </a:p>
        </p:txBody>
      </p:sp>
      <p:sp>
        <p:nvSpPr>
          <p:cNvPr id="15" name="TextBox 14"/>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10</a:t>
            </a:r>
          </a:p>
        </p:txBody>
      </p:sp>
      <p:sp>
        <p:nvSpPr>
          <p:cNvPr id="16" name="Rectangle 15"/>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L'accueil : convaincre en un ecran</a:t>
            </a:r>
          </a:p>
        </p:txBody>
      </p:sp>
      <p:sp>
        <p:nvSpPr>
          <p:cNvPr id="6" name="Rounded Rectangle 5"/>
          <p:cNvSpPr/>
          <p:nvPr/>
        </p:nvSpPr>
        <p:spPr>
          <a:xfrm>
            <a:off x="548640" y="2011680"/>
            <a:ext cx="1606018"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Recherche immediate</a:t>
            </a:r>
          </a:p>
        </p:txBody>
      </p:sp>
      <p:sp>
        <p:nvSpPr>
          <p:cNvPr id="7" name="Rounded Rectangle 6"/>
          <p:cNvSpPr/>
          <p:nvPr/>
        </p:nvSpPr>
        <p:spPr>
          <a:xfrm>
            <a:off x="2282674" y="2011680"/>
            <a:ext cx="1606018"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Offres sponsorisees</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La page d'accueil pose le ton des le premier ecran : fond sombre, typographie nette, orientee conversion. La recherche par mot-cle et par ville est placee avant tout le reste — pas de defilement necessaire pour lancer une recherche. Un indicateur du volume d'offres actives renforce immediatement la credibilite de la plateforme aupres d'un nouveau visiteur.</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Barre de recherche mot-cle + ville, visible sans scroller</a:t>
            </a:r>
          </a:p>
          <a:p>
            <a:pPr algn="l">
              <a:lnSpc>
                <a:spcPct val="116000"/>
              </a:lnSpc>
              <a:spcAft>
                <a:spcPts val="600"/>
              </a:spcAft>
            </a:pPr>
            <a:r>
              <a:rPr sz="1060" b="1">
                <a:solidFill>
                  <a:srgbClr val="2F6FE0"/>
                </a:solidFill>
                <a:latin typeface="Inter"/>
              </a:rPr>
              <a:t>–  </a:t>
            </a:r>
            <a:r>
              <a:rPr sz="1060">
                <a:solidFill>
                  <a:srgbClr val="44506A"/>
                </a:solidFill>
                <a:latin typeface="Inter"/>
              </a:rPr>
              <a:t>Compteur d'offres actives mis a jour en temps reel</a:t>
            </a:r>
          </a:p>
          <a:p>
            <a:pPr algn="l">
              <a:lnSpc>
                <a:spcPct val="116000"/>
              </a:lnSpc>
              <a:spcAft>
                <a:spcPts val="600"/>
              </a:spcAft>
            </a:pPr>
            <a:r>
              <a:rPr sz="1060" b="1">
                <a:solidFill>
                  <a:srgbClr val="2F6FE0"/>
                </a:solidFill>
                <a:latin typeface="Inter"/>
              </a:rPr>
              <a:t>–  </a:t>
            </a:r>
            <a:r>
              <a:rPr sz="1060">
                <a:solidFill>
                  <a:srgbClr val="44506A"/>
                </a:solidFill>
                <a:latin typeface="Inter"/>
              </a:rPr>
              <a:t>Redirection directe vers la page de resultats filtres</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_home_hero.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11</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L'accueil : les offres recentes</a:t>
            </a:r>
          </a:p>
        </p:txBody>
      </p:sp>
      <p:sp>
        <p:nvSpPr>
          <p:cNvPr id="6" name="Rounded Rectangle 5"/>
          <p:cNvSpPr/>
          <p:nvPr/>
        </p:nvSpPr>
        <p:spPr>
          <a:xfrm>
            <a:off x="548640" y="2011680"/>
            <a:ext cx="1197032"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Cartes riches</a:t>
            </a:r>
          </a:p>
        </p:txBody>
      </p:sp>
      <p:sp>
        <p:nvSpPr>
          <p:cNvPr id="7" name="Rounded Rectangle 6"/>
          <p:cNvSpPr/>
          <p:nvPr/>
        </p:nvSpPr>
        <p:spPr>
          <a:xfrm>
            <a:off x="1873688" y="2011680"/>
            <a:ext cx="1742347"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Mise en avant Premium</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Apres le premier ecran, la page enchaine sur les dernieres offres publiees, presentees sous forme de cartes qui exposent l'essentiel avant meme le clic : type de contrat, ville, teletravail, competences recherchees. Les offres d'entreprises au plan Premium sont visuellement mises en avant avec un badge « Sponsorise », creant une incitation naturelle pour les recruteurs a passer au plan payant.</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Cartes d'offre reutilisees dans toute la plateforme (composant partage)</a:t>
            </a:r>
          </a:p>
          <a:p>
            <a:pPr algn="l">
              <a:lnSpc>
                <a:spcPct val="116000"/>
              </a:lnSpc>
              <a:spcAft>
                <a:spcPts val="600"/>
              </a:spcAft>
            </a:pPr>
            <a:r>
              <a:rPr sz="1060" b="1">
                <a:solidFill>
                  <a:srgbClr val="2F6FE0"/>
                </a:solidFill>
                <a:latin typeface="Inter"/>
              </a:rPr>
              <a:t>–  </a:t>
            </a:r>
            <a:r>
              <a:rPr sz="1060">
                <a:solidFill>
                  <a:srgbClr val="44506A"/>
                </a:solidFill>
                <a:latin typeface="Inter"/>
              </a:rPr>
              <a:t>Badge « Sponsorise » pour les entreprises Premium</a:t>
            </a:r>
          </a:p>
          <a:p>
            <a:pPr algn="l">
              <a:lnSpc>
                <a:spcPct val="116000"/>
              </a:lnSpc>
              <a:spcAft>
                <a:spcPts val="600"/>
              </a:spcAft>
            </a:pPr>
            <a:r>
              <a:rPr sz="1060" b="1">
                <a:solidFill>
                  <a:srgbClr val="2F6FE0"/>
                </a:solidFill>
                <a:latin typeface="Inter"/>
              </a:rPr>
              <a:t>–  </a:t>
            </a:r>
            <a:r>
              <a:rPr sz="1060">
                <a:solidFill>
                  <a:srgbClr val="44506A"/>
                </a:solidFill>
                <a:latin typeface="Inter"/>
              </a:rPr>
              <a:t>Compteurs offres / entreprises / candidats en direct</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(apres defilement)</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1b_home_featured.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12</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Offres : filtrer sans se perdre</a:t>
            </a:r>
          </a:p>
        </p:txBody>
      </p:sp>
      <p:sp>
        <p:nvSpPr>
          <p:cNvPr id="6" name="Rounded Rectangle 5"/>
          <p:cNvSpPr/>
          <p:nvPr/>
        </p:nvSpPr>
        <p:spPr>
          <a:xfrm>
            <a:off x="548640" y="2011680"/>
            <a:ext cx="1333361"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Filtres avances</a:t>
            </a:r>
          </a:p>
        </p:txBody>
      </p:sp>
      <p:sp>
        <p:nvSpPr>
          <p:cNvPr id="7" name="Rounded Rectangle 6"/>
          <p:cNvSpPr/>
          <p:nvPr/>
        </p:nvSpPr>
        <p:spPr>
          <a:xfrm>
            <a:off x="2010017" y="2011680"/>
            <a:ext cx="1946840"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Recherche multi-criteres</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La page de recherche d'offres est concue pour un filtrage rapide et combinable : mot-cle, ville, categorie, competence, type de contrat, teletravail. Chaque changement de filtre re-affiche instantanement les resultats, sans rechargement de page — toute la logique de filtrage s'execute cote client sur les offres deja chargees. Le candidat peut egalement comparer jusqu'a trois offres cote a cote avant de se decider.</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Filtres combinables : mot-cle, ville, categorie, competence, contrat</a:t>
            </a:r>
          </a:p>
          <a:p>
            <a:pPr algn="l">
              <a:lnSpc>
                <a:spcPct val="116000"/>
              </a:lnSpc>
              <a:spcAft>
                <a:spcPts val="600"/>
              </a:spcAft>
            </a:pPr>
            <a:r>
              <a:rPr sz="1060" b="1">
                <a:solidFill>
                  <a:srgbClr val="2F6FE0"/>
                </a:solidFill>
                <a:latin typeface="Inter"/>
              </a:rPr>
              <a:t>–  </a:t>
            </a:r>
            <a:r>
              <a:rPr sz="1060">
                <a:solidFill>
                  <a:srgbClr val="44506A"/>
                </a:solidFill>
                <a:latin typeface="Inter"/>
              </a:rPr>
              <a:t>Comparateur d'offres (jusqu'a 3 offres cote a cote)</a:t>
            </a:r>
          </a:p>
          <a:p>
            <a:pPr algn="l">
              <a:lnSpc>
                <a:spcPct val="116000"/>
              </a:lnSpc>
              <a:spcAft>
                <a:spcPts val="600"/>
              </a:spcAft>
            </a:pPr>
            <a:r>
              <a:rPr sz="1060" b="1">
                <a:solidFill>
                  <a:srgbClr val="2F6FE0"/>
                </a:solidFill>
                <a:latin typeface="Inter"/>
              </a:rPr>
              <a:t>–  </a:t>
            </a:r>
            <a:r>
              <a:rPr sz="1060">
                <a:solidFill>
                  <a:srgbClr val="44506A"/>
                </a:solidFill>
                <a:latin typeface="Inter"/>
              </a:rPr>
              <a:t>Sauvegarde des criteres de recherche comme alerte emploi</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offres.html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2_offres_listing.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13</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Le detail d'une offre, tout relie</a:t>
            </a:r>
          </a:p>
        </p:txBody>
      </p:sp>
      <p:sp>
        <p:nvSpPr>
          <p:cNvPr id="6" name="Rounded Rectangle 5"/>
          <p:cNvSpPr/>
          <p:nvPr/>
        </p:nvSpPr>
        <p:spPr>
          <a:xfrm>
            <a:off x="548640" y="2011680"/>
            <a:ext cx="1265197"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Fiche complete</a:t>
            </a:r>
          </a:p>
        </p:txBody>
      </p:sp>
      <p:sp>
        <p:nvSpPr>
          <p:cNvPr id="7" name="Rounded Rectangle 6"/>
          <p:cNvSpPr/>
          <p:nvPr/>
        </p:nvSpPr>
        <p:spPr>
          <a:xfrm>
            <a:off x="1941853" y="2011680"/>
            <a:ext cx="1469690"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Offres similaires</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La fiche detaillee d'une offre regroupe tout ce dont un candidat a besoin pour decider : description complete du poste, competences recherchees, fourchette de salaire, et un rappel de l'entreprise qui recrute. En bas de page, une section « offres similaires » garde le visiteur engage sur la plateforme meme s'il ne postule pas immediatement a cette offre precise.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Fourchette de salaire affichee des le premier ecran</a:t>
            </a:r>
          </a:p>
          <a:p>
            <a:pPr algn="l">
              <a:lnSpc>
                <a:spcPct val="116000"/>
              </a:lnSpc>
              <a:spcAft>
                <a:spcPts val="600"/>
              </a:spcAft>
            </a:pPr>
            <a:r>
              <a:rPr sz="1060" b="1">
                <a:solidFill>
                  <a:srgbClr val="2F6FE0"/>
                </a:solidFill>
                <a:latin typeface="Inter"/>
              </a:rPr>
              <a:t>–  </a:t>
            </a:r>
            <a:r>
              <a:rPr sz="1060">
                <a:solidFill>
                  <a:srgbClr val="44506A"/>
                </a:solidFill>
                <a:latin typeface="Inter"/>
              </a:rPr>
              <a:t>Fiche entreprise resumee avec lien vers le profil complet</a:t>
            </a:r>
          </a:p>
          <a:p>
            <a:pPr algn="l">
              <a:lnSpc>
                <a:spcPct val="116000"/>
              </a:lnSpc>
              <a:spcAft>
                <a:spcPts val="600"/>
              </a:spcAft>
            </a:pPr>
            <a:r>
              <a:rPr sz="1060" b="1">
                <a:solidFill>
                  <a:srgbClr val="2F6FE0"/>
                </a:solidFill>
                <a:latin typeface="Inter"/>
              </a:rPr>
              <a:t>–  </a:t>
            </a:r>
            <a:r>
              <a:rPr sz="1060">
                <a:solidFill>
                  <a:srgbClr val="44506A"/>
                </a:solidFill>
                <a:latin typeface="Inter"/>
              </a:rPr>
              <a:t>Suggestions d'offres similaires en bas de page</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offre-detail.html?id=1</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3_offre_detail.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14</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La vitrine de chaque entreprise</a:t>
            </a:r>
          </a:p>
        </p:txBody>
      </p:sp>
      <p:sp>
        <p:nvSpPr>
          <p:cNvPr id="6" name="Rounded Rectangle 5"/>
          <p:cNvSpPr/>
          <p:nvPr/>
        </p:nvSpPr>
        <p:spPr>
          <a:xfrm>
            <a:off x="548640" y="2011680"/>
            <a:ext cx="1197032"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Badge verifie</a:t>
            </a:r>
          </a:p>
        </p:txBody>
      </p:sp>
      <p:sp>
        <p:nvSpPr>
          <p:cNvPr id="7" name="Rounded Rectangle 6"/>
          <p:cNvSpPr/>
          <p:nvPr/>
        </p:nvSpPr>
        <p:spPr>
          <a:xfrm>
            <a:off x="1873688" y="2011680"/>
            <a:ext cx="1333361"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Avis d'employes</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Chaque entreprise recruteuse dispose de sa propre page publique, pensee comme une vitrine de marque employeur : description, secteur, toutes ses offres actives, et les avis laisses par d'anciens employes ou candidats. Un badge « entreprise verifiee », attribue manuellement par l'administrateur, rassure le candidat sur le serieux de l'entreprise avant qu'il ne postule.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Liste complete des offres actives de l'entreprise</a:t>
            </a:r>
          </a:p>
          <a:p>
            <a:pPr algn="l">
              <a:lnSpc>
                <a:spcPct val="116000"/>
              </a:lnSpc>
              <a:spcAft>
                <a:spcPts val="600"/>
              </a:spcAft>
            </a:pPr>
            <a:r>
              <a:rPr sz="1060" b="1">
                <a:solidFill>
                  <a:srgbClr val="2F6FE0"/>
                </a:solidFill>
                <a:latin typeface="Inter"/>
              </a:rPr>
              <a:t>–  </a:t>
            </a:r>
            <a:r>
              <a:rPr sz="1060">
                <a:solidFill>
                  <a:srgbClr val="44506A"/>
                </a:solidFill>
                <a:latin typeface="Inter"/>
              </a:rPr>
              <a:t>Avis notes (ambiance, remuneration, equilibre vie pro/perso)</a:t>
            </a:r>
          </a:p>
          <a:p>
            <a:pPr algn="l">
              <a:lnSpc>
                <a:spcPct val="116000"/>
              </a:lnSpc>
              <a:spcAft>
                <a:spcPts val="600"/>
              </a:spcAft>
            </a:pPr>
            <a:r>
              <a:rPr sz="1060" b="1">
                <a:solidFill>
                  <a:srgbClr val="2F6FE0"/>
                </a:solidFill>
                <a:latin typeface="Inter"/>
              </a:rPr>
              <a:t>–  </a:t>
            </a:r>
            <a:r>
              <a:rPr sz="1060">
                <a:solidFill>
                  <a:srgbClr val="44506A"/>
                </a:solidFill>
                <a:latin typeface="Inter"/>
              </a:rPr>
              <a:t>Badge de verification attribue par l'administration</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entreprise.html?id=1</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4_entreprise_profil.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15</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Simulateur de salaire, calcule en direct</a:t>
            </a:r>
          </a:p>
        </p:txBody>
      </p:sp>
      <p:sp>
        <p:nvSpPr>
          <p:cNvPr id="6" name="Rounded Rectangle 5"/>
          <p:cNvSpPr/>
          <p:nvPr/>
        </p:nvSpPr>
        <p:spPr>
          <a:xfrm>
            <a:off x="548640" y="2011680"/>
            <a:ext cx="1333361"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Donnees reelles</a:t>
            </a:r>
          </a:p>
        </p:txBody>
      </p:sp>
      <p:sp>
        <p:nvSpPr>
          <p:cNvPr id="7" name="Rounded Rectangle 6"/>
          <p:cNvSpPr/>
          <p:nvPr/>
        </p:nvSpPr>
        <p:spPr>
          <a:xfrm>
            <a:off x="2010017" y="2011680"/>
            <a:ext cx="1197032"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Outil gratuit</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Plutot que d'afficher des chiffres fixes et arbitraires, le simulateur calcule une fourchette de salaire en croisant categorie de poste, ville et niveau d'experience avec les offres reellement publiees sur la plateforme dans cette categorie. Le resultat est ensuite ajuste par des coefficients multiplicateurs propres a chaque ville et niveau d'anciennete, ce qui rend l'estimation credible et directement exploitable.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Estimation calculee a partir des offres publiees, pas de valeurs figees</a:t>
            </a:r>
          </a:p>
          <a:p>
            <a:pPr algn="l">
              <a:lnSpc>
                <a:spcPct val="116000"/>
              </a:lnSpc>
              <a:spcAft>
                <a:spcPts val="600"/>
              </a:spcAft>
            </a:pPr>
            <a:r>
              <a:rPr sz="1060" b="1">
                <a:solidFill>
                  <a:srgbClr val="2F6FE0"/>
                </a:solidFill>
                <a:latin typeface="Inter"/>
              </a:rPr>
              <a:t>–  </a:t>
            </a:r>
            <a:r>
              <a:rPr sz="1060">
                <a:solidFill>
                  <a:srgbClr val="44506A"/>
                </a:solidFill>
                <a:latin typeface="Inter"/>
              </a:rPr>
              <a:t>Ajustement par ville et par niveau d'experience</a:t>
            </a:r>
          </a:p>
          <a:p>
            <a:pPr algn="l">
              <a:lnSpc>
                <a:spcPct val="116000"/>
              </a:lnSpc>
              <a:spcAft>
                <a:spcPts val="600"/>
              </a:spcAft>
            </a:pPr>
            <a:r>
              <a:rPr sz="1060" b="1">
                <a:solidFill>
                  <a:srgbClr val="2F6FE0"/>
                </a:solidFill>
                <a:latin typeface="Inter"/>
              </a:rPr>
              <a:t>–  </a:t>
            </a:r>
            <a:r>
              <a:rPr sz="1060">
                <a:solidFill>
                  <a:srgbClr val="44506A"/>
                </a:solidFill>
                <a:latin typeface="Inter"/>
              </a:rPr>
              <a:t>Lien direct vers les offres correspondant a l'estimation</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simulateur-salaire.html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5_simulateur_salaire.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16</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Tarifs : gratuit, puis premium</a:t>
            </a:r>
          </a:p>
        </p:txBody>
      </p:sp>
      <p:sp>
        <p:nvSpPr>
          <p:cNvPr id="6" name="Rounded Rectangle 5"/>
          <p:cNvSpPr/>
          <p:nvPr/>
        </p:nvSpPr>
        <p:spPr>
          <a:xfrm>
            <a:off x="548640" y="2011680"/>
            <a:ext cx="924375"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Plan Free</a:t>
            </a:r>
          </a:p>
        </p:txBody>
      </p:sp>
      <p:sp>
        <p:nvSpPr>
          <p:cNvPr id="7" name="Rounded Rectangle 6"/>
          <p:cNvSpPr/>
          <p:nvPr/>
        </p:nvSpPr>
        <p:spPr>
          <a:xfrm>
            <a:off x="1601031" y="2011680"/>
            <a:ext cx="1128868"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Plan Premium</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modele economique cote recruteur repose sur une visibilite gratuite par defaut — jusqu'a six offres actives simultanement — et une mise en avant payante pour aller au-dela : offres illimitees, mise en avant « Sponsorise », badge entreprise verifiee et acces prioritaire a la recherche de candidats. Cette page affiche dynamiquement le nombre d'offres deja utilisees par le recruteur connecte.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Plan Free : jusqu'a 6 offres actives</a:t>
            </a:r>
          </a:p>
          <a:p>
            <a:pPr algn="l">
              <a:lnSpc>
                <a:spcPct val="116000"/>
              </a:lnSpc>
              <a:spcAft>
                <a:spcPts val="600"/>
              </a:spcAft>
            </a:pPr>
            <a:r>
              <a:rPr sz="1060" b="1">
                <a:solidFill>
                  <a:srgbClr val="2F6FE0"/>
                </a:solidFill>
                <a:latin typeface="Inter"/>
              </a:rPr>
              <a:t>–  </a:t>
            </a:r>
            <a:r>
              <a:rPr sz="1060">
                <a:solidFill>
                  <a:srgbClr val="44506A"/>
                </a:solidFill>
                <a:latin typeface="Inter"/>
              </a:rPr>
              <a:t>Plan Premium : offres illimitees + mise en avant + badge verifie</a:t>
            </a:r>
          </a:p>
          <a:p>
            <a:pPr algn="l">
              <a:lnSpc>
                <a:spcPct val="116000"/>
              </a:lnSpc>
              <a:spcAft>
                <a:spcPts val="600"/>
              </a:spcAft>
            </a:pPr>
            <a:r>
              <a:rPr sz="1060" b="1">
                <a:solidFill>
                  <a:srgbClr val="2F6FE0"/>
                </a:solidFill>
                <a:latin typeface="Inter"/>
              </a:rPr>
              <a:t>–  </a:t>
            </a:r>
            <a:r>
              <a:rPr sz="1060">
                <a:solidFill>
                  <a:srgbClr val="44506A"/>
                </a:solidFill>
                <a:latin typeface="Inter"/>
              </a:rPr>
              <a:t>Suivi en direct de la consommation du quota gratuit</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tarifs.html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6_tarif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17</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541262"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2F6FE0"/>
                </a:solidFill>
                <a:latin typeface="Inter"/>
              </a:rPr>
              <a:t>DECOUVERTE PUBLIQUE</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Connexion : sessions reelles cote serveur</a:t>
            </a:r>
          </a:p>
        </p:txBody>
      </p:sp>
      <p:sp>
        <p:nvSpPr>
          <p:cNvPr id="6" name="Rounded Rectangle 5"/>
          <p:cNvSpPr/>
          <p:nvPr/>
        </p:nvSpPr>
        <p:spPr>
          <a:xfrm>
            <a:off x="548640" y="2011680"/>
            <a:ext cx="1128868"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Sessions PHP</a:t>
            </a:r>
          </a:p>
        </p:txBody>
      </p:sp>
      <p:sp>
        <p:nvSpPr>
          <p:cNvPr id="7" name="Rounded Rectangle 6"/>
          <p:cNvSpPr/>
          <p:nvPr/>
        </p:nvSpPr>
        <p:spPr>
          <a:xfrm>
            <a:off x="1805524" y="2011680"/>
            <a:ext cx="1674183" cy="274320"/>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2F6FE0"/>
                </a:solidFill>
                <a:latin typeface="Inter"/>
              </a:rPr>
              <a:t>Mots de passe bcrypt</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L'authentification ne repose plus sur une simulation en localStorage : elle passe par de veritables sessions PHP cote serveur, avec des mots de passe jamais stockes en clair (hachage bcrypt via password_hash). Une fois connecte, chaque utilisateur est automatiquement redirige vers l'espace correspondant a son role — candidat, recruteur ou administrateur — sans jamais avoir a naviguer manuellement.</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2F6FE0"/>
                </a:solidFill>
                <a:latin typeface="Inter"/>
              </a:rPr>
              <a:t>–  </a:t>
            </a:r>
            <a:r>
              <a:rPr sz="1060">
                <a:solidFill>
                  <a:srgbClr val="44506A"/>
                </a:solidFill>
                <a:latin typeface="Inter"/>
              </a:rPr>
              <a:t>Authentification par session PHP, cote serveur</a:t>
            </a:r>
          </a:p>
          <a:p>
            <a:pPr algn="l">
              <a:lnSpc>
                <a:spcPct val="116000"/>
              </a:lnSpc>
              <a:spcAft>
                <a:spcPts val="600"/>
              </a:spcAft>
            </a:pPr>
            <a:r>
              <a:rPr sz="1060" b="1">
                <a:solidFill>
                  <a:srgbClr val="2F6FE0"/>
                </a:solidFill>
                <a:latin typeface="Inter"/>
              </a:rPr>
              <a:t>–  </a:t>
            </a:r>
            <a:r>
              <a:rPr sz="1060">
                <a:solidFill>
                  <a:srgbClr val="44506A"/>
                </a:solidFill>
                <a:latin typeface="Inter"/>
              </a:rPr>
              <a:t>Mots de passe haches (bcrypt), jamais stockes en clair</a:t>
            </a:r>
          </a:p>
          <a:p>
            <a:pPr algn="l">
              <a:lnSpc>
                <a:spcPct val="116000"/>
              </a:lnSpc>
              <a:spcAft>
                <a:spcPts val="600"/>
              </a:spcAft>
            </a:pPr>
            <a:r>
              <a:rPr sz="1060" b="1">
                <a:solidFill>
                  <a:srgbClr val="2F6FE0"/>
                </a:solidFill>
                <a:latin typeface="Inter"/>
              </a:rPr>
              <a:t>–  </a:t>
            </a:r>
            <a:r>
              <a:rPr sz="1060">
                <a:solidFill>
                  <a:srgbClr val="44506A"/>
                </a:solidFill>
                <a:latin typeface="Inter"/>
              </a:rPr>
              <a:t>Comptes de demonstration accessibles en un clic pour les tests</a:t>
            </a:r>
          </a:p>
        </p:txBody>
      </p:sp>
      <p:sp>
        <p:nvSpPr>
          <p:cNvPr id="10" name="Oval 9"/>
          <p:cNvSpPr/>
          <p:nvPr/>
        </p:nvSpPr>
        <p:spPr>
          <a:xfrm>
            <a:off x="548640" y="6345936"/>
            <a:ext cx="91440" cy="91440"/>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6336792"/>
            <a:ext cx="1463040" cy="219456"/>
          </a:xfrm>
          <a:prstGeom prst="rect">
            <a:avLst/>
          </a:prstGeom>
          <a:noFill/>
        </p:spPr>
        <p:txBody>
          <a:bodyPr wrap="square" anchor="ctr" lIns="0" rIns="0" tIns="0" bIns="0">
            <a:noAutofit/>
          </a:bodyPr>
          <a:lstStyle/>
          <a:p>
            <a:pPr algn="l">
              <a:lnSpc>
                <a:spcPct val="100000"/>
              </a:lnSpc>
            </a:pPr>
            <a:r>
              <a:rPr sz="950" b="1" i="0">
                <a:solidFill>
                  <a:srgbClr val="2F6FE0"/>
                </a:solidFill>
                <a:latin typeface="Inter"/>
              </a:rPr>
              <a:t>Public</a:t>
            </a:r>
          </a:p>
        </p:txBody>
      </p:sp>
      <p:sp>
        <p:nvSpPr>
          <p:cNvPr id="12" name="Oval 11"/>
          <p:cNvSpPr/>
          <p:nvPr/>
        </p:nvSpPr>
        <p:spPr>
          <a:xfrm>
            <a:off x="157276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login.html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7_login.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18</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7269480" y="2148840"/>
            <a:ext cx="7772400" cy="7772400"/>
          </a:xfrm>
          <a:prstGeom prst="ellipse">
            <a:avLst/>
          </a:prstGeom>
          <a:solidFill>
            <a:srgbClr val="0E8F6B">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3657600" cy="3657600"/>
          </a:xfrm>
          <a:prstGeom prst="ellipse">
            <a:avLst/>
          </a:prstGeom>
          <a:solidFill>
            <a:srgbClr val="0E8F6B">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0" y="-1234440"/>
            <a:ext cx="7772400" cy="8686800"/>
          </a:xfrm>
          <a:prstGeom prst="rect">
            <a:avLst/>
          </a:prstGeom>
          <a:noFill/>
        </p:spPr>
        <p:txBody>
          <a:bodyPr wrap="none" anchor="t" lIns="0" rIns="0" tIns="0" bIns="0">
            <a:noAutofit/>
          </a:bodyPr>
          <a:lstStyle/>
          <a:p>
            <a:pPr algn="l">
              <a:lnSpc>
                <a:spcPct val="100000"/>
              </a:lnSpc>
            </a:pPr>
            <a:r>
              <a:rPr sz="46000" b="1" i="0">
                <a:solidFill>
                  <a:srgbClr val="0E8F6B">
                    <a:alpha val="9000"/>
                  </a:srgbClr>
                </a:solidFill>
                <a:latin typeface="Sora"/>
              </a:rPr>
              <a:t>II</a:t>
            </a:r>
          </a:p>
        </p:txBody>
      </p:sp>
      <p:sp>
        <p:nvSpPr>
          <p:cNvPr id="5" name="Rounded Rectangle 4"/>
          <p:cNvSpPr/>
          <p:nvPr/>
        </p:nvSpPr>
        <p:spPr>
          <a:xfrm>
            <a:off x="868680" y="2148840"/>
            <a:ext cx="1169766"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E8F6B"/>
                </a:solidFill>
                <a:latin typeface="Inter"/>
              </a:rPr>
              <a:t>PARTIE 3 / 6</a:t>
            </a:r>
          </a:p>
        </p:txBody>
      </p:sp>
      <p:sp>
        <p:nvSpPr>
          <p:cNvPr id="6" name="TextBox 5"/>
          <p:cNvSpPr txBox="1"/>
          <p:nvPr/>
        </p:nvSpPr>
        <p:spPr>
          <a:xfrm>
            <a:off x="822960" y="2606040"/>
            <a:ext cx="7955279" cy="1005840"/>
          </a:xfrm>
          <a:prstGeom prst="rect">
            <a:avLst/>
          </a:prstGeom>
          <a:noFill/>
        </p:spPr>
        <p:txBody>
          <a:bodyPr wrap="square" anchor="t" lIns="0" rIns="0" tIns="0" bIns="0">
            <a:noAutofit/>
          </a:bodyPr>
          <a:lstStyle/>
          <a:p>
            <a:pPr algn="l">
              <a:lnSpc>
                <a:spcPct val="100000"/>
              </a:lnSpc>
            </a:pPr>
            <a:r>
              <a:rPr sz="4400" b="1" i="0">
                <a:solidFill>
                  <a:srgbClr val="16233A"/>
                </a:solidFill>
                <a:latin typeface="Sora"/>
              </a:rPr>
              <a:t>Espace Candidat</a:t>
            </a:r>
          </a:p>
        </p:txBody>
      </p:sp>
      <p:sp>
        <p:nvSpPr>
          <p:cNvPr id="7" name="Rectangle 6"/>
          <p:cNvSpPr/>
          <p:nvPr/>
        </p:nvSpPr>
        <p:spPr>
          <a:xfrm>
            <a:off x="868680" y="3474720"/>
            <a:ext cx="1188720" cy="38100"/>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6949440" cy="914400"/>
          </a:xfrm>
          <a:prstGeom prst="rect">
            <a:avLst/>
          </a:prstGeom>
          <a:noFill/>
        </p:spPr>
        <p:txBody>
          <a:bodyPr wrap="square" anchor="t" lIns="0" rIns="0" tIns="0" bIns="0">
            <a:noAutofit/>
          </a:bodyPr>
          <a:lstStyle/>
          <a:p>
            <a:pPr algn="l">
              <a:lnSpc>
                <a:spcPct val="135000"/>
              </a:lnSpc>
            </a:pPr>
            <a:r>
              <a:rPr sz="1350" b="0" i="0">
                <a:solidFill>
                  <a:srgbClr val="44506A"/>
                </a:solidFill>
                <a:latin typeface="Inter"/>
              </a:rPr>
              <a:t>Une fois connecte, le candidat suit precisement chaque etape de sa recherche d'emploi — plus jamais de candidature envoyee dans le vide.</a:t>
            </a:r>
          </a:p>
        </p:txBody>
      </p:sp>
      <p:sp>
        <p:nvSpPr>
          <p:cNvPr id="9" name="Rounded Rectangle 8"/>
          <p:cNvSpPr/>
          <p:nvPr/>
        </p:nvSpPr>
        <p:spPr>
          <a:xfrm>
            <a:off x="868680" y="4617720"/>
            <a:ext cx="143560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E8F6B"/>
                </a:solidFill>
                <a:latin typeface="Inter"/>
              </a:rPr>
              <a:t>Tableau de bord</a:t>
            </a:r>
          </a:p>
        </p:txBody>
      </p:sp>
      <p:sp>
        <p:nvSpPr>
          <p:cNvPr id="10" name="Rounded Rectangle 9"/>
          <p:cNvSpPr/>
          <p:nvPr/>
        </p:nvSpPr>
        <p:spPr>
          <a:xfrm>
            <a:off x="2432304" y="4617720"/>
            <a:ext cx="1285646"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E8F6B"/>
                </a:solidFill>
                <a:latin typeface="Inter"/>
              </a:rPr>
              <a:t>Profil &amp; quiz</a:t>
            </a:r>
          </a:p>
        </p:txBody>
      </p:sp>
      <p:sp>
        <p:nvSpPr>
          <p:cNvPr id="11" name="Rounded Rectangle 10"/>
          <p:cNvSpPr/>
          <p:nvPr/>
        </p:nvSpPr>
        <p:spPr>
          <a:xfrm>
            <a:off x="3845966" y="4617720"/>
            <a:ext cx="1210665"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E8F6B"/>
                </a:solidFill>
                <a:latin typeface="Inter"/>
              </a:rPr>
              <a:t>Candidatures</a:t>
            </a:r>
          </a:p>
        </p:txBody>
      </p:sp>
      <p:sp>
        <p:nvSpPr>
          <p:cNvPr id="12" name="Rounded Rectangle 11"/>
          <p:cNvSpPr/>
          <p:nvPr/>
        </p:nvSpPr>
        <p:spPr>
          <a:xfrm>
            <a:off x="5184647" y="4617720"/>
            <a:ext cx="835761"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E8F6B"/>
                </a:solidFill>
                <a:latin typeface="Inter"/>
              </a:rPr>
              <a:t>Alertes</a:t>
            </a:r>
          </a:p>
        </p:txBody>
      </p:sp>
      <p:sp>
        <p:nvSpPr>
          <p:cNvPr id="13" name="Rounded Rectangle 12"/>
          <p:cNvSpPr/>
          <p:nvPr/>
        </p:nvSpPr>
        <p:spPr>
          <a:xfrm>
            <a:off x="6148424" y="4617720"/>
            <a:ext cx="1285646"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0E8F6B"/>
                </a:solidFill>
                <a:latin typeface="Inter"/>
              </a:rPr>
              <a:t>Profil public</a:t>
            </a:r>
          </a:p>
        </p:txBody>
      </p:sp>
      <p:sp>
        <p:nvSpPr>
          <p:cNvPr id="14" name="TextBox 13"/>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19</a:t>
            </a:r>
          </a:p>
        </p:txBody>
      </p:sp>
      <p:sp>
        <p:nvSpPr>
          <p:cNvPr id="15" name="Rectangle 14"/>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28223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E8F6B"/>
                </a:solidFill>
                <a:latin typeface="Inter"/>
              </a:rPr>
              <a:t>ESPACE CANDIDAT</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Le tableau de bord candidat</a:t>
            </a:r>
          </a:p>
        </p:txBody>
      </p:sp>
      <p:sp>
        <p:nvSpPr>
          <p:cNvPr id="6" name="Rounded Rectangle 5"/>
          <p:cNvSpPr/>
          <p:nvPr/>
        </p:nvSpPr>
        <p:spPr>
          <a:xfrm>
            <a:off x="548640" y="1691640"/>
            <a:ext cx="1265197"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Vue d'ensemble</a:t>
            </a:r>
          </a:p>
        </p:txBody>
      </p:sp>
      <p:sp>
        <p:nvSpPr>
          <p:cNvPr id="7" name="Rounded Rectangle 6"/>
          <p:cNvSpPr/>
          <p:nvPr/>
        </p:nvSpPr>
        <p:spPr>
          <a:xfrm>
            <a:off x="1941853" y="1691640"/>
            <a:ext cx="1333361"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Recommandations</a:t>
            </a:r>
          </a:p>
        </p:txBody>
      </p:sp>
      <p:sp>
        <p:nvSpPr>
          <p:cNvPr id="8" name="TextBox 7"/>
          <p:cNvSpPr txBox="1"/>
          <p:nvPr/>
        </p:nvSpPr>
        <p:spPr>
          <a:xfrm>
            <a:off x="548640" y="216712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Des la connexion, le candidat voit exactement ou il en est : nombre total de candidatures, celles en attente, celles acceptees, ses offres favorites. La page calcule egalement des recommandations d'offres personnalisees en comparant les competences declarees par le candidat avec celles recherchees par chaque offre publiee, sans qu'aucune action manuelle ne soit necessaire.</a:t>
            </a:r>
          </a:p>
        </p:txBody>
      </p:sp>
      <p:sp>
        <p:nvSpPr>
          <p:cNvPr id="9" name="TextBox 8"/>
          <p:cNvSpPr txBox="1"/>
          <p:nvPr/>
        </p:nvSpPr>
        <p:spPr>
          <a:xfrm>
            <a:off x="548640" y="431596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0E8F6B"/>
                </a:solidFill>
                <a:latin typeface="Inter"/>
              </a:rPr>
              <a:t>–  </a:t>
            </a:r>
            <a:r>
              <a:rPr sz="1060">
                <a:solidFill>
                  <a:srgbClr val="44506A"/>
                </a:solidFill>
                <a:latin typeface="Inter"/>
              </a:rPr>
              <a:t>Statistiques de candidatures en un coup d'oeil</a:t>
            </a:r>
          </a:p>
          <a:p>
            <a:pPr algn="l">
              <a:lnSpc>
                <a:spcPct val="116000"/>
              </a:lnSpc>
              <a:spcAft>
                <a:spcPts val="600"/>
              </a:spcAft>
            </a:pPr>
            <a:r>
              <a:rPr sz="1060" b="1">
                <a:solidFill>
                  <a:srgbClr val="0E8F6B"/>
                </a:solidFill>
                <a:latin typeface="Inter"/>
              </a:rPr>
              <a:t>–  </a:t>
            </a:r>
            <a:r>
              <a:rPr sz="1060">
                <a:solidFill>
                  <a:srgbClr val="44506A"/>
                </a:solidFill>
                <a:latin typeface="Inter"/>
              </a:rPr>
              <a:t>Recommandations d'offres basees sur les competences du profil</a:t>
            </a:r>
          </a:p>
          <a:p>
            <a:pPr algn="l">
              <a:lnSpc>
                <a:spcPct val="116000"/>
              </a:lnSpc>
              <a:spcAft>
                <a:spcPts val="600"/>
              </a:spcAft>
            </a:pPr>
            <a:r>
              <a:rPr sz="1060" b="1">
                <a:solidFill>
                  <a:srgbClr val="0E8F6B"/>
                </a:solidFill>
                <a:latin typeface="Inter"/>
              </a:rPr>
              <a:t>–  </a:t>
            </a:r>
            <a:r>
              <a:rPr sz="1060">
                <a:solidFill>
                  <a:srgbClr val="44506A"/>
                </a:solidFill>
                <a:latin typeface="Inter"/>
              </a:rPr>
              <a:t>Indicateur de completude du profil avec actions suggerees</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45936"/>
            <a:ext cx="91440" cy="91440"/>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1" i="0">
                <a:solidFill>
                  <a:srgbClr val="0E8F6B"/>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candidat/dashboard.html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8_candidat_dashboard.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20</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28223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E8F6B"/>
                </a:solidFill>
                <a:latin typeface="Inter"/>
              </a:rPr>
              <a:t>ESPACE CANDIDAT</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Profil : prouver ses competences, pas juste les lister</a:t>
            </a:r>
          </a:p>
        </p:txBody>
      </p:sp>
      <p:sp>
        <p:nvSpPr>
          <p:cNvPr id="6" name="Rounded Rectangle 5"/>
          <p:cNvSpPr/>
          <p:nvPr/>
        </p:nvSpPr>
        <p:spPr>
          <a:xfrm>
            <a:off x="548640" y="2011680"/>
            <a:ext cx="1537854"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Quiz de competence</a:t>
            </a:r>
          </a:p>
        </p:txBody>
      </p:sp>
      <p:sp>
        <p:nvSpPr>
          <p:cNvPr id="7" name="Rounded Rectangle 6"/>
          <p:cNvSpPr/>
          <p:nvPr/>
        </p:nvSpPr>
        <p:spPr>
          <a:xfrm>
            <a:off x="2214510" y="2011680"/>
            <a:ext cx="1197032"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Badge verifie</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Fonctionnalite phare de l'espace candidat : plutot que d'ecrire simplement « React » dans une liste, le candidat peut passer un mini-quiz de trois questions pour cette competence. En cas de reussite (au moins deux bonnes reponses sur trois), un badge « Competence verifiee » s'affiche en permanence a cote de cette competence, visible par tous les recruteurs qui consultent son profil — une preuve plutot qu'une simple declaration.</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0E8F6B"/>
                </a:solidFill>
                <a:latin typeface="Inter"/>
              </a:rPr>
              <a:t>–  </a:t>
            </a:r>
            <a:r>
              <a:rPr sz="1060">
                <a:solidFill>
                  <a:srgbClr val="44506A"/>
                </a:solidFill>
                <a:latin typeface="Inter"/>
              </a:rPr>
              <a:t>Quiz de 3 questions par competence, correction immediate</a:t>
            </a:r>
          </a:p>
          <a:p>
            <a:pPr algn="l">
              <a:lnSpc>
                <a:spcPct val="116000"/>
              </a:lnSpc>
              <a:spcAft>
                <a:spcPts val="600"/>
              </a:spcAft>
            </a:pPr>
            <a:r>
              <a:rPr sz="1060" b="1">
                <a:solidFill>
                  <a:srgbClr val="0E8F6B"/>
                </a:solidFill>
                <a:latin typeface="Inter"/>
              </a:rPr>
              <a:t>–  </a:t>
            </a:r>
            <a:r>
              <a:rPr sz="1060">
                <a:solidFill>
                  <a:srgbClr val="44506A"/>
                </a:solidFill>
                <a:latin typeface="Inter"/>
              </a:rPr>
              <a:t>Badge « Competence verifiee » affiche sur le profil public</a:t>
            </a:r>
          </a:p>
          <a:p>
            <a:pPr algn="l">
              <a:lnSpc>
                <a:spcPct val="116000"/>
              </a:lnSpc>
              <a:spcAft>
                <a:spcPts val="600"/>
              </a:spcAft>
            </a:pPr>
            <a:r>
              <a:rPr sz="1060" b="1">
                <a:solidFill>
                  <a:srgbClr val="0E8F6B"/>
                </a:solidFill>
                <a:latin typeface="Inter"/>
              </a:rPr>
              <a:t>–  </a:t>
            </a:r>
            <a:r>
              <a:rPr sz="1060">
                <a:solidFill>
                  <a:srgbClr val="44506A"/>
                </a:solidFill>
                <a:latin typeface="Inter"/>
              </a:rPr>
              <a:t>Televersement reel de CV, photo de profil et video de presentation</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45936"/>
            <a:ext cx="91440" cy="91440"/>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1" i="0">
                <a:solidFill>
                  <a:srgbClr val="0E8F6B"/>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candidat/profil.html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9_candidat_profil.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21</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28223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E8F6B"/>
                </a:solidFill>
                <a:latin typeface="Inter"/>
              </a:rPr>
              <a:t>ESPACE CANDIDAT</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Suivre chaque candidature, sans jamais relancer</a:t>
            </a:r>
          </a:p>
        </p:txBody>
      </p:sp>
      <p:sp>
        <p:nvSpPr>
          <p:cNvPr id="6" name="Rounded Rectangle 5"/>
          <p:cNvSpPr/>
          <p:nvPr/>
        </p:nvSpPr>
        <p:spPr>
          <a:xfrm>
            <a:off x="548640" y="2011680"/>
            <a:ext cx="1401525"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Statut en direct</a:t>
            </a:r>
          </a:p>
        </p:txBody>
      </p:sp>
      <p:sp>
        <p:nvSpPr>
          <p:cNvPr id="7" name="Rounded Rectangle 6"/>
          <p:cNvSpPr/>
          <p:nvPr/>
        </p:nvSpPr>
        <p:spPr>
          <a:xfrm>
            <a:off x="2078181" y="2011680"/>
            <a:ext cx="1537854"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Historique complet</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Chaque candidature affiche sa position exacte dans le pipeline de recrutement du recruteur : recue, preselectionnee, en entretien, offre recue, embauchee ou refusee. Cette visibilite directe elimine le besoin d'envoyer un e-mail de relance pour savoir ou en est un dossier — l'information est deja la, synchronisee avec les actions du recruteur en temps reel.</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0E8F6B"/>
                </a:solidFill>
                <a:latin typeface="Inter"/>
              </a:rPr>
              <a:t>–  </a:t>
            </a:r>
            <a:r>
              <a:rPr sz="1060">
                <a:solidFill>
                  <a:srgbClr val="44506A"/>
                </a:solidFill>
                <a:latin typeface="Inter"/>
              </a:rPr>
              <a:t>Statut de candidature synchronise avec le pipeline recruteur</a:t>
            </a:r>
          </a:p>
          <a:p>
            <a:pPr algn="l">
              <a:lnSpc>
                <a:spcPct val="116000"/>
              </a:lnSpc>
              <a:spcAft>
                <a:spcPts val="600"/>
              </a:spcAft>
            </a:pPr>
            <a:r>
              <a:rPr sz="1060" b="1">
                <a:solidFill>
                  <a:srgbClr val="0E8F6B"/>
                </a:solidFill>
                <a:latin typeface="Inter"/>
              </a:rPr>
              <a:t>–  </a:t>
            </a:r>
            <a:r>
              <a:rPr sz="1060">
                <a:solidFill>
                  <a:srgbClr val="44506A"/>
                </a:solidFill>
                <a:latin typeface="Inter"/>
              </a:rPr>
              <a:t>Selection du creneau d'entretien propose, directement depuis cette page</a:t>
            </a:r>
          </a:p>
          <a:p>
            <a:pPr algn="l">
              <a:lnSpc>
                <a:spcPct val="116000"/>
              </a:lnSpc>
              <a:spcAft>
                <a:spcPts val="600"/>
              </a:spcAft>
            </a:pPr>
            <a:r>
              <a:rPr sz="1060" b="1">
                <a:solidFill>
                  <a:srgbClr val="0E8F6B"/>
                </a:solidFill>
                <a:latin typeface="Inter"/>
              </a:rPr>
              <a:t>–  </a:t>
            </a:r>
            <a:r>
              <a:rPr sz="1060">
                <a:solidFill>
                  <a:srgbClr val="44506A"/>
                </a:solidFill>
                <a:latin typeface="Inter"/>
              </a:rPr>
              <a:t>Messagerie integree par candidature, sans quitter NeoJob</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45936"/>
            <a:ext cx="91440" cy="91440"/>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1" i="0">
                <a:solidFill>
                  <a:srgbClr val="0E8F6B"/>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candidat/candidatures.html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0_candidat_candidature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22</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28223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E8F6B"/>
                </a:solidFill>
                <a:latin typeface="Inter"/>
              </a:rPr>
              <a:t>ESPACE CANDIDAT</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Alertes emploi personnalisees</a:t>
            </a:r>
          </a:p>
        </p:txBody>
      </p:sp>
      <p:sp>
        <p:nvSpPr>
          <p:cNvPr id="6" name="Rounded Rectangle 5"/>
          <p:cNvSpPr/>
          <p:nvPr/>
        </p:nvSpPr>
        <p:spPr>
          <a:xfrm>
            <a:off x="548640" y="1691640"/>
            <a:ext cx="1674183"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Criteres combinables</a:t>
            </a:r>
          </a:p>
        </p:txBody>
      </p:sp>
      <p:sp>
        <p:nvSpPr>
          <p:cNvPr id="7" name="Rounded Rectangle 6"/>
          <p:cNvSpPr/>
          <p:nvPr/>
        </p:nvSpPr>
        <p:spPr>
          <a:xfrm>
            <a:off x="2350839" y="1691640"/>
            <a:ext cx="1469690"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Suivi automatique</a:t>
            </a:r>
          </a:p>
        </p:txBody>
      </p:sp>
      <p:sp>
        <p:nvSpPr>
          <p:cNvPr id="8" name="TextBox 7"/>
          <p:cNvSpPr txBox="1"/>
          <p:nvPr/>
        </p:nvSpPr>
        <p:spPr>
          <a:xfrm>
            <a:off x="548640" y="216712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candidat definit une seule fois ses criteres de recherche ideaux — mot-cle, ville, categorie, competence, type de contrat — et NeoJob se charge de surveiller le marche a sa place. Chaque alerte affiche en direct le nombre d'offres publiees qui correspondent actuellement a ses criteres, sans qu'il ait besoin de relancer une recherche manuellement.</a:t>
            </a:r>
          </a:p>
        </p:txBody>
      </p:sp>
      <p:sp>
        <p:nvSpPr>
          <p:cNvPr id="9" name="TextBox 8"/>
          <p:cNvSpPr txBox="1"/>
          <p:nvPr/>
        </p:nvSpPr>
        <p:spPr>
          <a:xfrm>
            <a:off x="548640" y="431596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0E8F6B"/>
                </a:solidFill>
                <a:latin typeface="Inter"/>
              </a:rPr>
              <a:t>–  </a:t>
            </a:r>
            <a:r>
              <a:rPr sz="1060">
                <a:solidFill>
                  <a:srgbClr val="44506A"/>
                </a:solidFill>
                <a:latin typeface="Inter"/>
              </a:rPr>
              <a:t>Creation d'une alerte en un clic depuis la page de recherche</a:t>
            </a:r>
          </a:p>
          <a:p>
            <a:pPr algn="l">
              <a:lnSpc>
                <a:spcPct val="116000"/>
              </a:lnSpc>
              <a:spcAft>
                <a:spcPts val="600"/>
              </a:spcAft>
            </a:pPr>
            <a:r>
              <a:rPr sz="1060" b="1">
                <a:solidFill>
                  <a:srgbClr val="0E8F6B"/>
                </a:solidFill>
                <a:latin typeface="Inter"/>
              </a:rPr>
              <a:t>–  </a:t>
            </a:r>
            <a:r>
              <a:rPr sz="1060">
                <a:solidFill>
                  <a:srgbClr val="44506A"/>
                </a:solidFill>
                <a:latin typeface="Inter"/>
              </a:rPr>
              <a:t>Comptage en direct des offres correspondantes</a:t>
            </a:r>
          </a:p>
          <a:p>
            <a:pPr algn="l">
              <a:lnSpc>
                <a:spcPct val="116000"/>
              </a:lnSpc>
              <a:spcAft>
                <a:spcPts val="600"/>
              </a:spcAft>
            </a:pPr>
            <a:r>
              <a:rPr sz="1060" b="1">
                <a:solidFill>
                  <a:srgbClr val="0E8F6B"/>
                </a:solidFill>
                <a:latin typeface="Inter"/>
              </a:rPr>
              <a:t>–  </a:t>
            </a:r>
            <a:r>
              <a:rPr sz="1060">
                <a:solidFill>
                  <a:srgbClr val="44506A"/>
                </a:solidFill>
                <a:latin typeface="Inter"/>
              </a:rPr>
              <a:t>Gestion centralisee de toutes les alertes actives</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45936"/>
            <a:ext cx="91440" cy="91440"/>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1" i="0">
                <a:solidFill>
                  <a:srgbClr val="0E8F6B"/>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candidat/alertes.html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1_candidat_alerte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23</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28223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E8F6B"/>
                </a:solidFill>
                <a:latin typeface="Inter"/>
              </a:rPr>
              <a:t>ESPACE CANDIDAT</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Un profil public, imprimable, partageable</a:t>
            </a:r>
          </a:p>
        </p:txBody>
      </p:sp>
      <p:sp>
        <p:nvSpPr>
          <p:cNvPr id="6" name="Rounded Rectangle 5"/>
          <p:cNvSpPr/>
          <p:nvPr/>
        </p:nvSpPr>
        <p:spPr>
          <a:xfrm>
            <a:off x="548640" y="2011680"/>
            <a:ext cx="1197032"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CV imprimable</a:t>
            </a:r>
          </a:p>
        </p:txBody>
      </p:sp>
      <p:sp>
        <p:nvSpPr>
          <p:cNvPr id="7" name="Rounded Rectangle 6"/>
          <p:cNvSpPr/>
          <p:nvPr/>
        </p:nvSpPr>
        <p:spPr>
          <a:xfrm>
            <a:off x="1873688" y="2011680"/>
            <a:ext cx="1401525" cy="274320"/>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0E8F6B"/>
                </a:solidFill>
                <a:latin typeface="Inter"/>
              </a:rPr>
              <a:t>Lien partageable</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profil candidat existe egalement comme page publique consultable par n'importe quel recruteur disposant du lien — un CV vivant plutot qu'un fichier statique. Toutes les competences verifiees y apparaissent avec leur badge, et un bouton dedie permet de l'imprimer ou de l'exporter directement depuis le navigateur, sans generation de PDF cote serveur.</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0E8F6B"/>
                </a:solidFill>
                <a:latin typeface="Inter"/>
              </a:rPr>
              <a:t>–  </a:t>
            </a:r>
            <a:r>
              <a:rPr sz="1060">
                <a:solidFill>
                  <a:srgbClr val="44506A"/>
                </a:solidFill>
                <a:latin typeface="Inter"/>
              </a:rPr>
              <a:t>Page publique accessible via un simple lien</a:t>
            </a:r>
          </a:p>
          <a:p>
            <a:pPr algn="l">
              <a:lnSpc>
                <a:spcPct val="116000"/>
              </a:lnSpc>
              <a:spcAft>
                <a:spcPts val="600"/>
              </a:spcAft>
            </a:pPr>
            <a:r>
              <a:rPr sz="1060" b="1">
                <a:solidFill>
                  <a:srgbClr val="0E8F6B"/>
                </a:solidFill>
                <a:latin typeface="Inter"/>
              </a:rPr>
              <a:t>–  </a:t>
            </a:r>
            <a:r>
              <a:rPr sz="1060">
                <a:solidFill>
                  <a:srgbClr val="44506A"/>
                </a:solidFill>
                <a:latin typeface="Inter"/>
              </a:rPr>
              <a:t>Badges de competences verifiees visibles par tous</a:t>
            </a:r>
          </a:p>
          <a:p>
            <a:pPr algn="l">
              <a:lnSpc>
                <a:spcPct val="116000"/>
              </a:lnSpc>
              <a:spcAft>
                <a:spcPts val="600"/>
              </a:spcAft>
            </a:pPr>
            <a:r>
              <a:rPr sz="1060" b="1">
                <a:solidFill>
                  <a:srgbClr val="0E8F6B"/>
                </a:solidFill>
                <a:latin typeface="Inter"/>
              </a:rPr>
              <a:t>–  </a:t>
            </a:r>
            <a:r>
              <a:rPr sz="1060">
                <a:solidFill>
                  <a:srgbClr val="44506A"/>
                </a:solidFill>
                <a:latin typeface="Inter"/>
              </a:rPr>
              <a:t>Impression / export natif depuis le navigateur</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45936"/>
            <a:ext cx="91440" cy="91440"/>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4500" y="6336792"/>
            <a:ext cx="1463040" cy="219456"/>
          </a:xfrm>
          <a:prstGeom prst="rect">
            <a:avLst/>
          </a:prstGeom>
          <a:noFill/>
        </p:spPr>
        <p:txBody>
          <a:bodyPr wrap="square" anchor="ctr" lIns="0" rIns="0" tIns="0" bIns="0">
            <a:noAutofit/>
          </a:bodyPr>
          <a:lstStyle/>
          <a:p>
            <a:pPr algn="l">
              <a:lnSpc>
                <a:spcPct val="100000"/>
              </a:lnSpc>
            </a:pPr>
            <a:r>
              <a:rPr sz="950" b="1" i="0">
                <a:solidFill>
                  <a:srgbClr val="0E8F6B"/>
                </a:solidFill>
                <a:latin typeface="Inter"/>
              </a:rPr>
              <a:t>Candidat</a:t>
            </a:r>
          </a:p>
        </p:txBody>
      </p:sp>
      <p:sp>
        <p:nvSpPr>
          <p:cNvPr id="14" name="Oval 13"/>
          <p:cNvSpPr/>
          <p:nvPr/>
        </p:nvSpPr>
        <p:spPr>
          <a:xfrm>
            <a:off x="277520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candidat-profil.html?id=1</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2_candidat_profil_public.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24</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7269480" y="2148840"/>
            <a:ext cx="7772400" cy="7772400"/>
          </a:xfrm>
          <a:prstGeom prst="ellipse">
            <a:avLst/>
          </a:prstGeom>
          <a:solidFill>
            <a:srgbClr val="6D59E0">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3657600" cy="3657600"/>
          </a:xfrm>
          <a:prstGeom prst="ellipse">
            <a:avLst/>
          </a:prstGeom>
          <a:solidFill>
            <a:srgbClr val="6D59E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0" y="-1234440"/>
            <a:ext cx="7772400" cy="8686800"/>
          </a:xfrm>
          <a:prstGeom prst="rect">
            <a:avLst/>
          </a:prstGeom>
          <a:noFill/>
        </p:spPr>
        <p:txBody>
          <a:bodyPr wrap="none" anchor="t" lIns="0" rIns="0" tIns="0" bIns="0">
            <a:noAutofit/>
          </a:bodyPr>
          <a:lstStyle/>
          <a:p>
            <a:pPr algn="l">
              <a:lnSpc>
                <a:spcPct val="100000"/>
              </a:lnSpc>
            </a:pPr>
            <a:r>
              <a:rPr sz="46000" b="1" i="0">
                <a:solidFill>
                  <a:srgbClr val="6D59E0">
                    <a:alpha val="9000"/>
                  </a:srgbClr>
                </a:solidFill>
                <a:latin typeface="Sora"/>
              </a:rPr>
              <a:t>III</a:t>
            </a:r>
          </a:p>
        </p:txBody>
      </p:sp>
      <p:sp>
        <p:nvSpPr>
          <p:cNvPr id="5" name="Rounded Rectangle 4"/>
          <p:cNvSpPr/>
          <p:nvPr/>
        </p:nvSpPr>
        <p:spPr>
          <a:xfrm>
            <a:off x="868680" y="2148840"/>
            <a:ext cx="1169766"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PARTIE 4 / 6</a:t>
            </a:r>
          </a:p>
        </p:txBody>
      </p:sp>
      <p:sp>
        <p:nvSpPr>
          <p:cNvPr id="6" name="TextBox 5"/>
          <p:cNvSpPr txBox="1"/>
          <p:nvPr/>
        </p:nvSpPr>
        <p:spPr>
          <a:xfrm>
            <a:off x="822960" y="2606040"/>
            <a:ext cx="7955279" cy="1005840"/>
          </a:xfrm>
          <a:prstGeom prst="rect">
            <a:avLst/>
          </a:prstGeom>
          <a:noFill/>
        </p:spPr>
        <p:txBody>
          <a:bodyPr wrap="square" anchor="t" lIns="0" rIns="0" tIns="0" bIns="0">
            <a:noAutofit/>
          </a:bodyPr>
          <a:lstStyle/>
          <a:p>
            <a:pPr algn="l">
              <a:lnSpc>
                <a:spcPct val="100000"/>
              </a:lnSpc>
            </a:pPr>
            <a:r>
              <a:rPr sz="4400" b="1" i="0">
                <a:solidFill>
                  <a:srgbClr val="16233A"/>
                </a:solidFill>
                <a:latin typeface="Sora"/>
              </a:rPr>
              <a:t>Espace Recruteur</a:t>
            </a:r>
          </a:p>
        </p:txBody>
      </p:sp>
      <p:sp>
        <p:nvSpPr>
          <p:cNvPr id="7" name="Rectangle 6"/>
          <p:cNvSpPr/>
          <p:nvPr/>
        </p:nvSpPr>
        <p:spPr>
          <a:xfrm>
            <a:off x="868680" y="3474720"/>
            <a:ext cx="1188720" cy="38100"/>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6949440" cy="914400"/>
          </a:xfrm>
          <a:prstGeom prst="rect">
            <a:avLst/>
          </a:prstGeom>
          <a:noFill/>
        </p:spPr>
        <p:txBody>
          <a:bodyPr wrap="square" anchor="t" lIns="0" rIns="0" tIns="0" bIns="0">
            <a:noAutofit/>
          </a:bodyPr>
          <a:lstStyle/>
          <a:p>
            <a:pPr algn="l">
              <a:lnSpc>
                <a:spcPct val="135000"/>
              </a:lnSpc>
            </a:pPr>
            <a:r>
              <a:rPr sz="1350" b="0" i="0">
                <a:solidFill>
                  <a:srgbClr val="44506A"/>
                </a:solidFill>
                <a:latin typeface="Inter"/>
              </a:rPr>
              <a:t>Le coeur du produit : transformer une pile de candidatures en un vrai pipeline de recrutement pilotable au glisser-deposer.</a:t>
            </a:r>
          </a:p>
        </p:txBody>
      </p:sp>
      <p:sp>
        <p:nvSpPr>
          <p:cNvPr id="9" name="Rounded Rectangle 8"/>
          <p:cNvSpPr/>
          <p:nvPr/>
        </p:nvSpPr>
        <p:spPr>
          <a:xfrm>
            <a:off x="868680" y="4617720"/>
            <a:ext cx="1435608"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6D59E0"/>
                </a:solidFill>
                <a:latin typeface="Inter"/>
              </a:rPr>
              <a:t>Tableau de bord</a:t>
            </a:r>
          </a:p>
        </p:txBody>
      </p:sp>
      <p:sp>
        <p:nvSpPr>
          <p:cNvPr id="10" name="Rounded Rectangle 9"/>
          <p:cNvSpPr/>
          <p:nvPr/>
        </p:nvSpPr>
        <p:spPr>
          <a:xfrm>
            <a:off x="2432304" y="4617720"/>
            <a:ext cx="1585569"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6D59E0"/>
                </a:solidFill>
                <a:latin typeface="Inter"/>
              </a:rPr>
              <a:t>Publier une offre</a:t>
            </a:r>
          </a:p>
        </p:txBody>
      </p:sp>
      <p:sp>
        <p:nvSpPr>
          <p:cNvPr id="11" name="Rounded Rectangle 10"/>
          <p:cNvSpPr/>
          <p:nvPr/>
        </p:nvSpPr>
        <p:spPr>
          <a:xfrm>
            <a:off x="4145889" y="4617720"/>
            <a:ext cx="1435608"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6D59E0"/>
                </a:solidFill>
                <a:latin typeface="Inter"/>
              </a:rPr>
              <a:t>Pipeline Kanban</a:t>
            </a:r>
          </a:p>
        </p:txBody>
      </p:sp>
      <p:sp>
        <p:nvSpPr>
          <p:cNvPr id="12" name="Rounded Rectangle 11"/>
          <p:cNvSpPr/>
          <p:nvPr/>
        </p:nvSpPr>
        <p:spPr>
          <a:xfrm>
            <a:off x="5709513" y="4617720"/>
            <a:ext cx="910742"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6D59E0"/>
                </a:solidFill>
                <a:latin typeface="Inter"/>
              </a:rPr>
              <a:t>CVtheque</a:t>
            </a:r>
          </a:p>
        </p:txBody>
      </p:sp>
      <p:sp>
        <p:nvSpPr>
          <p:cNvPr id="13" name="TextBox 1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25</a:t>
            </a:r>
          </a:p>
        </p:txBody>
      </p:sp>
      <p:sp>
        <p:nvSpPr>
          <p:cNvPr id="14" name="Rectangle 1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34699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6D59E0"/>
                </a:solidFill>
                <a:latin typeface="Inter"/>
              </a:rPr>
              <a:t>ESPACE RECRUTEUR</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Le tableau de bord recruteur</a:t>
            </a:r>
          </a:p>
        </p:txBody>
      </p:sp>
      <p:sp>
        <p:nvSpPr>
          <p:cNvPr id="6" name="Rounded Rectangle 5"/>
          <p:cNvSpPr/>
          <p:nvPr/>
        </p:nvSpPr>
        <p:spPr>
          <a:xfrm>
            <a:off x="548640" y="1691640"/>
            <a:ext cx="1333361"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Stats par offre</a:t>
            </a:r>
          </a:p>
        </p:txBody>
      </p:sp>
      <p:sp>
        <p:nvSpPr>
          <p:cNvPr id="7" name="Rounded Rectangle 6"/>
          <p:cNvSpPr/>
          <p:nvPr/>
        </p:nvSpPr>
        <p:spPr>
          <a:xfrm>
            <a:off x="2010017" y="1691640"/>
            <a:ext cx="1946840"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Acces rapide au pipeline</a:t>
            </a:r>
          </a:p>
        </p:txBody>
      </p:sp>
      <p:sp>
        <p:nvSpPr>
          <p:cNvPr id="8" name="TextBox 7"/>
          <p:cNvSpPr txBox="1"/>
          <p:nvPr/>
        </p:nvSpPr>
        <p:spPr>
          <a:xfrm>
            <a:off x="548640" y="216712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recruteur visualise en un ecran l'etat de ses offres actives, le nombre de candidatures recues, et accede directement a son pipeline de recrutement sans detour. Un graphique retrace l'evolution des candidatures recues sur les dernieres semaines, permettant de reperer immediatement les offres qui fonctionnent et celles qui necessitent une reformulation.</a:t>
            </a:r>
          </a:p>
        </p:txBody>
      </p:sp>
      <p:sp>
        <p:nvSpPr>
          <p:cNvPr id="9" name="TextBox 8"/>
          <p:cNvSpPr txBox="1"/>
          <p:nvPr/>
        </p:nvSpPr>
        <p:spPr>
          <a:xfrm>
            <a:off x="548640" y="431596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6D59E0"/>
                </a:solidFill>
                <a:latin typeface="Inter"/>
              </a:rPr>
              <a:t>–  </a:t>
            </a:r>
            <a:r>
              <a:rPr sz="1060">
                <a:solidFill>
                  <a:srgbClr val="44506A"/>
                </a:solidFill>
                <a:latin typeface="Inter"/>
              </a:rPr>
              <a:t>Compteur d'offres publiees, en attente et acceptees</a:t>
            </a:r>
          </a:p>
          <a:p>
            <a:pPr algn="l">
              <a:lnSpc>
                <a:spcPct val="116000"/>
              </a:lnSpc>
              <a:spcAft>
                <a:spcPts val="600"/>
              </a:spcAft>
            </a:pPr>
            <a:r>
              <a:rPr sz="1060" b="1">
                <a:solidFill>
                  <a:srgbClr val="6D59E0"/>
                </a:solidFill>
                <a:latin typeface="Inter"/>
              </a:rPr>
              <a:t>–  </a:t>
            </a:r>
            <a:r>
              <a:rPr sz="1060">
                <a:solidFill>
                  <a:srgbClr val="44506A"/>
                </a:solidFill>
                <a:latin typeface="Inter"/>
              </a:rPr>
              <a:t>Graphique des candidatures recues sur 8 semaines</a:t>
            </a:r>
          </a:p>
          <a:p>
            <a:pPr algn="l">
              <a:lnSpc>
                <a:spcPct val="116000"/>
              </a:lnSpc>
              <a:spcAft>
                <a:spcPts val="600"/>
              </a:spcAft>
            </a:pPr>
            <a:r>
              <a:rPr sz="1060" b="1">
                <a:solidFill>
                  <a:srgbClr val="6D59E0"/>
                </a:solidFill>
                <a:latin typeface="Inter"/>
              </a:rPr>
              <a:t>–  </a:t>
            </a:r>
            <a:r>
              <a:rPr sz="1060">
                <a:solidFill>
                  <a:srgbClr val="44506A"/>
                </a:solidFill>
                <a:latin typeface="Inter"/>
              </a:rPr>
              <a:t>Acces direct au pipeline Kanban depuis le tableau de bord</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45936"/>
            <a:ext cx="91440" cy="91440"/>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1" i="0">
                <a:solidFill>
                  <a:srgbClr val="6D59E0"/>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recruteur/dashboard.html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3_recruteur_dashboard.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26</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34699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6D59E0"/>
                </a:solidFill>
                <a:latin typeface="Inter"/>
              </a:rPr>
              <a:t>ESPACE RECRUTEUR</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Publier une offre, structuree des le depart</a:t>
            </a:r>
          </a:p>
        </p:txBody>
      </p:sp>
      <p:sp>
        <p:nvSpPr>
          <p:cNvPr id="6" name="Rounded Rectangle 5"/>
          <p:cNvSpPr/>
          <p:nvPr/>
        </p:nvSpPr>
        <p:spPr>
          <a:xfrm>
            <a:off x="548640" y="2011680"/>
            <a:ext cx="1674183"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Formulaire structure</a:t>
            </a:r>
          </a:p>
        </p:txBody>
      </p:sp>
      <p:sp>
        <p:nvSpPr>
          <p:cNvPr id="7" name="Rounded Rectangle 6"/>
          <p:cNvSpPr/>
          <p:nvPr/>
        </p:nvSpPr>
        <p:spPr>
          <a:xfrm>
            <a:off x="2350839" y="2011680"/>
            <a:ext cx="1606018"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Passe en moderation</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Publier une offre ne se limite pas a ecrire un texte libre : le formulaire impose de relier l'offre a une categorie et a des competences precises, garantissant que chaque offre est correctement indexee pour la recherche et le calcul du salaire simulateur. Une fois soumise, l'offre passe automatiquement au statut « en attente » et n'est jamais visible publiquement avant validation par un administrateur.</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6D59E0"/>
                </a:solidFill>
                <a:latin typeface="Inter"/>
              </a:rPr>
              <a:t>–  </a:t>
            </a:r>
            <a:r>
              <a:rPr sz="1060">
                <a:solidFill>
                  <a:srgbClr val="44506A"/>
                </a:solidFill>
                <a:latin typeface="Inter"/>
              </a:rPr>
              <a:t>Association obligatoire a une categorie et des competences</a:t>
            </a:r>
          </a:p>
          <a:p>
            <a:pPr algn="l">
              <a:lnSpc>
                <a:spcPct val="116000"/>
              </a:lnSpc>
              <a:spcAft>
                <a:spcPts val="600"/>
              </a:spcAft>
            </a:pPr>
            <a:r>
              <a:rPr sz="1060" b="1">
                <a:solidFill>
                  <a:srgbClr val="6D59E0"/>
                </a:solidFill>
                <a:latin typeface="Inter"/>
              </a:rPr>
              <a:t>–  </a:t>
            </a:r>
            <a:r>
              <a:rPr sz="1060">
                <a:solidFill>
                  <a:srgbClr val="44506A"/>
                </a:solidFill>
                <a:latin typeface="Inter"/>
              </a:rPr>
              <a:t>Statut « en attente » impose automatiquement a la creation</a:t>
            </a:r>
          </a:p>
          <a:p>
            <a:pPr algn="l">
              <a:lnSpc>
                <a:spcPct val="116000"/>
              </a:lnSpc>
              <a:spcAft>
                <a:spcPts val="600"/>
              </a:spcAft>
            </a:pPr>
            <a:r>
              <a:rPr sz="1060" b="1">
                <a:solidFill>
                  <a:srgbClr val="6D59E0"/>
                </a:solidFill>
                <a:latin typeface="Inter"/>
              </a:rPr>
              <a:t>–  </a:t>
            </a:r>
            <a:r>
              <a:rPr sz="1060">
                <a:solidFill>
                  <a:srgbClr val="44506A"/>
                </a:solidFill>
                <a:latin typeface="Inter"/>
              </a:rPr>
              <a:t>Modification possible ulterieurement, avec repassage en moderation</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45936"/>
            <a:ext cx="91440" cy="91440"/>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1" i="0">
                <a:solidFill>
                  <a:srgbClr val="6D59E0"/>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recruteur/poster-offre.html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4_recruteur_poster_offre.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27</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34699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6D59E0"/>
                </a:solidFill>
                <a:latin typeface="Inter"/>
              </a:rPr>
              <a:t>ESPACE RECRUTEUR</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Mes offres, avec statut et audience</a:t>
            </a:r>
          </a:p>
        </p:txBody>
      </p:sp>
      <p:sp>
        <p:nvSpPr>
          <p:cNvPr id="6" name="Rounded Rectangle 5"/>
          <p:cNvSpPr/>
          <p:nvPr/>
        </p:nvSpPr>
        <p:spPr>
          <a:xfrm>
            <a:off x="548640" y="2011680"/>
            <a:ext cx="1401525"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Statut par offre</a:t>
            </a:r>
          </a:p>
        </p:txBody>
      </p:sp>
      <p:sp>
        <p:nvSpPr>
          <p:cNvPr id="7" name="Rounded Rectangle 6"/>
          <p:cNvSpPr/>
          <p:nvPr/>
        </p:nvSpPr>
        <p:spPr>
          <a:xfrm>
            <a:off x="2078181" y="2011680"/>
            <a:ext cx="1265197"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Nombre de vues</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Chaque offre publiee affiche a la fois son statut de moderation et son nombre de vues cumule — de quoi comprendre rapidement quelles offres attirent reellement l'attention des candidats et lesquelles meriteraient d'etre retravaillees ou mises en avant via le plan Premium.</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6D59E0"/>
                </a:solidFill>
                <a:latin typeface="Inter"/>
              </a:rPr>
              <a:t>–  </a:t>
            </a:r>
            <a:r>
              <a:rPr sz="1060">
                <a:solidFill>
                  <a:srgbClr val="44506A"/>
                </a:solidFill>
                <a:latin typeface="Inter"/>
              </a:rPr>
              <a:t>Vue d'ensemble de toutes les offres publiees par l'entreprise</a:t>
            </a:r>
          </a:p>
          <a:p>
            <a:pPr algn="l">
              <a:lnSpc>
                <a:spcPct val="116000"/>
              </a:lnSpc>
              <a:spcAft>
                <a:spcPts val="600"/>
              </a:spcAft>
            </a:pPr>
            <a:r>
              <a:rPr sz="1060" b="1">
                <a:solidFill>
                  <a:srgbClr val="6D59E0"/>
                </a:solidFill>
                <a:latin typeface="Inter"/>
              </a:rPr>
              <a:t>–  </a:t>
            </a:r>
            <a:r>
              <a:rPr sz="1060">
                <a:solidFill>
                  <a:srgbClr val="44506A"/>
                </a:solidFill>
                <a:latin typeface="Inter"/>
              </a:rPr>
              <a:t>Compteur de vues par offre, mis a jour a chaque consultation</a:t>
            </a:r>
          </a:p>
          <a:p>
            <a:pPr algn="l">
              <a:lnSpc>
                <a:spcPct val="116000"/>
              </a:lnSpc>
              <a:spcAft>
                <a:spcPts val="600"/>
              </a:spcAft>
            </a:pPr>
            <a:r>
              <a:rPr sz="1060" b="1">
                <a:solidFill>
                  <a:srgbClr val="6D59E0"/>
                </a:solidFill>
                <a:latin typeface="Inter"/>
              </a:rPr>
              <a:t>–  </a:t>
            </a:r>
            <a:r>
              <a:rPr sz="1060">
                <a:solidFill>
                  <a:srgbClr val="44506A"/>
                </a:solidFill>
                <a:latin typeface="Inter"/>
              </a:rPr>
              <a:t>Acces direct a l'edition et a la suppression de chaque offre</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45936"/>
            <a:ext cx="91440" cy="91440"/>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1" i="0">
                <a:solidFill>
                  <a:srgbClr val="6D59E0"/>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recruteur/mes-offres.html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5_recruteur_mes_offre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28</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34699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6D59E0"/>
                </a:solidFill>
                <a:latin typeface="Inter"/>
              </a:rPr>
              <a:t>ESPACE RECRUTEUR</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Le pipeline de recrutement, en glisser-deposer</a:t>
            </a:r>
          </a:p>
        </p:txBody>
      </p:sp>
      <p:sp>
        <p:nvSpPr>
          <p:cNvPr id="6" name="Rounded Rectangle 5"/>
          <p:cNvSpPr/>
          <p:nvPr/>
        </p:nvSpPr>
        <p:spPr>
          <a:xfrm>
            <a:off x="548640" y="2011680"/>
            <a:ext cx="1742347"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Glisser-deposer natif</a:t>
            </a:r>
          </a:p>
        </p:txBody>
      </p:sp>
      <p:sp>
        <p:nvSpPr>
          <p:cNvPr id="7" name="Rounded Rectangle 6"/>
          <p:cNvSpPr/>
          <p:nvPr/>
        </p:nvSpPr>
        <p:spPr>
          <a:xfrm>
            <a:off x="2419003" y="2011680"/>
            <a:ext cx="1674183"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5 etapes de pipeline</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C'est la fonctionnalite la plus caracteristique du projet : chaque candidature devient une carte que le recruteur fait glisser d'une colonne de statut a l'autre — Recue, Preselection, Entretien, Offre envoyee, Embauchee — exactement comme un vrai outil de gestion de recrutement, et non une simple boite de reception d'e-mails. Chaque deplacement de carte declenche immediatement une mise a jour en base de donnees, visible instantanement du cote du candidat. Depuis cette meme interface, le recruteur peut ouvrir le detail d'une candidature, echanger des messages avec le candidat, et proposer plusieurs creneaux d'entretien en quelques clics.</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6D59E0"/>
                </a:solidFill>
                <a:latin typeface="Inter"/>
              </a:rPr>
              <a:t>–  </a:t>
            </a:r>
            <a:r>
              <a:rPr sz="1060">
                <a:solidFill>
                  <a:srgbClr val="44506A"/>
                </a:solidFill>
                <a:latin typeface="Inter"/>
              </a:rPr>
              <a:t>Glisser-deposer HTML5 natif, sans bibliotheque externe</a:t>
            </a:r>
          </a:p>
          <a:p>
            <a:pPr algn="l">
              <a:lnSpc>
                <a:spcPct val="116000"/>
              </a:lnSpc>
              <a:spcAft>
                <a:spcPts val="600"/>
              </a:spcAft>
            </a:pPr>
            <a:r>
              <a:rPr sz="1060" b="1">
                <a:solidFill>
                  <a:srgbClr val="6D59E0"/>
                </a:solidFill>
                <a:latin typeface="Inter"/>
              </a:rPr>
              <a:t>–  </a:t>
            </a:r>
            <a:r>
              <a:rPr sz="1060">
                <a:solidFill>
                  <a:srgbClr val="44506A"/>
                </a:solidFill>
                <a:latin typeface="Inter"/>
              </a:rPr>
              <a:t>Filtrage du pipeline par offre specifique</a:t>
            </a:r>
          </a:p>
          <a:p>
            <a:pPr algn="l">
              <a:lnSpc>
                <a:spcPct val="116000"/>
              </a:lnSpc>
              <a:spcAft>
                <a:spcPts val="600"/>
              </a:spcAft>
            </a:pPr>
            <a:r>
              <a:rPr sz="1060" b="1">
                <a:solidFill>
                  <a:srgbClr val="6D59E0"/>
                </a:solidFill>
                <a:latin typeface="Inter"/>
              </a:rPr>
              <a:t>–  </a:t>
            </a:r>
            <a:r>
              <a:rPr sz="1060">
                <a:solidFill>
                  <a:srgbClr val="44506A"/>
                </a:solidFill>
                <a:latin typeface="Inter"/>
              </a:rPr>
              <a:t>Planification d'entretiens avec plusieurs creneaux proposes</a:t>
            </a:r>
          </a:p>
          <a:p>
            <a:pPr algn="l">
              <a:lnSpc>
                <a:spcPct val="116000"/>
              </a:lnSpc>
              <a:spcAft>
                <a:spcPts val="600"/>
              </a:spcAft>
            </a:pPr>
            <a:r>
              <a:rPr sz="1060" b="1">
                <a:solidFill>
                  <a:srgbClr val="6D59E0"/>
                </a:solidFill>
                <a:latin typeface="Inter"/>
              </a:rPr>
              <a:t>–  </a:t>
            </a:r>
            <a:r>
              <a:rPr sz="1060">
                <a:solidFill>
                  <a:srgbClr val="44506A"/>
                </a:solidFill>
                <a:latin typeface="Inter"/>
              </a:rPr>
              <a:t>Messagerie et details de candidature dans une fenetre modale</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45936"/>
            <a:ext cx="91440" cy="91440"/>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1" i="0">
                <a:solidFill>
                  <a:srgbClr val="6D59E0"/>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recruteur/candidatures-recues.html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6_recruteur_kanban.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29</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346994"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6D59E0"/>
                </a:solidFill>
                <a:latin typeface="Inter"/>
              </a:rPr>
              <a:t>ESPACE RECRUTEUR</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Aller chercher le bon profil, pas seulement attendre</a:t>
            </a:r>
          </a:p>
        </p:txBody>
      </p:sp>
      <p:sp>
        <p:nvSpPr>
          <p:cNvPr id="6" name="Rounded Rectangle 5"/>
          <p:cNvSpPr/>
          <p:nvPr/>
        </p:nvSpPr>
        <p:spPr>
          <a:xfrm>
            <a:off x="548640" y="2011680"/>
            <a:ext cx="1537854"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CVtheque filtrable</a:t>
            </a:r>
          </a:p>
        </p:txBody>
      </p:sp>
      <p:sp>
        <p:nvSpPr>
          <p:cNvPr id="7" name="Rounded Rectangle 6"/>
          <p:cNvSpPr/>
          <p:nvPr/>
        </p:nvSpPr>
        <p:spPr>
          <a:xfrm>
            <a:off x="2214510" y="2011680"/>
            <a:ext cx="2764813" cy="274320"/>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6D59E0"/>
                </a:solidFill>
                <a:latin typeface="Inter"/>
              </a:rPr>
              <a:t>Competences verifiees mises en avant</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recrutement ne depend plus uniquement des candidatures recues passivement : le recruteur peut parcourir activement l'ensemble des profils candidats disponibles, filtrer par mot-cle, ville ou competence precise, et reperer en priorite les profils dont les competences ont ete verifiees par quiz — un signal de qualite immediatement visible dans les resultats de recherche.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6D59E0"/>
                </a:solidFill>
                <a:latin typeface="Inter"/>
              </a:rPr>
              <a:t>–  </a:t>
            </a:r>
            <a:r>
              <a:rPr sz="1060">
                <a:solidFill>
                  <a:srgbClr val="44506A"/>
                </a:solidFill>
                <a:latin typeface="Inter"/>
              </a:rPr>
              <a:t>Recherche par mot-cle, ville et competence specifique</a:t>
            </a:r>
          </a:p>
          <a:p>
            <a:pPr algn="l">
              <a:lnSpc>
                <a:spcPct val="116000"/>
              </a:lnSpc>
              <a:spcAft>
                <a:spcPts val="600"/>
              </a:spcAft>
            </a:pPr>
            <a:r>
              <a:rPr sz="1060" b="1">
                <a:solidFill>
                  <a:srgbClr val="6D59E0"/>
                </a:solidFill>
                <a:latin typeface="Inter"/>
              </a:rPr>
              <a:t>–  </a:t>
            </a:r>
            <a:r>
              <a:rPr sz="1060">
                <a:solidFill>
                  <a:srgbClr val="44506A"/>
                </a:solidFill>
                <a:latin typeface="Inter"/>
              </a:rPr>
              <a:t>Mise en evidence visuelle des competences verifiees</a:t>
            </a:r>
          </a:p>
          <a:p>
            <a:pPr algn="l">
              <a:lnSpc>
                <a:spcPct val="116000"/>
              </a:lnSpc>
              <a:spcAft>
                <a:spcPts val="600"/>
              </a:spcAft>
            </a:pPr>
            <a:r>
              <a:rPr sz="1060" b="1">
                <a:solidFill>
                  <a:srgbClr val="6D59E0"/>
                </a:solidFill>
                <a:latin typeface="Inter"/>
              </a:rPr>
              <a:t>–  </a:t>
            </a:r>
            <a:r>
              <a:rPr sz="1060">
                <a:solidFill>
                  <a:srgbClr val="44506A"/>
                </a:solidFill>
                <a:latin typeface="Inter"/>
              </a:rPr>
              <a:t>Acces direct au profil complet de chaque candidat</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45936"/>
            <a:ext cx="91440" cy="91440"/>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16936" y="6336792"/>
            <a:ext cx="1463040" cy="219456"/>
          </a:xfrm>
          <a:prstGeom prst="rect">
            <a:avLst/>
          </a:prstGeom>
          <a:noFill/>
        </p:spPr>
        <p:txBody>
          <a:bodyPr wrap="square" anchor="ctr" lIns="0" rIns="0" tIns="0" bIns="0">
            <a:noAutofit/>
          </a:bodyPr>
          <a:lstStyle/>
          <a:p>
            <a:pPr algn="l">
              <a:lnSpc>
                <a:spcPct val="100000"/>
              </a:lnSpc>
            </a:pPr>
            <a:r>
              <a:rPr sz="950" b="1" i="0">
                <a:solidFill>
                  <a:srgbClr val="6D59E0"/>
                </a:solidFill>
                <a:latin typeface="Inter"/>
              </a:rPr>
              <a:t>Recruteur</a:t>
            </a:r>
          </a:p>
        </p:txBody>
      </p:sp>
      <p:sp>
        <p:nvSpPr>
          <p:cNvPr id="16" name="Oval 15"/>
          <p:cNvSpPr/>
          <p:nvPr/>
        </p:nvSpPr>
        <p:spPr>
          <a:xfrm>
            <a:off x="407822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recruteur/rechercher-candidats.html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7_recruteur_recherche_candidat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30</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7269480" y="2148840"/>
            <a:ext cx="7772400" cy="7772400"/>
          </a:xfrm>
          <a:prstGeom prst="ellipse">
            <a:avLst/>
          </a:prstGeom>
          <a:solidFill>
            <a:srgbClr val="C9721E">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3657600" cy="3657600"/>
          </a:xfrm>
          <a:prstGeom prst="ellipse">
            <a:avLst/>
          </a:prstGeom>
          <a:solidFill>
            <a:srgbClr val="C9721E">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0" y="-1234440"/>
            <a:ext cx="7772400" cy="8686800"/>
          </a:xfrm>
          <a:prstGeom prst="rect">
            <a:avLst/>
          </a:prstGeom>
          <a:noFill/>
        </p:spPr>
        <p:txBody>
          <a:bodyPr wrap="none" anchor="t" lIns="0" rIns="0" tIns="0" bIns="0">
            <a:noAutofit/>
          </a:bodyPr>
          <a:lstStyle/>
          <a:p>
            <a:pPr algn="l">
              <a:lnSpc>
                <a:spcPct val="100000"/>
              </a:lnSpc>
            </a:pPr>
            <a:r>
              <a:rPr sz="46000" b="1" i="0">
                <a:solidFill>
                  <a:srgbClr val="C9721E">
                    <a:alpha val="9000"/>
                  </a:srgbClr>
                </a:solidFill>
                <a:latin typeface="Sora"/>
              </a:rPr>
              <a:t>IV</a:t>
            </a:r>
          </a:p>
        </p:txBody>
      </p:sp>
      <p:sp>
        <p:nvSpPr>
          <p:cNvPr id="5" name="Rounded Rectangle 4"/>
          <p:cNvSpPr/>
          <p:nvPr/>
        </p:nvSpPr>
        <p:spPr>
          <a:xfrm>
            <a:off x="868680" y="2148840"/>
            <a:ext cx="1169766"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PARTIE 5 / 6</a:t>
            </a:r>
          </a:p>
        </p:txBody>
      </p:sp>
      <p:sp>
        <p:nvSpPr>
          <p:cNvPr id="6" name="TextBox 5"/>
          <p:cNvSpPr txBox="1"/>
          <p:nvPr/>
        </p:nvSpPr>
        <p:spPr>
          <a:xfrm>
            <a:off x="822960" y="2606040"/>
            <a:ext cx="7955279" cy="1005840"/>
          </a:xfrm>
          <a:prstGeom prst="rect">
            <a:avLst/>
          </a:prstGeom>
          <a:noFill/>
        </p:spPr>
        <p:txBody>
          <a:bodyPr wrap="square" anchor="t" lIns="0" rIns="0" tIns="0" bIns="0">
            <a:noAutofit/>
          </a:bodyPr>
          <a:lstStyle/>
          <a:p>
            <a:pPr algn="l">
              <a:lnSpc>
                <a:spcPct val="100000"/>
              </a:lnSpc>
            </a:pPr>
            <a:r>
              <a:rPr sz="4400" b="1" i="0">
                <a:solidFill>
                  <a:srgbClr val="16233A"/>
                </a:solidFill>
                <a:latin typeface="Sora"/>
              </a:rPr>
              <a:t>Back-office Admin</a:t>
            </a:r>
          </a:p>
        </p:txBody>
      </p:sp>
      <p:sp>
        <p:nvSpPr>
          <p:cNvPr id="7" name="Rectangle 6"/>
          <p:cNvSpPr/>
          <p:nvPr/>
        </p:nvSpPr>
        <p:spPr>
          <a:xfrm>
            <a:off x="868680" y="3474720"/>
            <a:ext cx="1188720" cy="38100"/>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6949440" cy="914400"/>
          </a:xfrm>
          <a:prstGeom prst="rect">
            <a:avLst/>
          </a:prstGeom>
          <a:noFill/>
        </p:spPr>
        <p:txBody>
          <a:bodyPr wrap="square" anchor="t" lIns="0" rIns="0" tIns="0" bIns="0">
            <a:noAutofit/>
          </a:bodyPr>
          <a:lstStyle/>
          <a:p>
            <a:pPr algn="l">
              <a:lnSpc>
                <a:spcPct val="135000"/>
              </a:lnSpc>
            </a:pPr>
            <a:r>
              <a:rPr sz="1350" b="0" i="0">
                <a:solidFill>
                  <a:srgbClr val="44506A"/>
                </a:solidFill>
                <a:latin typeface="Inter"/>
              </a:rPr>
              <a:t>Aucune offre, aucun avis n'apparait publiquement sans validation — l'administration garde la qualite du marche sous controle.</a:t>
            </a:r>
          </a:p>
        </p:txBody>
      </p:sp>
      <p:sp>
        <p:nvSpPr>
          <p:cNvPr id="9" name="Rounded Rectangle 8"/>
          <p:cNvSpPr/>
          <p:nvPr/>
        </p:nvSpPr>
        <p:spPr>
          <a:xfrm>
            <a:off x="868680" y="4617720"/>
            <a:ext cx="1435608"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Tableau de bord</a:t>
            </a:r>
          </a:p>
        </p:txBody>
      </p:sp>
      <p:sp>
        <p:nvSpPr>
          <p:cNvPr id="10" name="Rounded Rectangle 9"/>
          <p:cNvSpPr/>
          <p:nvPr/>
        </p:nvSpPr>
        <p:spPr>
          <a:xfrm>
            <a:off x="2432304" y="4617720"/>
            <a:ext cx="1060704"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Moderation</a:t>
            </a:r>
          </a:p>
        </p:txBody>
      </p:sp>
      <p:sp>
        <p:nvSpPr>
          <p:cNvPr id="11" name="Rounded Rectangle 10"/>
          <p:cNvSpPr/>
          <p:nvPr/>
        </p:nvSpPr>
        <p:spPr>
          <a:xfrm>
            <a:off x="3621024" y="4617720"/>
            <a:ext cx="1210665"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Utilisateurs</a:t>
            </a:r>
          </a:p>
        </p:txBody>
      </p:sp>
      <p:sp>
        <p:nvSpPr>
          <p:cNvPr id="12" name="TextBox 11"/>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31</a:t>
            </a:r>
          </a:p>
        </p:txBody>
      </p:sp>
      <p:sp>
        <p:nvSpPr>
          <p:cNvPr id="13" name="Rectangle 12"/>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411750"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C9721E"/>
                </a:solidFill>
                <a:latin typeface="Inter"/>
              </a:rPr>
              <a:t>BACK-OFFICE ADMIN</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Une vue macro de toute la plateforme</a:t>
            </a:r>
          </a:p>
        </p:txBody>
      </p:sp>
      <p:sp>
        <p:nvSpPr>
          <p:cNvPr id="6" name="Rounded Rectangle 5"/>
          <p:cNvSpPr/>
          <p:nvPr/>
        </p:nvSpPr>
        <p:spPr>
          <a:xfrm>
            <a:off x="548640" y="2011680"/>
            <a:ext cx="1197032"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Chiffres cles</a:t>
            </a:r>
          </a:p>
        </p:txBody>
      </p:sp>
      <p:sp>
        <p:nvSpPr>
          <p:cNvPr id="7" name="Rounded Rectangle 6"/>
          <p:cNvSpPr/>
          <p:nvPr/>
        </p:nvSpPr>
        <p:spPr>
          <a:xfrm>
            <a:off x="1873688" y="2011680"/>
            <a:ext cx="1333361"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Revenus Premium</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Le tableau de bord administrateur agrege en un seul ecran l'ensemble des indicateurs vitaux de la plateforme : nombre total d'utilisateurs et d'entreprises, offres publiees face aux offres encore en attente de moderation, revenus generes par les abonnements Premium, et repartition des comptes par role. C'est le point de depart de toute decision de moderation ou de suivi de croissance.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C9721E"/>
                </a:solidFill>
                <a:latin typeface="Inter"/>
              </a:rPr>
              <a:t>–  </a:t>
            </a:r>
            <a:r>
              <a:rPr sz="1060">
                <a:solidFill>
                  <a:srgbClr val="44506A"/>
                </a:solidFill>
                <a:latin typeface="Inter"/>
              </a:rPr>
              <a:t>Compteurs utilisateurs, entreprises, offres publiees et en attente</a:t>
            </a:r>
          </a:p>
          <a:p>
            <a:pPr algn="l">
              <a:lnSpc>
                <a:spcPct val="116000"/>
              </a:lnSpc>
              <a:spcAft>
                <a:spcPts val="600"/>
              </a:spcAft>
            </a:pPr>
            <a:r>
              <a:rPr sz="1060" b="1">
                <a:solidFill>
                  <a:srgbClr val="C9721E"/>
                </a:solidFill>
                <a:latin typeface="Inter"/>
              </a:rPr>
              <a:t>–  </a:t>
            </a:r>
            <a:r>
              <a:rPr sz="1060">
                <a:solidFill>
                  <a:srgbClr val="44506A"/>
                </a:solidFill>
                <a:latin typeface="Inter"/>
              </a:rPr>
              <a:t>Revenus cumules issus des abonnements Premium</a:t>
            </a:r>
          </a:p>
          <a:p>
            <a:pPr algn="l">
              <a:lnSpc>
                <a:spcPct val="116000"/>
              </a:lnSpc>
              <a:spcAft>
                <a:spcPts val="600"/>
              </a:spcAft>
            </a:pPr>
            <a:r>
              <a:rPr sz="1060" b="1">
                <a:solidFill>
                  <a:srgbClr val="C9721E"/>
                </a:solidFill>
                <a:latin typeface="Inter"/>
              </a:rPr>
              <a:t>–  </a:t>
            </a:r>
            <a:r>
              <a:rPr sz="1060">
                <a:solidFill>
                  <a:srgbClr val="44506A"/>
                </a:solidFill>
                <a:latin typeface="Inter"/>
              </a:rPr>
              <a:t>Repartition des comptes par role (candidat / recruteur / admin)</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407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55364" y="6345936"/>
            <a:ext cx="91440" cy="91440"/>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1" i="0">
                <a:solidFill>
                  <a:srgbClr val="C9721E"/>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admin/dashboard.html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8_admin_dashboard.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32</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411750"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C9721E"/>
                </a:solidFill>
                <a:latin typeface="Inter"/>
              </a:rPr>
              <a:t>BACK-OFFICE ADMIN</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Rien n'est public sans validation prealable</a:t>
            </a:r>
          </a:p>
        </p:txBody>
      </p:sp>
      <p:sp>
        <p:nvSpPr>
          <p:cNvPr id="6" name="Rounded Rectangle 5"/>
          <p:cNvSpPr/>
          <p:nvPr/>
        </p:nvSpPr>
        <p:spPr>
          <a:xfrm>
            <a:off x="548640" y="2011680"/>
            <a:ext cx="1265197"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File d'attente</a:t>
            </a:r>
          </a:p>
        </p:txBody>
      </p:sp>
      <p:sp>
        <p:nvSpPr>
          <p:cNvPr id="7" name="Rounded Rectangle 6"/>
          <p:cNvSpPr/>
          <p:nvPr/>
        </p:nvSpPr>
        <p:spPr>
          <a:xfrm>
            <a:off x="1941853" y="2011680"/>
            <a:ext cx="1606018"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Approuver / rejeter</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Toute offre nouvellement publiee ou modifiee par un recruteur transite obligatoirement par cette file de moderation avant de devenir visible sur les pages publiques. L'administrateur peut approuver ou rejeter chaque offre individuellement, garantissant que le contenu affiche aux candidats respecte un niveau de qualite minimal — cette meme logique de moderation s'applique aussi aux avis deposes sur les entreprises.</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C9721E"/>
                </a:solidFill>
                <a:latin typeface="Inter"/>
              </a:rPr>
              <a:t>–  </a:t>
            </a:r>
            <a:r>
              <a:rPr sz="1060">
                <a:solidFill>
                  <a:srgbClr val="44506A"/>
                </a:solidFill>
                <a:latin typeface="Inter"/>
              </a:rPr>
              <a:t>File d'attente des offres en attente d'approbation</a:t>
            </a:r>
          </a:p>
          <a:p>
            <a:pPr algn="l">
              <a:lnSpc>
                <a:spcPct val="116000"/>
              </a:lnSpc>
              <a:spcAft>
                <a:spcPts val="600"/>
              </a:spcAft>
            </a:pPr>
            <a:r>
              <a:rPr sz="1060" b="1">
                <a:solidFill>
                  <a:srgbClr val="C9721E"/>
                </a:solidFill>
                <a:latin typeface="Inter"/>
              </a:rPr>
              <a:t>–  </a:t>
            </a:r>
            <a:r>
              <a:rPr sz="1060">
                <a:solidFill>
                  <a:srgbClr val="44506A"/>
                </a:solidFill>
                <a:latin typeface="Inter"/>
              </a:rPr>
              <a:t>Approbation ou rejet en un clic, avec mise a jour immediate</a:t>
            </a:r>
          </a:p>
          <a:p>
            <a:pPr algn="l">
              <a:lnSpc>
                <a:spcPct val="116000"/>
              </a:lnSpc>
              <a:spcAft>
                <a:spcPts val="600"/>
              </a:spcAft>
            </a:pPr>
            <a:r>
              <a:rPr sz="1060" b="1">
                <a:solidFill>
                  <a:srgbClr val="C9721E"/>
                </a:solidFill>
                <a:latin typeface="Inter"/>
              </a:rPr>
              <a:t>–  </a:t>
            </a:r>
            <a:r>
              <a:rPr sz="1060">
                <a:solidFill>
                  <a:srgbClr val="44506A"/>
                </a:solidFill>
                <a:latin typeface="Inter"/>
              </a:rPr>
              <a:t>La meme logique protege egalement les avis d'entreprise</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407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55364" y="6345936"/>
            <a:ext cx="91440" cy="91440"/>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1" i="0">
                <a:solidFill>
                  <a:srgbClr val="C9721E"/>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admin/moderation.html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19_admin_moderation.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33</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384048"/>
            <a:ext cx="1411750"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C9721E"/>
                </a:solidFill>
                <a:latin typeface="Inter"/>
              </a:rPr>
              <a:t>BACK-OFFICE ADMIN</a:t>
            </a:r>
          </a:p>
        </p:txBody>
      </p:sp>
      <p:sp>
        <p:nvSpPr>
          <p:cNvPr id="5" name="TextBox 4"/>
          <p:cNvSpPr txBox="1"/>
          <p:nvPr/>
        </p:nvSpPr>
        <p:spPr>
          <a:xfrm>
            <a:off x="548640" y="786384"/>
            <a:ext cx="4709160" cy="1005840"/>
          </a:xfrm>
          <a:prstGeom prst="rect">
            <a:avLst/>
          </a:prstGeom>
          <a:noFill/>
        </p:spPr>
        <p:txBody>
          <a:bodyPr wrap="square" anchor="t" lIns="0" rIns="0" tIns="0" bIns="0">
            <a:noAutofit/>
          </a:bodyPr>
          <a:lstStyle/>
          <a:p>
            <a:pPr algn="l">
              <a:lnSpc>
                <a:spcPct val="103000"/>
              </a:lnSpc>
            </a:pPr>
            <a:r>
              <a:rPr sz="2400" b="1" i="0">
                <a:solidFill>
                  <a:srgbClr val="16233A"/>
                </a:solidFill>
                <a:latin typeface="Sora"/>
              </a:rPr>
              <a:t>Controle total sur les comptes utilisateurs</a:t>
            </a:r>
          </a:p>
        </p:txBody>
      </p:sp>
      <p:sp>
        <p:nvSpPr>
          <p:cNvPr id="6" name="Rounded Rectangle 5"/>
          <p:cNvSpPr/>
          <p:nvPr/>
        </p:nvSpPr>
        <p:spPr>
          <a:xfrm>
            <a:off x="548640" y="2011680"/>
            <a:ext cx="1401525"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Tous les comptes</a:t>
            </a:r>
          </a:p>
        </p:txBody>
      </p:sp>
      <p:sp>
        <p:nvSpPr>
          <p:cNvPr id="7" name="Rounded Rectangle 6"/>
          <p:cNvSpPr/>
          <p:nvPr/>
        </p:nvSpPr>
        <p:spPr>
          <a:xfrm>
            <a:off x="2078181" y="2011680"/>
            <a:ext cx="1742347" cy="274320"/>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C9721E"/>
                </a:solidFill>
                <a:latin typeface="Inter"/>
              </a:rPr>
              <a:t>Blocage / suppression</a:t>
            </a:r>
          </a:p>
        </p:txBody>
      </p:sp>
      <p:sp>
        <p:nvSpPr>
          <p:cNvPr id="8" name="TextBox 7"/>
          <p:cNvSpPr txBox="1"/>
          <p:nvPr/>
        </p:nvSpPr>
        <p:spPr>
          <a:xfrm>
            <a:off x="548640" y="2487168"/>
            <a:ext cx="4709160" cy="2148840"/>
          </a:xfrm>
          <a:prstGeom prst="rect">
            <a:avLst/>
          </a:prstGeom>
          <a:noFill/>
        </p:spPr>
        <p:txBody>
          <a:bodyPr wrap="square" anchor="t" lIns="0" rIns="0" tIns="0" bIns="0">
            <a:noAutofit/>
          </a:bodyPr>
          <a:lstStyle/>
          <a:p>
            <a:pPr algn="l">
              <a:lnSpc>
                <a:spcPct val="132000"/>
              </a:lnSpc>
            </a:pPr>
            <a:r>
              <a:rPr sz="1130" b="0" i="0">
                <a:solidFill>
                  <a:srgbClr val="44506A"/>
                </a:solidFill>
                <a:latin typeface="Inter"/>
              </a:rPr>
              <a:t>L'administrateur dispose d'une vue complete sur l'ensemble des comptes de la plateforme — candidats, recruteurs et administrateurs — avec la possibilite de bloquer temporairement un compte problematique ou de le supprimer definitivement. Un compte bloque ne peut plus se connecter, sans que ses donnees ne soient perdues, ce qui laisse une marge de manoeuvre avant une suppression irreversible.</a:t>
            </a:r>
          </a:p>
        </p:txBody>
      </p:sp>
      <p:sp>
        <p:nvSpPr>
          <p:cNvPr id="9" name="TextBox 8"/>
          <p:cNvSpPr txBox="1"/>
          <p:nvPr/>
        </p:nvSpPr>
        <p:spPr>
          <a:xfrm>
            <a:off x="548640" y="4636008"/>
            <a:ext cx="4709160" cy="1737360"/>
          </a:xfrm>
          <a:prstGeom prst="rect">
            <a:avLst/>
          </a:prstGeom>
          <a:noFill/>
        </p:spPr>
        <p:txBody>
          <a:bodyPr wrap="square" lIns="0" rIns="0" tIns="0" bIns="0">
            <a:noAutofit/>
          </a:bodyPr>
          <a:lstStyle/>
          <a:p>
            <a:pPr algn="l">
              <a:lnSpc>
                <a:spcPct val="116000"/>
              </a:lnSpc>
              <a:spcAft>
                <a:spcPts val="600"/>
              </a:spcAft>
            </a:pPr>
            <a:r>
              <a:rPr sz="1060" b="1">
                <a:solidFill>
                  <a:srgbClr val="C9721E"/>
                </a:solidFill>
                <a:latin typeface="Inter"/>
              </a:rPr>
              <a:t>–  </a:t>
            </a:r>
            <a:r>
              <a:rPr sz="1060">
                <a:solidFill>
                  <a:srgbClr val="44506A"/>
                </a:solidFill>
                <a:latin typeface="Inter"/>
              </a:rPr>
              <a:t>Vue d'ensemble de tous les comptes, tous roles confondus</a:t>
            </a:r>
          </a:p>
          <a:p>
            <a:pPr algn="l">
              <a:lnSpc>
                <a:spcPct val="116000"/>
              </a:lnSpc>
              <a:spcAft>
                <a:spcPts val="600"/>
              </a:spcAft>
            </a:pPr>
            <a:r>
              <a:rPr sz="1060" b="1">
                <a:solidFill>
                  <a:srgbClr val="C9721E"/>
                </a:solidFill>
                <a:latin typeface="Inter"/>
              </a:rPr>
              <a:t>–  </a:t>
            </a:r>
            <a:r>
              <a:rPr sz="1060">
                <a:solidFill>
                  <a:srgbClr val="44506A"/>
                </a:solidFill>
                <a:latin typeface="Inter"/>
              </a:rPr>
              <a:t>Blocage reversible ou suppression definitive d'un compte</a:t>
            </a:r>
          </a:p>
          <a:p>
            <a:pPr algn="l">
              <a:lnSpc>
                <a:spcPct val="116000"/>
              </a:lnSpc>
              <a:spcAft>
                <a:spcPts val="600"/>
              </a:spcAft>
            </a:pPr>
            <a:r>
              <a:rPr sz="1060" b="1">
                <a:solidFill>
                  <a:srgbClr val="C9721E"/>
                </a:solidFill>
                <a:latin typeface="Inter"/>
              </a:rPr>
              <a:t>–  </a:t>
            </a:r>
            <a:r>
              <a:rPr sz="1060">
                <a:solidFill>
                  <a:srgbClr val="44506A"/>
                </a:solidFill>
                <a:latin typeface="Inter"/>
              </a:rPr>
              <a:t>Filtrage rapide par role pour la gestion au quotidien</a:t>
            </a:r>
          </a:p>
        </p:txBody>
      </p:sp>
      <p:sp>
        <p:nvSpPr>
          <p:cNvPr id="10" name="Oval 9"/>
          <p:cNvSpPr/>
          <p:nvPr/>
        </p:nvSpPr>
        <p:spPr>
          <a:xfrm>
            <a:off x="548640"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Public</a:t>
            </a:r>
          </a:p>
        </p:txBody>
      </p:sp>
      <p:sp>
        <p:nvSpPr>
          <p:cNvPr id="12" name="Oval 11"/>
          <p:cNvSpPr/>
          <p:nvPr/>
        </p:nvSpPr>
        <p:spPr>
          <a:xfrm>
            <a:off x="1549908"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Candidat</a:t>
            </a:r>
          </a:p>
        </p:txBody>
      </p:sp>
      <p:sp>
        <p:nvSpPr>
          <p:cNvPr id="14" name="Oval 13"/>
          <p:cNvSpPr/>
          <p:nvPr/>
        </p:nvSpPr>
        <p:spPr>
          <a:xfrm>
            <a:off x="2752344" y="6357366"/>
            <a:ext cx="68580" cy="68580"/>
          </a:xfrm>
          <a:prstGeom prst="ellipse">
            <a:avLst/>
          </a:prstGeom>
          <a:solidFill>
            <a:srgbClr val="7A879C">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4076" y="6336792"/>
            <a:ext cx="1463040" cy="219456"/>
          </a:xfrm>
          <a:prstGeom prst="rect">
            <a:avLst/>
          </a:prstGeom>
          <a:noFill/>
        </p:spPr>
        <p:txBody>
          <a:bodyPr wrap="square" anchor="ctr" lIns="0" rIns="0" tIns="0" bIns="0">
            <a:noAutofit/>
          </a:bodyPr>
          <a:lstStyle/>
          <a:p>
            <a:pPr algn="l">
              <a:lnSpc>
                <a:spcPct val="100000"/>
              </a:lnSpc>
            </a:pPr>
            <a:r>
              <a:rPr sz="950" b="0" i="0">
                <a:solidFill>
                  <a:srgbClr val="7A879C"/>
                </a:solidFill>
                <a:latin typeface="Inter"/>
              </a:rPr>
              <a:t>Recruteur</a:t>
            </a:r>
          </a:p>
        </p:txBody>
      </p:sp>
      <p:sp>
        <p:nvSpPr>
          <p:cNvPr id="16" name="Oval 15"/>
          <p:cNvSpPr/>
          <p:nvPr/>
        </p:nvSpPr>
        <p:spPr>
          <a:xfrm>
            <a:off x="4055364" y="6345936"/>
            <a:ext cx="91440" cy="91440"/>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956" y="6336792"/>
            <a:ext cx="1463040" cy="219456"/>
          </a:xfrm>
          <a:prstGeom prst="rect">
            <a:avLst/>
          </a:prstGeom>
          <a:noFill/>
        </p:spPr>
        <p:txBody>
          <a:bodyPr wrap="square" anchor="ctr" lIns="0" rIns="0" tIns="0" bIns="0">
            <a:noAutofit/>
          </a:bodyPr>
          <a:lstStyle/>
          <a:p>
            <a:pPr algn="l">
              <a:lnSpc>
                <a:spcPct val="100000"/>
              </a:lnSpc>
            </a:pPr>
            <a:r>
              <a:rPr sz="950" b="1" i="0">
                <a:solidFill>
                  <a:srgbClr val="C9721E"/>
                </a:solidFill>
                <a:latin typeface="Inter"/>
              </a:rPr>
              <a:t>Admin</a:t>
            </a:r>
          </a:p>
        </p:txBody>
      </p:sp>
      <p:sp>
        <p:nvSpPr>
          <p:cNvPr id="18" name="Rounded Rectangle 17"/>
          <p:cNvSpPr/>
          <p:nvPr/>
        </p:nvSpPr>
        <p:spPr>
          <a:xfrm>
            <a:off x="5440680" y="932688"/>
            <a:ext cx="6263640" cy="4394835"/>
          </a:xfrm>
          <a:prstGeom prst="roundRect">
            <a:avLst>
              <a:gd name="adj" fmla="val 3000"/>
            </a:avLst>
          </a:prstGeom>
          <a:solidFill>
            <a:srgbClr val="FFFFFF"/>
          </a:solidFill>
          <a:ln w="12700">
            <a:solidFill>
              <a:srgbClr val="DFE4EA"/>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41848" y="1083564"/>
            <a:ext cx="82296" cy="82296"/>
          </a:xfrm>
          <a:prstGeom prst="ellipse">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24728" y="932688"/>
            <a:ext cx="5715000" cy="384048"/>
          </a:xfrm>
          <a:prstGeom prst="rect">
            <a:avLst/>
          </a:prstGeom>
          <a:noFill/>
        </p:spPr>
        <p:txBody>
          <a:bodyPr wrap="square" anchor="ctr" lIns="0" rIns="0" tIns="0" bIns="0">
            <a:noAutofit/>
          </a:bodyPr>
          <a:lstStyle/>
          <a:p>
            <a:pPr algn="l">
              <a:lnSpc>
                <a:spcPct val="100000"/>
              </a:lnSpc>
            </a:pPr>
            <a:r>
              <a:rPr sz="1050" b="0" i="0">
                <a:solidFill>
                  <a:srgbClr val="7A879C"/>
                </a:solidFill>
                <a:latin typeface="Consolas"/>
              </a:rPr>
              <a:t>neojob.ma / admin/utilisateurs.html</a:t>
            </a:r>
          </a:p>
        </p:txBody>
      </p:sp>
      <p:sp>
        <p:nvSpPr>
          <p:cNvPr id="21" name="Rectangle 20"/>
          <p:cNvSpPr/>
          <p:nvPr/>
        </p:nvSpPr>
        <p:spPr>
          <a:xfrm>
            <a:off x="5568696" y="1316736"/>
            <a:ext cx="6007608"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20_admin_utilisateurs.png"/>
          <p:cNvPicPr>
            <a:picLocks noChangeAspect="1"/>
          </p:cNvPicPr>
          <p:nvPr/>
        </p:nvPicPr>
        <p:blipFill>
          <a:blip r:embed="rId2"/>
          <a:stretch>
            <a:fillRect/>
          </a:stretch>
        </p:blipFill>
        <p:spPr>
          <a:xfrm>
            <a:off x="5568696" y="1444752"/>
            <a:ext cx="6007608" cy="3754755"/>
          </a:xfrm>
          <a:prstGeom prst="roundRect">
            <a:avLst>
              <a:gd name="adj" fmla="val 2000"/>
            </a:avLst>
          </a:prstGeom>
        </p:spPr>
      </p:pic>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34</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742347" cy="310896"/>
          </a:xfrm>
          <a:prstGeom prst="roundRect">
            <a:avLst>
              <a:gd name="adj" fmla="val 50000"/>
            </a:avLst>
          </a:prstGeom>
          <a:solidFill>
            <a:srgbClr val="16233A">
              <a:alpha val="10000"/>
            </a:srgbClr>
          </a:solidFill>
          <a:ln w="12700">
            <a:solidFill>
              <a:srgbClr val="16233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16233A"/>
                </a:solidFill>
                <a:latin typeface="Inter"/>
              </a:rPr>
              <a:t>CHOIX TECHNOLOGIQUES</a:t>
            </a:r>
          </a:p>
        </p:txBody>
      </p:sp>
      <p:sp>
        <p:nvSpPr>
          <p:cNvPr id="5" name="TextBox 4"/>
          <p:cNvSpPr txBox="1"/>
          <p:nvPr/>
        </p:nvSpPr>
        <p:spPr>
          <a:xfrm>
            <a:off x="822960" y="914400"/>
            <a:ext cx="9875520" cy="594360"/>
          </a:xfrm>
          <a:prstGeom prst="rect">
            <a:avLst/>
          </a:prstGeom>
          <a:noFill/>
        </p:spPr>
        <p:txBody>
          <a:bodyPr wrap="square" anchor="t" lIns="0" rIns="0" tIns="0" bIns="0">
            <a:noAutofit/>
          </a:bodyPr>
          <a:lstStyle/>
          <a:p>
            <a:pPr algn="l">
              <a:lnSpc>
                <a:spcPct val="100000"/>
              </a:lnSpc>
            </a:pPr>
            <a:r>
              <a:rPr sz="2500" b="1" i="0">
                <a:solidFill>
                  <a:srgbClr val="16233A"/>
                </a:solidFill>
                <a:latin typeface="Sora"/>
              </a:rPr>
              <a:t>Pourquoi ces technologies, precisement</a:t>
            </a:r>
          </a:p>
        </p:txBody>
      </p:sp>
      <p:sp>
        <p:nvSpPr>
          <p:cNvPr id="6" name="TextBox 5"/>
          <p:cNvSpPr txBox="1"/>
          <p:nvPr/>
        </p:nvSpPr>
        <p:spPr>
          <a:xfrm>
            <a:off x="822960" y="1554480"/>
            <a:ext cx="10332720" cy="822960"/>
          </a:xfrm>
          <a:prstGeom prst="rect">
            <a:avLst/>
          </a:prstGeom>
          <a:noFill/>
        </p:spPr>
        <p:txBody>
          <a:bodyPr wrap="square" anchor="t" lIns="0" rIns="0" tIns="0" bIns="0">
            <a:noAutofit/>
          </a:bodyPr>
          <a:lstStyle/>
          <a:p>
            <a:pPr algn="l">
              <a:lnSpc>
                <a:spcPct val="135000"/>
              </a:lnSpc>
            </a:pPr>
            <a:r>
              <a:rPr sz="1250" b="0" i="0">
                <a:solidFill>
                  <a:srgbClr val="44506A"/>
                </a:solidFill>
                <a:latin typeface="Inter"/>
              </a:rPr>
              <a:t>Chaque brique technique a ete choisie pour une raison concrete, pas par defaut — voici la justification derriere chacune d'elles.</a:t>
            </a:r>
          </a:p>
        </p:txBody>
      </p:sp>
      <p:sp>
        <p:nvSpPr>
          <p:cNvPr id="7" name="Rectangle 6"/>
          <p:cNvSpPr/>
          <p:nvPr/>
        </p:nvSpPr>
        <p:spPr>
          <a:xfrm>
            <a:off x="822960" y="2560320"/>
            <a:ext cx="82296" cy="566928"/>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514600"/>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Structure / style</a:t>
            </a:r>
          </a:p>
        </p:txBody>
      </p:sp>
      <p:sp>
        <p:nvSpPr>
          <p:cNvPr id="9" name="TextBox 8"/>
          <p:cNvSpPr txBox="1"/>
          <p:nvPr/>
        </p:nvSpPr>
        <p:spPr>
          <a:xfrm>
            <a:off x="3246120" y="2514600"/>
            <a:ext cx="2468880" cy="640080"/>
          </a:xfrm>
          <a:prstGeom prst="rect">
            <a:avLst/>
          </a:prstGeom>
          <a:noFill/>
        </p:spPr>
        <p:txBody>
          <a:bodyPr wrap="square" anchor="t" lIns="0" rIns="0" tIns="0" bIns="0">
            <a:noAutofit/>
          </a:bodyPr>
          <a:lstStyle/>
          <a:p>
            <a:pPr algn="l">
              <a:lnSpc>
                <a:spcPct val="115000"/>
              </a:lnSpc>
            </a:pPr>
            <a:r>
              <a:rPr sz="1050" b="1" i="0">
                <a:solidFill>
                  <a:srgbClr val="2F6FE0"/>
                </a:solidFill>
                <a:latin typeface="Consolas"/>
              </a:rPr>
              <a:t>HTML5, CSS3, Bootstrap 5</a:t>
            </a:r>
          </a:p>
        </p:txBody>
      </p:sp>
      <p:sp>
        <p:nvSpPr>
          <p:cNvPr id="10" name="TextBox 9"/>
          <p:cNvSpPr txBox="1"/>
          <p:nvPr/>
        </p:nvSpPr>
        <p:spPr>
          <a:xfrm>
            <a:off x="5806440" y="2514600"/>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Mise en page responsive rapide a produire sur ~30 pages ; composants prets a l'emploi (modales, menus deroulants) qui evitent de reecrire l'UI de base a chaque page.</a:t>
            </a:r>
          </a:p>
        </p:txBody>
      </p:sp>
      <p:sp>
        <p:nvSpPr>
          <p:cNvPr id="11" name="Rectangle 10"/>
          <p:cNvSpPr/>
          <p:nvPr/>
        </p:nvSpPr>
        <p:spPr>
          <a:xfrm>
            <a:off x="822960" y="3218688"/>
            <a:ext cx="82296" cy="566928"/>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172968"/>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Interactivite</a:t>
            </a:r>
          </a:p>
        </p:txBody>
      </p:sp>
      <p:sp>
        <p:nvSpPr>
          <p:cNvPr id="13" name="TextBox 12"/>
          <p:cNvSpPr txBox="1"/>
          <p:nvPr/>
        </p:nvSpPr>
        <p:spPr>
          <a:xfrm>
            <a:off x="3246120" y="3172968"/>
            <a:ext cx="2468880" cy="640080"/>
          </a:xfrm>
          <a:prstGeom prst="rect">
            <a:avLst/>
          </a:prstGeom>
          <a:noFill/>
        </p:spPr>
        <p:txBody>
          <a:bodyPr wrap="square" anchor="t" lIns="0" rIns="0" tIns="0" bIns="0">
            <a:noAutofit/>
          </a:bodyPr>
          <a:lstStyle/>
          <a:p>
            <a:pPr algn="l">
              <a:lnSpc>
                <a:spcPct val="115000"/>
              </a:lnSpc>
            </a:pPr>
            <a:r>
              <a:rPr sz="1050" b="1" i="0">
                <a:solidFill>
                  <a:srgbClr val="0E8F6B"/>
                </a:solidFill>
                <a:latin typeface="Consolas"/>
              </a:rPr>
              <a:t>JavaScript ES6+ (vanilla)</a:t>
            </a:r>
          </a:p>
        </p:txBody>
      </p:sp>
      <p:sp>
        <p:nvSpPr>
          <p:cNvPr id="14" name="TextBox 13"/>
          <p:cNvSpPr txBox="1"/>
          <p:nvPr/>
        </p:nvSpPr>
        <p:spPr>
          <a:xfrm>
            <a:off x="5806440" y="3172968"/>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Aucune dependance a un framework lourd (React, Vue) : suffisant pour la complexite reelle des pages, et coherent avec l'approche « interface d'abord » adoptee des le depart du projet.</a:t>
            </a:r>
          </a:p>
        </p:txBody>
      </p:sp>
      <p:sp>
        <p:nvSpPr>
          <p:cNvPr id="15" name="Rectangle 14"/>
          <p:cNvSpPr/>
          <p:nvPr/>
        </p:nvSpPr>
        <p:spPr>
          <a:xfrm>
            <a:off x="822960" y="3877056"/>
            <a:ext cx="82296" cy="566928"/>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831336"/>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Serveur applicatif</a:t>
            </a:r>
          </a:p>
        </p:txBody>
      </p:sp>
      <p:sp>
        <p:nvSpPr>
          <p:cNvPr id="17" name="TextBox 16"/>
          <p:cNvSpPr txBox="1"/>
          <p:nvPr/>
        </p:nvSpPr>
        <p:spPr>
          <a:xfrm>
            <a:off x="3246120" y="3831336"/>
            <a:ext cx="2468880" cy="640080"/>
          </a:xfrm>
          <a:prstGeom prst="rect">
            <a:avLst/>
          </a:prstGeom>
          <a:noFill/>
        </p:spPr>
        <p:txBody>
          <a:bodyPr wrap="square" anchor="t" lIns="0" rIns="0" tIns="0" bIns="0">
            <a:noAutofit/>
          </a:bodyPr>
          <a:lstStyle/>
          <a:p>
            <a:pPr algn="l">
              <a:lnSpc>
                <a:spcPct val="115000"/>
              </a:lnSpc>
            </a:pPr>
            <a:r>
              <a:rPr sz="1050" b="1" i="0">
                <a:solidFill>
                  <a:srgbClr val="6D59E0"/>
                </a:solidFill>
                <a:latin typeface="Consolas"/>
              </a:rPr>
              <a:t>PHP 8</a:t>
            </a:r>
          </a:p>
        </p:txBody>
      </p:sp>
      <p:sp>
        <p:nvSpPr>
          <p:cNvPr id="18" name="TextBox 17"/>
          <p:cNvSpPr txBox="1"/>
          <p:nvPr/>
        </p:nvSpPr>
        <p:spPr>
          <a:xfrm>
            <a:off x="5806440" y="3831336"/>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Largement disponible via XAMPP, tres bonne prise en charge native de PDO, et une courbe d'apprentissage adaptee au contexte du projet.</a:t>
            </a:r>
          </a:p>
        </p:txBody>
      </p:sp>
      <p:sp>
        <p:nvSpPr>
          <p:cNvPr id="19" name="Rectangle 18"/>
          <p:cNvSpPr/>
          <p:nvPr/>
        </p:nvSpPr>
        <p:spPr>
          <a:xfrm>
            <a:off x="822960" y="4535424"/>
            <a:ext cx="82296" cy="566928"/>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4489704"/>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Base de donnees</a:t>
            </a:r>
          </a:p>
        </p:txBody>
      </p:sp>
      <p:sp>
        <p:nvSpPr>
          <p:cNvPr id="21" name="TextBox 20"/>
          <p:cNvSpPr txBox="1"/>
          <p:nvPr/>
        </p:nvSpPr>
        <p:spPr>
          <a:xfrm>
            <a:off x="3246120" y="4489704"/>
            <a:ext cx="2468880" cy="640080"/>
          </a:xfrm>
          <a:prstGeom prst="rect">
            <a:avLst/>
          </a:prstGeom>
          <a:noFill/>
        </p:spPr>
        <p:txBody>
          <a:bodyPr wrap="square" anchor="t" lIns="0" rIns="0" tIns="0" bIns="0">
            <a:noAutofit/>
          </a:bodyPr>
          <a:lstStyle/>
          <a:p>
            <a:pPr algn="l">
              <a:lnSpc>
                <a:spcPct val="115000"/>
              </a:lnSpc>
            </a:pPr>
            <a:r>
              <a:rPr sz="1050" b="1" i="0">
                <a:solidFill>
                  <a:srgbClr val="C9721E"/>
                </a:solidFill>
                <a:latin typeface="Consolas"/>
              </a:rPr>
              <a:t>MySQL / MariaDB</a:t>
            </a:r>
          </a:p>
        </p:txBody>
      </p:sp>
      <p:sp>
        <p:nvSpPr>
          <p:cNvPr id="22" name="TextBox 21"/>
          <p:cNvSpPr txBox="1"/>
          <p:nvPr/>
        </p:nvSpPr>
        <p:spPr>
          <a:xfrm>
            <a:off x="5806440" y="4489704"/>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SGBD relationnel standard, coherent avec un schema normalise et des besoins transactionnels reels (inscription, candidature multi-tables).</a:t>
            </a:r>
          </a:p>
        </p:txBody>
      </p:sp>
      <p:sp>
        <p:nvSpPr>
          <p:cNvPr id="23" name="Rectangle 22"/>
          <p:cNvSpPr/>
          <p:nvPr/>
        </p:nvSpPr>
        <p:spPr>
          <a:xfrm>
            <a:off x="822960" y="5193792"/>
            <a:ext cx="82296" cy="566928"/>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5148072"/>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Securite mots de passe</a:t>
            </a:r>
          </a:p>
        </p:txBody>
      </p:sp>
      <p:sp>
        <p:nvSpPr>
          <p:cNvPr id="25" name="TextBox 24"/>
          <p:cNvSpPr txBox="1"/>
          <p:nvPr/>
        </p:nvSpPr>
        <p:spPr>
          <a:xfrm>
            <a:off x="3246120" y="5148072"/>
            <a:ext cx="2468880" cy="640080"/>
          </a:xfrm>
          <a:prstGeom prst="rect">
            <a:avLst/>
          </a:prstGeom>
          <a:noFill/>
        </p:spPr>
        <p:txBody>
          <a:bodyPr wrap="square" anchor="t" lIns="0" rIns="0" tIns="0" bIns="0">
            <a:noAutofit/>
          </a:bodyPr>
          <a:lstStyle/>
          <a:p>
            <a:pPr algn="l">
              <a:lnSpc>
                <a:spcPct val="115000"/>
              </a:lnSpc>
            </a:pPr>
            <a:r>
              <a:rPr sz="1050" b="1" i="0">
                <a:solidFill>
                  <a:srgbClr val="2F6FE0"/>
                </a:solidFill>
                <a:latin typeface="Consolas"/>
              </a:rPr>
              <a:t>bcrypt (password_hash / password_verify)</a:t>
            </a:r>
          </a:p>
        </p:txBody>
      </p:sp>
      <p:sp>
        <p:nvSpPr>
          <p:cNvPr id="26" name="TextBox 25"/>
          <p:cNvSpPr txBox="1"/>
          <p:nvPr/>
        </p:nvSpPr>
        <p:spPr>
          <a:xfrm>
            <a:off x="5806440" y="5148072"/>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Fonction de hachage a salage automatique, recommandee par la documentation officielle de PHP — jamais de mot de passe stocke en clair.</a:t>
            </a:r>
          </a:p>
        </p:txBody>
      </p:sp>
      <p:sp>
        <p:nvSpPr>
          <p:cNvPr id="27" name="Rectangle 26"/>
          <p:cNvSpPr/>
          <p:nvPr/>
        </p:nvSpPr>
        <p:spPr>
          <a:xfrm>
            <a:off x="822960" y="5852160"/>
            <a:ext cx="82296" cy="566928"/>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4128" y="5806440"/>
            <a:ext cx="2148840" cy="640080"/>
          </a:xfrm>
          <a:prstGeom prst="rect">
            <a:avLst/>
          </a:prstGeom>
          <a:noFill/>
        </p:spPr>
        <p:txBody>
          <a:bodyPr wrap="square" anchor="t" lIns="0" rIns="0" tIns="0" bIns="0">
            <a:noAutofit/>
          </a:bodyPr>
          <a:lstStyle/>
          <a:p>
            <a:pPr algn="l">
              <a:lnSpc>
                <a:spcPct val="110000"/>
              </a:lnSpc>
            </a:pPr>
            <a:r>
              <a:rPr sz="1150" b="1" i="0">
                <a:solidFill>
                  <a:srgbClr val="16233A"/>
                </a:solidFill>
                <a:latin typeface="Sora"/>
              </a:rPr>
              <a:t>Authentification</a:t>
            </a:r>
          </a:p>
        </p:txBody>
      </p:sp>
      <p:sp>
        <p:nvSpPr>
          <p:cNvPr id="29" name="TextBox 28"/>
          <p:cNvSpPr txBox="1"/>
          <p:nvPr/>
        </p:nvSpPr>
        <p:spPr>
          <a:xfrm>
            <a:off x="3246120" y="5806440"/>
            <a:ext cx="2468880" cy="640080"/>
          </a:xfrm>
          <a:prstGeom prst="rect">
            <a:avLst/>
          </a:prstGeom>
          <a:noFill/>
        </p:spPr>
        <p:txBody>
          <a:bodyPr wrap="square" anchor="t" lIns="0" rIns="0" tIns="0" bIns="0">
            <a:noAutofit/>
          </a:bodyPr>
          <a:lstStyle/>
          <a:p>
            <a:pPr algn="l">
              <a:lnSpc>
                <a:spcPct val="115000"/>
              </a:lnSpc>
            </a:pPr>
            <a:r>
              <a:rPr sz="1050" b="1" i="0">
                <a:solidFill>
                  <a:srgbClr val="0E8F6B"/>
                </a:solidFill>
                <a:latin typeface="Consolas"/>
              </a:rPr>
              <a:t>Sessions PHP natives</a:t>
            </a:r>
          </a:p>
        </p:txBody>
      </p:sp>
      <p:sp>
        <p:nvSpPr>
          <p:cNvPr id="30" name="TextBox 29"/>
          <p:cNvSpPr txBox="1"/>
          <p:nvPr/>
        </p:nvSpPr>
        <p:spPr>
          <a:xfrm>
            <a:off x="5806440" y="5806440"/>
            <a:ext cx="5532120" cy="640080"/>
          </a:xfrm>
          <a:prstGeom prst="rect">
            <a:avLst/>
          </a:prstGeom>
          <a:noFill/>
        </p:spPr>
        <p:txBody>
          <a:bodyPr wrap="square" anchor="t" lIns="0" rIns="0" tIns="0" bIns="0">
            <a:noAutofit/>
          </a:bodyPr>
          <a:lstStyle/>
          <a:p>
            <a:pPr algn="l">
              <a:lnSpc>
                <a:spcPct val="122000"/>
              </a:lnSpc>
            </a:pPr>
            <a:r>
              <a:rPr sz="1030" b="0" i="0">
                <a:solidFill>
                  <a:srgbClr val="44506A"/>
                </a:solidFill>
                <a:latin typeface="Inter"/>
              </a:rPr>
              <a:t>Simplicite d'integration des lors que front-end et API sont servis par la meme origine ; aucune dependance a un service tiers.</a:t>
            </a:r>
          </a:p>
        </p:txBody>
      </p:sp>
      <p:sp>
        <p:nvSpPr>
          <p:cNvPr id="31" name="TextBox 30"/>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35</a:t>
            </a:r>
          </a:p>
        </p:txBody>
      </p:sp>
      <p:sp>
        <p:nvSpPr>
          <p:cNvPr id="32" name="Rectangle 31"/>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48640"/>
            <a:ext cx="883476" cy="310896"/>
          </a:xfrm>
          <a:prstGeom prst="roundRect">
            <a:avLst>
              <a:gd name="adj" fmla="val 50000"/>
            </a:avLst>
          </a:prstGeom>
          <a:solidFill>
            <a:srgbClr val="C0392B">
              <a:alpha val="10000"/>
            </a:srgbClr>
          </a:solidFill>
          <a:ln w="12700">
            <a:solidFill>
              <a:srgbClr val="C0392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0392B"/>
                </a:solidFill>
                <a:latin typeface="Inter"/>
              </a:rPr>
              <a:t>SECURITE</a:t>
            </a:r>
          </a:p>
        </p:txBody>
      </p:sp>
      <p:sp>
        <p:nvSpPr>
          <p:cNvPr id="5" name="TextBox 4"/>
          <p:cNvSpPr txBox="1"/>
          <p:nvPr/>
        </p:nvSpPr>
        <p:spPr>
          <a:xfrm>
            <a:off x="822960" y="960120"/>
            <a:ext cx="9875520" cy="594360"/>
          </a:xfrm>
          <a:prstGeom prst="rect">
            <a:avLst/>
          </a:prstGeom>
          <a:noFill/>
        </p:spPr>
        <p:txBody>
          <a:bodyPr wrap="square" anchor="t" lIns="0" rIns="0" tIns="0" bIns="0">
            <a:noAutofit/>
          </a:bodyPr>
          <a:lstStyle/>
          <a:p>
            <a:pPr algn="l">
              <a:lnSpc>
                <a:spcPct val="100000"/>
              </a:lnSpc>
            </a:pPr>
            <a:r>
              <a:rPr sz="2500" b="1" i="0">
                <a:solidFill>
                  <a:srgbClr val="16233A"/>
                </a:solidFill>
                <a:latin typeface="Sora"/>
              </a:rPr>
              <a:t>Ce que « securise » veut dire concretement</a:t>
            </a:r>
          </a:p>
        </p:txBody>
      </p:sp>
      <p:sp>
        <p:nvSpPr>
          <p:cNvPr id="6" name="TextBox 5"/>
          <p:cNvSpPr txBox="1"/>
          <p:nvPr/>
        </p:nvSpPr>
        <p:spPr>
          <a:xfrm>
            <a:off x="822960" y="1600200"/>
            <a:ext cx="10332720" cy="822960"/>
          </a:xfrm>
          <a:prstGeom prst="rect">
            <a:avLst/>
          </a:prstGeom>
          <a:noFill/>
        </p:spPr>
        <p:txBody>
          <a:bodyPr wrap="square" anchor="t" lIns="0" rIns="0" tIns="0" bIns="0">
            <a:noAutofit/>
          </a:bodyPr>
          <a:lstStyle/>
          <a:p>
            <a:pPr algn="l">
              <a:lnSpc>
                <a:spcPct val="135000"/>
              </a:lnSpc>
            </a:pPr>
            <a:r>
              <a:rPr sz="1250" b="0" i="0">
                <a:solidFill>
                  <a:srgbClr val="44506A"/>
                </a:solidFill>
                <a:latin typeface="Inter"/>
              </a:rPr>
              <a:t>Quatre mecanismes concrets protegent la plateforme, appliques de maniere systematique a travers les 14 fichiers de l'API — pas ajoutes ponctuellement la ou on y a pense.</a:t>
            </a:r>
          </a:p>
        </p:txBody>
      </p:sp>
      <p:sp>
        <p:nvSpPr>
          <p:cNvPr id="7" name="Rounded Rectangle 6"/>
          <p:cNvSpPr/>
          <p:nvPr/>
        </p:nvSpPr>
        <p:spPr>
          <a:xfrm>
            <a:off x="822960" y="2788920"/>
            <a:ext cx="5074920" cy="1691640"/>
          </a:xfrm>
          <a:prstGeom prst="roundRect">
            <a:avLst>
              <a:gd name="adj" fmla="val 8000"/>
            </a:avLst>
          </a:prstGeom>
          <a:solidFill>
            <a:srgbClr val="FFFFFF"/>
          </a:solidFill>
          <a:ln w="12700">
            <a:solidFill>
              <a:srgbClr val="2F6F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788920"/>
            <a:ext cx="64008" cy="169164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971800"/>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Mots de passe haches</a:t>
            </a:r>
          </a:p>
        </p:txBody>
      </p:sp>
      <p:sp>
        <p:nvSpPr>
          <p:cNvPr id="10" name="TextBox 9"/>
          <p:cNvSpPr txBox="1"/>
          <p:nvPr/>
        </p:nvSpPr>
        <p:spPr>
          <a:xfrm>
            <a:off x="1115568" y="3355848"/>
            <a:ext cx="4526280" cy="1005840"/>
          </a:xfrm>
          <a:prstGeom prst="rect">
            <a:avLst/>
          </a:prstGeom>
          <a:noFill/>
        </p:spPr>
        <p:txBody>
          <a:bodyPr wrap="square" anchor="t" lIns="0" rIns="0" tIns="0" bIns="0">
            <a:noAutofit/>
          </a:bodyPr>
          <a:lstStyle/>
          <a:p>
            <a:pPr algn="l">
              <a:lnSpc>
                <a:spcPct val="128000"/>
              </a:lnSpc>
            </a:pPr>
            <a:r>
              <a:rPr sz="1030" b="0" i="0">
                <a:solidFill>
                  <a:srgbClr val="44506A"/>
                </a:solidFill>
                <a:latin typeface="Inter"/>
              </a:rPr>
              <a:t>Jamais stockes en clair. password_hash() applique un salage automatique (bcrypt) ; la verification passe par password_verify(), jamais par une comparaison directe de chaines.</a:t>
            </a:r>
          </a:p>
        </p:txBody>
      </p:sp>
      <p:sp>
        <p:nvSpPr>
          <p:cNvPr id="11" name="Rounded Rectangle 10"/>
          <p:cNvSpPr/>
          <p:nvPr/>
        </p:nvSpPr>
        <p:spPr>
          <a:xfrm>
            <a:off x="6172200" y="2788920"/>
            <a:ext cx="5074920" cy="1691640"/>
          </a:xfrm>
          <a:prstGeom prst="roundRect">
            <a:avLst>
              <a:gd name="adj" fmla="val 8000"/>
            </a:avLst>
          </a:prstGeom>
          <a:solidFill>
            <a:srgbClr val="FFFFFF"/>
          </a:solidFill>
          <a:ln w="12700">
            <a:solidFill>
              <a:srgbClr val="0E8F6B">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2788920"/>
            <a:ext cx="64008" cy="1691640"/>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2971800"/>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Requetes preparees</a:t>
            </a:r>
          </a:p>
        </p:txBody>
      </p:sp>
      <p:sp>
        <p:nvSpPr>
          <p:cNvPr id="14" name="TextBox 13"/>
          <p:cNvSpPr txBox="1"/>
          <p:nvPr/>
        </p:nvSpPr>
        <p:spPr>
          <a:xfrm>
            <a:off x="6464808" y="3355848"/>
            <a:ext cx="4526280" cy="1005840"/>
          </a:xfrm>
          <a:prstGeom prst="rect">
            <a:avLst/>
          </a:prstGeom>
          <a:noFill/>
        </p:spPr>
        <p:txBody>
          <a:bodyPr wrap="square" anchor="t" lIns="0" rIns="0" tIns="0" bIns="0">
            <a:noAutofit/>
          </a:bodyPr>
          <a:lstStyle/>
          <a:p>
            <a:pPr algn="l">
              <a:lnSpc>
                <a:spcPct val="128000"/>
              </a:lnSpc>
            </a:pPr>
            <a:r>
              <a:rPr sz="1030" b="0" i="0">
                <a:solidFill>
                  <a:srgbClr val="44506A"/>
                </a:solidFill>
                <a:latin typeface="Inter"/>
              </a:rPr>
              <a:t>Aucune requete SQL n'est construite par concatenation. Chaque valeur transite par un parametre lie ( ? ), ce qui rend l'injection SQL structurellement impossible.</a:t>
            </a:r>
          </a:p>
        </p:txBody>
      </p:sp>
      <p:sp>
        <p:nvSpPr>
          <p:cNvPr id="15" name="Rounded Rectangle 14"/>
          <p:cNvSpPr/>
          <p:nvPr/>
        </p:nvSpPr>
        <p:spPr>
          <a:xfrm>
            <a:off x="822960" y="4709160"/>
            <a:ext cx="5074920" cy="1691640"/>
          </a:xfrm>
          <a:prstGeom prst="roundRect">
            <a:avLst>
              <a:gd name="adj" fmla="val 8000"/>
            </a:avLst>
          </a:prstGeom>
          <a:solidFill>
            <a:srgbClr val="FFFFFF"/>
          </a:solidFill>
          <a:ln w="12700">
            <a:solidFill>
              <a:srgbClr val="6D59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709160"/>
            <a:ext cx="64008" cy="1691640"/>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892040"/>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Sessions cote serveur</a:t>
            </a:r>
          </a:p>
        </p:txBody>
      </p:sp>
      <p:sp>
        <p:nvSpPr>
          <p:cNvPr id="18" name="TextBox 17"/>
          <p:cNvSpPr txBox="1"/>
          <p:nvPr/>
        </p:nvSpPr>
        <p:spPr>
          <a:xfrm>
            <a:off x="1115568" y="5276088"/>
            <a:ext cx="4526280" cy="1005840"/>
          </a:xfrm>
          <a:prstGeom prst="rect">
            <a:avLst/>
          </a:prstGeom>
          <a:noFill/>
        </p:spPr>
        <p:txBody>
          <a:bodyPr wrap="square" anchor="t" lIns="0" rIns="0" tIns="0" bIns="0">
            <a:noAutofit/>
          </a:bodyPr>
          <a:lstStyle/>
          <a:p>
            <a:pPr algn="l">
              <a:lnSpc>
                <a:spcPct val="128000"/>
              </a:lnSpc>
            </a:pPr>
            <a:r>
              <a:rPr sz="1030" b="0" i="0">
                <a:solidFill>
                  <a:srgbClr val="44506A"/>
                </a:solidFill>
                <a:latin typeface="Inter"/>
              </a:rPr>
              <a:t>L'etat de connexion vit dans une session PHP, jamais dans le navigateur. Chaque action sensible verifie explicitement le role de l'utilisateur avant de s'executer.</a:t>
            </a:r>
          </a:p>
        </p:txBody>
      </p:sp>
      <p:sp>
        <p:nvSpPr>
          <p:cNvPr id="19" name="Rounded Rectangle 18"/>
          <p:cNvSpPr/>
          <p:nvPr/>
        </p:nvSpPr>
        <p:spPr>
          <a:xfrm>
            <a:off x="6172200" y="4709160"/>
            <a:ext cx="5074920" cy="1691640"/>
          </a:xfrm>
          <a:prstGeom prst="roundRect">
            <a:avLst>
              <a:gd name="adj" fmla="val 8000"/>
            </a:avLst>
          </a:prstGeom>
          <a:solidFill>
            <a:srgbClr val="FFFFFF"/>
          </a:solidFill>
          <a:ln w="12700">
            <a:solidFill>
              <a:srgbClr val="C9721E">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64008" cy="1691640"/>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4892040"/>
            <a:ext cx="4526280" cy="320040"/>
          </a:xfrm>
          <a:prstGeom prst="rect">
            <a:avLst/>
          </a:prstGeom>
          <a:noFill/>
        </p:spPr>
        <p:txBody>
          <a:bodyPr wrap="square" anchor="t" lIns="0" rIns="0" tIns="0" bIns="0">
            <a:noAutofit/>
          </a:bodyPr>
          <a:lstStyle/>
          <a:p>
            <a:pPr algn="l">
              <a:lnSpc>
                <a:spcPct val="100000"/>
              </a:lnSpc>
            </a:pPr>
            <a:r>
              <a:rPr sz="1350" b="1" i="0">
                <a:solidFill>
                  <a:srgbClr val="16233A"/>
                </a:solidFill>
                <a:latin typeface="Sora"/>
              </a:rPr>
              <a:t>Televersements controles</a:t>
            </a:r>
          </a:p>
        </p:txBody>
      </p:sp>
      <p:sp>
        <p:nvSpPr>
          <p:cNvPr id="22" name="TextBox 21"/>
          <p:cNvSpPr txBox="1"/>
          <p:nvPr/>
        </p:nvSpPr>
        <p:spPr>
          <a:xfrm>
            <a:off x="6464808" y="5276088"/>
            <a:ext cx="4526280" cy="1005840"/>
          </a:xfrm>
          <a:prstGeom prst="rect">
            <a:avLst/>
          </a:prstGeom>
          <a:noFill/>
        </p:spPr>
        <p:txBody>
          <a:bodyPr wrap="square" anchor="t" lIns="0" rIns="0" tIns="0" bIns="0">
            <a:noAutofit/>
          </a:bodyPr>
          <a:lstStyle/>
          <a:p>
            <a:pPr algn="l">
              <a:lnSpc>
                <a:spcPct val="128000"/>
              </a:lnSpc>
            </a:pPr>
            <a:r>
              <a:rPr sz="1030" b="0" i="0">
                <a:solidFill>
                  <a:srgbClr val="44506A"/>
                </a:solidFill>
                <a:latin typeface="Inter"/>
              </a:rPr>
              <a:t>Type MIME reellement inspecte (pas seulement l'extension du fichier), taille plafonnee, nom de fichier regenere aleatoirement avant stockage sur le serveur.</a:t>
            </a:r>
          </a:p>
        </p:txBody>
      </p:sp>
      <p:sp>
        <p:nvSpPr>
          <p:cNvPr id="23" name="TextBox 2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36</a:t>
            </a:r>
          </a:p>
        </p:txBody>
      </p:sp>
      <p:sp>
        <p:nvSpPr>
          <p:cNvPr id="24" name="Rectangle 2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7269480" y="2148840"/>
            <a:ext cx="7772400" cy="7772400"/>
          </a:xfrm>
          <a:prstGeom prst="ellipse">
            <a:avLst/>
          </a:prstGeom>
          <a:solidFill>
            <a:srgbClr val="C9721E">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69680" y="-1280160"/>
            <a:ext cx="3657600" cy="3657600"/>
          </a:xfrm>
          <a:prstGeom prst="ellipse">
            <a:avLst/>
          </a:prstGeom>
          <a:solidFill>
            <a:srgbClr val="C9721E">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309360" y="-1234440"/>
            <a:ext cx="7772400" cy="8686800"/>
          </a:xfrm>
          <a:prstGeom prst="rect">
            <a:avLst/>
          </a:prstGeom>
          <a:noFill/>
        </p:spPr>
        <p:txBody>
          <a:bodyPr wrap="none" anchor="t" lIns="0" rIns="0" tIns="0" bIns="0">
            <a:noAutofit/>
          </a:bodyPr>
          <a:lstStyle/>
          <a:p>
            <a:pPr algn="l">
              <a:lnSpc>
                <a:spcPct val="100000"/>
              </a:lnSpc>
            </a:pPr>
            <a:r>
              <a:rPr sz="46000" b="1" i="0">
                <a:solidFill>
                  <a:srgbClr val="C9721E">
                    <a:alpha val="9000"/>
                  </a:srgbClr>
                </a:solidFill>
                <a:latin typeface="Sora"/>
              </a:rPr>
              <a:t>V</a:t>
            </a:r>
          </a:p>
        </p:txBody>
      </p:sp>
      <p:sp>
        <p:nvSpPr>
          <p:cNvPr id="5" name="Rounded Rectangle 4"/>
          <p:cNvSpPr/>
          <p:nvPr/>
        </p:nvSpPr>
        <p:spPr>
          <a:xfrm>
            <a:off x="868680" y="2148840"/>
            <a:ext cx="1169766"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PARTIE 6 / 6</a:t>
            </a:r>
          </a:p>
        </p:txBody>
      </p:sp>
      <p:sp>
        <p:nvSpPr>
          <p:cNvPr id="6" name="TextBox 5"/>
          <p:cNvSpPr txBox="1"/>
          <p:nvPr/>
        </p:nvSpPr>
        <p:spPr>
          <a:xfrm>
            <a:off x="822960" y="2606040"/>
            <a:ext cx="7955279" cy="1005840"/>
          </a:xfrm>
          <a:prstGeom prst="rect">
            <a:avLst/>
          </a:prstGeom>
          <a:noFill/>
        </p:spPr>
        <p:txBody>
          <a:bodyPr wrap="square" anchor="t" lIns="0" rIns="0" tIns="0" bIns="0">
            <a:noAutofit/>
          </a:bodyPr>
          <a:lstStyle/>
          <a:p>
            <a:pPr algn="l">
              <a:lnSpc>
                <a:spcPct val="100000"/>
              </a:lnSpc>
            </a:pPr>
            <a:r>
              <a:rPr sz="4400" b="1" i="0">
                <a:solidFill>
                  <a:srgbClr val="16233A"/>
                </a:solidFill>
                <a:latin typeface="Sora"/>
              </a:rPr>
              <a:t>Difficultes rencontrees</a:t>
            </a:r>
          </a:p>
        </p:txBody>
      </p:sp>
      <p:sp>
        <p:nvSpPr>
          <p:cNvPr id="7" name="Rectangle 6"/>
          <p:cNvSpPr/>
          <p:nvPr/>
        </p:nvSpPr>
        <p:spPr>
          <a:xfrm>
            <a:off x="868680" y="3474720"/>
            <a:ext cx="1188720" cy="38100"/>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703320"/>
            <a:ext cx="6949440" cy="914400"/>
          </a:xfrm>
          <a:prstGeom prst="rect">
            <a:avLst/>
          </a:prstGeom>
          <a:noFill/>
        </p:spPr>
        <p:txBody>
          <a:bodyPr wrap="square" anchor="t" lIns="0" rIns="0" tIns="0" bIns="0">
            <a:noAutofit/>
          </a:bodyPr>
          <a:lstStyle/>
          <a:p>
            <a:pPr algn="l">
              <a:lnSpc>
                <a:spcPct val="135000"/>
              </a:lnSpc>
            </a:pPr>
            <a:r>
              <a:rPr sz="1350" b="0" i="0">
                <a:solidFill>
                  <a:srgbClr val="44506A"/>
                </a:solidFill>
                <a:latin typeface="Inter"/>
              </a:rPr>
              <a:t>Un projet reel ne se deroule jamais exactement comme prevu — voici les quatre obstacles techniques concrets rencontres, et comment ils ont ete resolus.</a:t>
            </a:r>
          </a:p>
        </p:txBody>
      </p:sp>
      <p:sp>
        <p:nvSpPr>
          <p:cNvPr id="9" name="Rounded Rectangle 8"/>
          <p:cNvSpPr/>
          <p:nvPr/>
        </p:nvSpPr>
        <p:spPr>
          <a:xfrm>
            <a:off x="868680" y="4617720"/>
            <a:ext cx="1435608"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Migration async</a:t>
            </a:r>
          </a:p>
        </p:txBody>
      </p:sp>
      <p:sp>
        <p:nvSpPr>
          <p:cNvPr id="10" name="Rounded Rectangle 9"/>
          <p:cNvSpPr/>
          <p:nvPr/>
        </p:nvSpPr>
        <p:spPr>
          <a:xfrm>
            <a:off x="2432304" y="4617720"/>
            <a:ext cx="1285646"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Chemins d'API</a:t>
            </a:r>
          </a:p>
        </p:txBody>
      </p:sp>
      <p:sp>
        <p:nvSpPr>
          <p:cNvPr id="11" name="Rounded Rectangle 10"/>
          <p:cNvSpPr/>
          <p:nvPr/>
        </p:nvSpPr>
        <p:spPr>
          <a:xfrm>
            <a:off x="3845966" y="4617720"/>
            <a:ext cx="910742"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Encodage</a:t>
            </a:r>
          </a:p>
        </p:txBody>
      </p:sp>
      <p:sp>
        <p:nvSpPr>
          <p:cNvPr id="12" name="Rounded Rectangle 11"/>
          <p:cNvSpPr/>
          <p:nvPr/>
        </p:nvSpPr>
        <p:spPr>
          <a:xfrm>
            <a:off x="4884724" y="4617720"/>
            <a:ext cx="1360627"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C9721E"/>
                </a:solidFill>
                <a:latin typeface="Inter"/>
              </a:rPr>
              <a:t>Base corrompue</a:t>
            </a:r>
          </a:p>
        </p:txBody>
      </p:sp>
      <p:sp>
        <p:nvSpPr>
          <p:cNvPr id="13" name="TextBox 1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37</a:t>
            </a:r>
          </a:p>
        </p:txBody>
      </p:sp>
      <p:sp>
        <p:nvSpPr>
          <p:cNvPr id="14" name="Rectangle 1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456057" cy="310896"/>
          </a:xfrm>
          <a:prstGeom prst="roundRect">
            <a:avLst>
              <a:gd name="adj" fmla="val 50000"/>
            </a:avLst>
          </a:prstGeom>
          <a:solidFill>
            <a:srgbClr val="C0392B">
              <a:alpha val="10000"/>
            </a:srgbClr>
          </a:solidFill>
          <a:ln w="12700">
            <a:solidFill>
              <a:srgbClr val="C0392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0392B"/>
                </a:solidFill>
                <a:latin typeface="Inter"/>
              </a:rPr>
              <a:t>DIFFICULTE 1 / 4</a:t>
            </a:r>
          </a:p>
        </p:txBody>
      </p:sp>
      <p:sp>
        <p:nvSpPr>
          <p:cNvPr id="5" name="TextBox 4"/>
          <p:cNvSpPr txBox="1"/>
          <p:nvPr/>
        </p:nvSpPr>
        <p:spPr>
          <a:xfrm>
            <a:off x="822960" y="914400"/>
            <a:ext cx="10058400" cy="594360"/>
          </a:xfrm>
          <a:prstGeom prst="rect">
            <a:avLst/>
          </a:prstGeom>
          <a:noFill/>
        </p:spPr>
        <p:txBody>
          <a:bodyPr wrap="square" anchor="t" lIns="0" rIns="0" tIns="0" bIns="0">
            <a:noAutofit/>
          </a:bodyPr>
          <a:lstStyle/>
          <a:p>
            <a:pPr algn="l">
              <a:lnSpc>
                <a:spcPct val="100000"/>
              </a:lnSpc>
            </a:pPr>
            <a:r>
              <a:rPr sz="2300" b="1" i="0">
                <a:solidFill>
                  <a:srgbClr val="16233A"/>
                </a:solidFill>
                <a:latin typeface="Sora"/>
              </a:rPr>
              <a:t>L'ampleur sous-estimee de la conversion asynchrone</a:t>
            </a:r>
          </a:p>
        </p:txBody>
      </p:sp>
      <p:sp>
        <p:nvSpPr>
          <p:cNvPr id="6" name="TextBox 5"/>
          <p:cNvSpPr txBox="1"/>
          <p:nvPr/>
        </p:nvSpPr>
        <p:spPr>
          <a:xfrm>
            <a:off x="82296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C0392B"/>
                </a:solidFill>
                <a:latin typeface="Inter"/>
              </a:rPr>
              <a:t>LE PROBLEME</a:t>
            </a:r>
          </a:p>
        </p:txBody>
      </p:sp>
      <p:sp>
        <p:nvSpPr>
          <p:cNvPr id="7" name="TextBox 6"/>
          <p:cNvSpPr txBox="1"/>
          <p:nvPr/>
        </p:nvSpPr>
        <p:spPr>
          <a:xfrm>
            <a:off x="822960" y="1965960"/>
            <a:ext cx="5029200" cy="1737360"/>
          </a:xfrm>
          <a:prstGeom prst="rect">
            <a:avLst/>
          </a:prstGeom>
          <a:noFill/>
        </p:spPr>
        <p:txBody>
          <a:bodyPr wrap="square" anchor="t" lIns="0" rIns="0" tIns="0" bIns="0">
            <a:noAutofit/>
          </a:bodyPr>
          <a:lstStyle/>
          <a:p>
            <a:pPr algn="l">
              <a:lnSpc>
                <a:spcPct val="135000"/>
              </a:lnSpc>
            </a:pPr>
            <a:r>
              <a:rPr sz="1150" b="0" i="0">
                <a:solidFill>
                  <a:srgbClr val="44506A"/>
                </a:solidFill>
                <a:latin typeface="Inter"/>
              </a:rPr>
              <a:t>La migration de localStorage vers l'API a rendu chaque fonction de la couche de donnees asynchrone. Une conversion limitee aux seuls modules directement concernes (Jobs, Companies) aurait laisse casses des modules transverses utilises sur presque toutes les pages — notamment l'affichage de l'en-tete et le systeme de notifications, qui appellent ces memes fonctions en interne sans qu'on l'ait anticipe au depart.</a:t>
            </a:r>
          </a:p>
        </p:txBody>
      </p:sp>
      <p:sp>
        <p:nvSpPr>
          <p:cNvPr id="8" name="TextBox 7"/>
          <p:cNvSpPr txBox="1"/>
          <p:nvPr/>
        </p:nvSpPr>
        <p:spPr>
          <a:xfrm>
            <a:off x="626364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0E8F6B"/>
                </a:solidFill>
                <a:latin typeface="Inter"/>
              </a:rPr>
              <a:t>LA SOLUTION</a:t>
            </a:r>
          </a:p>
        </p:txBody>
      </p:sp>
      <p:sp>
        <p:nvSpPr>
          <p:cNvPr id="9" name="TextBox 8"/>
          <p:cNvSpPr txBox="1"/>
          <p:nvPr/>
        </p:nvSpPr>
        <p:spPr>
          <a:xfrm>
            <a:off x="6263640" y="1965960"/>
            <a:ext cx="5029200" cy="1737360"/>
          </a:xfrm>
          <a:prstGeom prst="rect">
            <a:avLst/>
          </a:prstGeom>
          <a:noFill/>
        </p:spPr>
        <p:txBody>
          <a:bodyPr wrap="square" anchor="t" lIns="0" rIns="0" tIns="0" bIns="0">
            <a:noAutofit/>
          </a:bodyPr>
          <a:lstStyle/>
          <a:p>
            <a:pPr algn="l">
              <a:lnSpc>
                <a:spcPct val="135000"/>
              </a:lnSpc>
            </a:pPr>
            <a:r>
              <a:rPr sz="1150" b="0" i="0">
                <a:solidFill>
                  <a:srgbClr val="44506A"/>
                </a:solidFill>
                <a:latin typeface="Inter"/>
              </a:rPr>
              <a:t>Plutot qu'une conversion partielle qui aurait laisse le site dans un etat intermediaire incoherent, la decision a ete prise de convertir en une seule fois l'ensemble des ~30 scripts de page vers le pattern IIFE async/await — chaque page encapsulee dans une fonction immediatement invoquee, permettant d'utiliser await de maniere coherente partout.</a:t>
            </a:r>
          </a:p>
        </p:txBody>
      </p:sp>
      <p:sp>
        <p:nvSpPr>
          <p:cNvPr id="10" name="Rectangle 9"/>
          <p:cNvSpPr/>
          <p:nvPr/>
        </p:nvSpPr>
        <p:spPr>
          <a:xfrm>
            <a:off x="822960" y="3977639"/>
            <a:ext cx="10424160" cy="12700"/>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251960"/>
            <a:ext cx="10424160" cy="1554480"/>
          </a:xfrm>
          <a:prstGeom prst="rect">
            <a:avLst/>
          </a:prstGeom>
          <a:noFill/>
        </p:spPr>
        <p:txBody>
          <a:bodyPr wrap="square" anchor="t" lIns="0" rIns="0" tIns="0" bIns="0">
            <a:noAutofit/>
          </a:bodyPr>
          <a:lstStyle/>
          <a:p>
            <a:pPr algn="l">
              <a:lnSpc>
                <a:spcPct val="135000"/>
              </a:lnSpc>
            </a:pPr>
            <a:r>
              <a:rPr sz="1200" b="0" i="0">
                <a:solidFill>
                  <a:srgbClr val="16233A"/>
                </a:solidFill>
                <a:latin typeface="Consolas"/>
              </a:rPr>
              <a:t>(async () =&gt; {</a:t>
            </a:r>
          </a:p>
          <a:p>
            <a:pPr algn="l">
              <a:lnSpc>
                <a:spcPct val="135000"/>
              </a:lnSpc>
            </a:pPr>
            <a:r>
              <a:rPr sz="1200" b="0" i="0">
                <a:solidFill>
                  <a:srgbClr val="16233A"/>
                </a:solidFill>
                <a:latin typeface="Consolas"/>
              </a:rPr>
              <a:t>  const session = await Auth.guardPage('candidat', '../');</a:t>
            </a:r>
          </a:p>
          <a:p>
            <a:pPr algn="l">
              <a:lnSpc>
                <a:spcPct val="135000"/>
              </a:lnSpc>
            </a:pPr>
            <a:r>
              <a:rPr sz="1200" b="0" i="0">
                <a:solidFill>
                  <a:srgbClr val="16233A"/>
                </a:solidFill>
                <a:latin typeface="Consolas"/>
              </a:rPr>
              <a:t>  if (!session) return;</a:t>
            </a:r>
          </a:p>
          <a:p>
            <a:pPr algn="l">
              <a:lnSpc>
                <a:spcPct val="135000"/>
              </a:lnSpc>
            </a:pPr>
            <a:r>
              <a:rPr sz="1200" b="0" i="0">
                <a:solidFill>
                  <a:srgbClr val="16233A"/>
                </a:solidFill>
                <a:latin typeface="Consolas"/>
              </a:rPr>
              <a:t>  const jobs = await Jobs.getByCompany(company.id);</a:t>
            </a:r>
          </a:p>
          <a:p>
            <a:pPr algn="l">
              <a:lnSpc>
                <a:spcPct val="135000"/>
              </a:lnSpc>
            </a:pPr>
            <a:r>
              <a:rPr sz="1200" b="0" i="0">
                <a:solidFill>
                  <a:srgbClr val="16233A"/>
                </a:solidFill>
                <a:latin typeface="Consolas"/>
              </a:rPr>
              <a:t>})();</a:t>
            </a:r>
          </a:p>
        </p:txBody>
      </p:sp>
      <p:sp>
        <p:nvSpPr>
          <p:cNvPr id="12" name="TextBox 11"/>
          <p:cNvSpPr txBox="1"/>
          <p:nvPr/>
        </p:nvSpPr>
        <p:spPr>
          <a:xfrm>
            <a:off x="822960" y="5989320"/>
            <a:ext cx="10424160" cy="457200"/>
          </a:xfrm>
          <a:prstGeom prst="rect">
            <a:avLst/>
          </a:prstGeom>
          <a:noFill/>
        </p:spPr>
        <p:txBody>
          <a:bodyPr wrap="square" anchor="t" lIns="0" rIns="0" tIns="0" bIns="0">
            <a:noAutofit/>
          </a:bodyPr>
          <a:lstStyle/>
          <a:p>
            <a:pPr algn="l">
              <a:lnSpc>
                <a:spcPct val="100000"/>
              </a:lnSpc>
            </a:pPr>
            <a:r>
              <a:rPr sz="1050" b="0" i="1">
                <a:solidFill>
                  <a:srgbClr val="7A879C"/>
                </a:solidFill>
                <a:latin typeface="Inter"/>
              </a:rPr>
              <a:t>Le pattern applique uniformement a toutes les pages apres la decision de conversion complete.</a:t>
            </a:r>
          </a:p>
        </p:txBody>
      </p:sp>
      <p:sp>
        <p:nvSpPr>
          <p:cNvPr id="13" name="TextBox 1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38</a:t>
            </a:r>
          </a:p>
        </p:txBody>
      </p:sp>
      <p:sp>
        <p:nvSpPr>
          <p:cNvPr id="14" name="Rectangle 1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456057" cy="310896"/>
          </a:xfrm>
          <a:prstGeom prst="roundRect">
            <a:avLst>
              <a:gd name="adj" fmla="val 50000"/>
            </a:avLst>
          </a:prstGeom>
          <a:solidFill>
            <a:srgbClr val="C0392B">
              <a:alpha val="10000"/>
            </a:srgbClr>
          </a:solidFill>
          <a:ln w="12700">
            <a:solidFill>
              <a:srgbClr val="C0392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0392B"/>
                </a:solidFill>
                <a:latin typeface="Inter"/>
              </a:rPr>
              <a:t>DIFFICULTE 2 / 4</a:t>
            </a:r>
          </a:p>
        </p:txBody>
      </p:sp>
      <p:sp>
        <p:nvSpPr>
          <p:cNvPr id="5" name="TextBox 4"/>
          <p:cNvSpPr txBox="1"/>
          <p:nvPr/>
        </p:nvSpPr>
        <p:spPr>
          <a:xfrm>
            <a:off x="822960" y="914400"/>
            <a:ext cx="10058400" cy="594360"/>
          </a:xfrm>
          <a:prstGeom prst="rect">
            <a:avLst/>
          </a:prstGeom>
          <a:noFill/>
        </p:spPr>
        <p:txBody>
          <a:bodyPr wrap="square" anchor="t" lIns="0" rIns="0" tIns="0" bIns="0">
            <a:noAutofit/>
          </a:bodyPr>
          <a:lstStyle/>
          <a:p>
            <a:pPr algn="l">
              <a:lnSpc>
                <a:spcPct val="100000"/>
              </a:lnSpc>
            </a:pPr>
            <a:r>
              <a:rPr sz="2300" b="1" i="0">
                <a:solidFill>
                  <a:srgbClr val="16233A"/>
                </a:solidFill>
                <a:latin typeface="Sora"/>
              </a:rPr>
              <a:t>Des chemins d'API casses sous les sous-dossiers</a:t>
            </a:r>
          </a:p>
        </p:txBody>
      </p:sp>
      <p:sp>
        <p:nvSpPr>
          <p:cNvPr id="6" name="TextBox 5"/>
          <p:cNvSpPr txBox="1"/>
          <p:nvPr/>
        </p:nvSpPr>
        <p:spPr>
          <a:xfrm>
            <a:off x="82296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C0392B"/>
                </a:solidFill>
                <a:latin typeface="Inter"/>
              </a:rPr>
              <a:t>LE PROBLEME</a:t>
            </a:r>
          </a:p>
        </p:txBody>
      </p:sp>
      <p:sp>
        <p:nvSpPr>
          <p:cNvPr id="7" name="TextBox 6"/>
          <p:cNvSpPr txBox="1"/>
          <p:nvPr/>
        </p:nvSpPr>
        <p:spPr>
          <a:xfrm>
            <a:off x="822960" y="1965960"/>
            <a:ext cx="5029200" cy="2011680"/>
          </a:xfrm>
          <a:prstGeom prst="rect">
            <a:avLst/>
          </a:prstGeom>
          <a:noFill/>
        </p:spPr>
        <p:txBody>
          <a:bodyPr wrap="square" anchor="t" lIns="0" rIns="0" tIns="0" bIns="0">
            <a:noAutofit/>
          </a:bodyPr>
          <a:lstStyle/>
          <a:p>
            <a:pPr algn="l">
              <a:lnSpc>
                <a:spcPct val="132000"/>
              </a:lnSpc>
            </a:pPr>
            <a:r>
              <a:rPr sz="1150" b="0" i="0">
                <a:solidFill>
                  <a:srgbClr val="44506A"/>
                </a:solidFill>
                <a:latin typeface="Inter"/>
              </a:rPr>
              <a:t>Apres la premiere conversion de db.js, plusieurs pages situees dans des sous-dossiers (candidat/, recruteur/, admin/) redirigeaient systematiquement vers la page de connexion, meme lorsque l'utilisateur etait bien connecte. Le diagnostic, effectue via l'onglet reseau du navigateur, a revele que les appels a l'API utilisaient des chemins relatifs (api/auth.php), lesquels se resolvent differemment selon la profondeur du dossier de la page appelante.</a:t>
            </a:r>
          </a:p>
        </p:txBody>
      </p:sp>
      <p:sp>
        <p:nvSpPr>
          <p:cNvPr id="8" name="TextBox 7"/>
          <p:cNvSpPr txBox="1"/>
          <p:nvPr/>
        </p:nvSpPr>
        <p:spPr>
          <a:xfrm>
            <a:off x="626364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0E8F6B"/>
                </a:solidFill>
                <a:latin typeface="Inter"/>
              </a:rPr>
              <a:t>LA SOLUTION</a:t>
            </a:r>
          </a:p>
        </p:txBody>
      </p:sp>
      <p:sp>
        <p:nvSpPr>
          <p:cNvPr id="9" name="TextBox 8"/>
          <p:cNvSpPr txBox="1"/>
          <p:nvPr/>
        </p:nvSpPr>
        <p:spPr>
          <a:xfrm>
            <a:off x="6263640" y="1965960"/>
            <a:ext cx="5029200" cy="1280160"/>
          </a:xfrm>
          <a:prstGeom prst="rect">
            <a:avLst/>
          </a:prstGeom>
          <a:noFill/>
        </p:spPr>
        <p:txBody>
          <a:bodyPr wrap="square" anchor="t" lIns="0" rIns="0" tIns="0" bIns="0">
            <a:noAutofit/>
          </a:bodyPr>
          <a:lstStyle/>
          <a:p>
            <a:pPr algn="l">
              <a:lnSpc>
                <a:spcPct val="135000"/>
              </a:lnSpc>
            </a:pPr>
            <a:r>
              <a:rPr sz="1150" b="0" i="0">
                <a:solidFill>
                  <a:srgbClr val="44506A"/>
                </a:solidFill>
                <a:latin typeface="Inter"/>
              </a:rPr>
              <a:t>Tous les chemins d'API ont ete prefixes par un slash (/api/...), garantissant une resolution absolue depuis la racine du site, quelle que soit la profondeur de la page appelante.</a:t>
            </a:r>
          </a:p>
        </p:txBody>
      </p:sp>
      <p:sp>
        <p:nvSpPr>
          <p:cNvPr id="10" name="Rounded Rectangle 9"/>
          <p:cNvSpPr/>
          <p:nvPr/>
        </p:nvSpPr>
        <p:spPr>
          <a:xfrm>
            <a:off x="6263640" y="3429000"/>
            <a:ext cx="5029200" cy="1508760"/>
          </a:xfrm>
          <a:prstGeom prst="roundRect">
            <a:avLst>
              <a:gd name="adj" fmla="val 8000"/>
            </a:avLst>
          </a:prstGeom>
          <a:solidFill>
            <a:srgbClr val="F5F7FA"/>
          </a:solidFill>
          <a:ln w="12700">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611880"/>
            <a:ext cx="4572000" cy="365760"/>
          </a:xfrm>
          <a:prstGeom prst="rect">
            <a:avLst/>
          </a:prstGeom>
          <a:noFill/>
        </p:spPr>
        <p:txBody>
          <a:bodyPr wrap="square" anchor="t" lIns="0" rIns="0" tIns="0" bIns="0">
            <a:noAutofit/>
          </a:bodyPr>
          <a:lstStyle/>
          <a:p>
            <a:pPr algn="l">
              <a:lnSpc>
                <a:spcPct val="100000"/>
              </a:lnSpc>
            </a:pPr>
            <a:r>
              <a:rPr sz="950" b="1" i="0">
                <a:solidFill>
                  <a:srgbClr val="C0392B"/>
                </a:solidFill>
                <a:latin typeface="Inter"/>
              </a:rPr>
              <a:t>Avant (casse en profondeur) :</a:t>
            </a:r>
          </a:p>
        </p:txBody>
      </p:sp>
      <p:sp>
        <p:nvSpPr>
          <p:cNvPr id="12" name="TextBox 11"/>
          <p:cNvSpPr txBox="1"/>
          <p:nvPr/>
        </p:nvSpPr>
        <p:spPr>
          <a:xfrm>
            <a:off x="6492240" y="3931920"/>
            <a:ext cx="4572000" cy="365760"/>
          </a:xfrm>
          <a:prstGeom prst="rect">
            <a:avLst/>
          </a:prstGeom>
          <a:noFill/>
        </p:spPr>
        <p:txBody>
          <a:bodyPr wrap="square" anchor="t" lIns="0" rIns="0" tIns="0" bIns="0">
            <a:noAutofit/>
          </a:bodyPr>
          <a:lstStyle/>
          <a:p>
            <a:pPr algn="l">
              <a:lnSpc>
                <a:spcPct val="100000"/>
              </a:lnSpc>
            </a:pPr>
            <a:r>
              <a:rPr sz="1100" b="0" i="0">
                <a:solidFill>
                  <a:srgbClr val="16233A"/>
                </a:solidFill>
                <a:latin typeface="Consolas"/>
              </a:rPr>
              <a:t>fetch('api/auth.php')</a:t>
            </a:r>
          </a:p>
        </p:txBody>
      </p:sp>
      <p:sp>
        <p:nvSpPr>
          <p:cNvPr id="13" name="TextBox 12"/>
          <p:cNvSpPr txBox="1"/>
          <p:nvPr/>
        </p:nvSpPr>
        <p:spPr>
          <a:xfrm>
            <a:off x="6492240" y="4370832"/>
            <a:ext cx="4572000" cy="365760"/>
          </a:xfrm>
          <a:prstGeom prst="rect">
            <a:avLst/>
          </a:prstGeom>
          <a:noFill/>
        </p:spPr>
        <p:txBody>
          <a:bodyPr wrap="square" anchor="t" lIns="0" rIns="0" tIns="0" bIns="0">
            <a:noAutofit/>
          </a:bodyPr>
          <a:lstStyle/>
          <a:p>
            <a:pPr algn="l">
              <a:lnSpc>
                <a:spcPct val="100000"/>
              </a:lnSpc>
            </a:pPr>
            <a:r>
              <a:rPr sz="950" b="1" i="0">
                <a:solidFill>
                  <a:srgbClr val="0E8F6B"/>
                </a:solidFill>
                <a:latin typeface="Inter"/>
              </a:rPr>
              <a:t>Apres (toujours correct) :</a:t>
            </a:r>
          </a:p>
        </p:txBody>
      </p:sp>
      <p:sp>
        <p:nvSpPr>
          <p:cNvPr id="14" name="TextBox 13"/>
          <p:cNvSpPr txBox="1"/>
          <p:nvPr/>
        </p:nvSpPr>
        <p:spPr>
          <a:xfrm>
            <a:off x="6492240" y="4681728"/>
            <a:ext cx="4572000" cy="365760"/>
          </a:xfrm>
          <a:prstGeom prst="rect">
            <a:avLst/>
          </a:prstGeom>
          <a:noFill/>
        </p:spPr>
        <p:txBody>
          <a:bodyPr wrap="square" anchor="t" lIns="0" rIns="0" tIns="0" bIns="0">
            <a:noAutofit/>
          </a:bodyPr>
          <a:lstStyle/>
          <a:p>
            <a:pPr algn="l">
              <a:lnSpc>
                <a:spcPct val="100000"/>
              </a:lnSpc>
            </a:pPr>
            <a:r>
              <a:rPr sz="1100" b="1" i="0">
                <a:solidFill>
                  <a:srgbClr val="0E8F6B"/>
                </a:solidFill>
                <a:latin typeface="Consolas"/>
              </a:rPr>
              <a:t>fetch('/api/auth.php')</a:t>
            </a:r>
          </a:p>
        </p:txBody>
      </p:sp>
      <p:sp>
        <p:nvSpPr>
          <p:cNvPr id="15" name="TextBox 14"/>
          <p:cNvSpPr txBox="1"/>
          <p:nvPr/>
        </p:nvSpPr>
        <p:spPr>
          <a:xfrm>
            <a:off x="822960" y="4160520"/>
            <a:ext cx="5029200" cy="914400"/>
          </a:xfrm>
          <a:prstGeom prst="rect">
            <a:avLst/>
          </a:prstGeom>
          <a:noFill/>
        </p:spPr>
        <p:txBody>
          <a:bodyPr wrap="square" anchor="t" lIns="0" rIns="0" tIns="0" bIns="0">
            <a:noAutofit/>
          </a:bodyPr>
          <a:lstStyle/>
          <a:p>
            <a:pPr algn="l">
              <a:lnSpc>
                <a:spcPct val="130000"/>
              </a:lnSpc>
            </a:pPr>
            <a:r>
              <a:rPr sz="1100" b="0" i="1">
                <a:solidFill>
                  <a:srgbClr val="44506A"/>
                </a:solidFill>
                <a:latin typeface="Inter"/>
              </a:rPr>
              <a:t>Verifie en reproduisant le bug en direct sur recruteur/poster-offre.html, puis en confirmant sa disparition apres correction.</a:t>
            </a:r>
          </a:p>
        </p:txBody>
      </p:sp>
      <p:sp>
        <p:nvSpPr>
          <p:cNvPr id="16" name="TextBox 15"/>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39</a:t>
            </a:r>
          </a:p>
        </p:txBody>
      </p:sp>
      <p:sp>
        <p:nvSpPr>
          <p:cNvPr id="17" name="Rectangle 16"/>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456057" cy="310896"/>
          </a:xfrm>
          <a:prstGeom prst="roundRect">
            <a:avLst>
              <a:gd name="adj" fmla="val 50000"/>
            </a:avLst>
          </a:prstGeom>
          <a:solidFill>
            <a:srgbClr val="C0392B">
              <a:alpha val="10000"/>
            </a:srgbClr>
          </a:solidFill>
          <a:ln w="12700">
            <a:solidFill>
              <a:srgbClr val="C0392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0392B"/>
                </a:solidFill>
                <a:latin typeface="Inter"/>
              </a:rPr>
              <a:t>DIFFICULTE 3 / 4</a:t>
            </a:r>
          </a:p>
        </p:txBody>
      </p:sp>
      <p:sp>
        <p:nvSpPr>
          <p:cNvPr id="5" name="TextBox 4"/>
          <p:cNvSpPr txBox="1"/>
          <p:nvPr/>
        </p:nvSpPr>
        <p:spPr>
          <a:xfrm>
            <a:off x="822960" y="914400"/>
            <a:ext cx="10058400" cy="594360"/>
          </a:xfrm>
          <a:prstGeom prst="rect">
            <a:avLst/>
          </a:prstGeom>
          <a:noFill/>
        </p:spPr>
        <p:txBody>
          <a:bodyPr wrap="square" anchor="t" lIns="0" rIns="0" tIns="0" bIns="0">
            <a:noAutofit/>
          </a:bodyPr>
          <a:lstStyle/>
          <a:p>
            <a:pPr algn="l">
              <a:lnSpc>
                <a:spcPct val="100000"/>
              </a:lnSpc>
            </a:pPr>
            <a:r>
              <a:rPr sz="2300" b="1" i="0">
                <a:solidFill>
                  <a:srgbClr val="16233A"/>
                </a:solidFill>
                <a:latin typeface="Sora"/>
              </a:rPr>
              <a:t>Des caracteres accentues corrompus a l'import</a:t>
            </a:r>
          </a:p>
        </p:txBody>
      </p:sp>
      <p:sp>
        <p:nvSpPr>
          <p:cNvPr id="6" name="TextBox 5"/>
          <p:cNvSpPr txBox="1"/>
          <p:nvPr/>
        </p:nvSpPr>
        <p:spPr>
          <a:xfrm>
            <a:off x="82296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C0392B"/>
                </a:solidFill>
                <a:latin typeface="Inter"/>
              </a:rPr>
              <a:t>LE PROBLEME</a:t>
            </a:r>
          </a:p>
        </p:txBody>
      </p:sp>
      <p:sp>
        <p:nvSpPr>
          <p:cNvPr id="7" name="TextBox 6"/>
          <p:cNvSpPr txBox="1"/>
          <p:nvPr/>
        </p:nvSpPr>
        <p:spPr>
          <a:xfrm>
            <a:off x="822960" y="1965960"/>
            <a:ext cx="5029200" cy="1828800"/>
          </a:xfrm>
          <a:prstGeom prst="rect">
            <a:avLst/>
          </a:prstGeom>
          <a:noFill/>
        </p:spPr>
        <p:txBody>
          <a:bodyPr wrap="square" anchor="t" lIns="0" rIns="0" tIns="0" bIns="0">
            <a:noAutofit/>
          </a:bodyPr>
          <a:lstStyle/>
          <a:p>
            <a:pPr algn="l">
              <a:lnSpc>
                <a:spcPct val="132000"/>
              </a:lnSpc>
            </a:pPr>
            <a:r>
              <a:rPr sz="1150" b="0" i="0">
                <a:solidFill>
                  <a:srgbClr val="44506A"/>
                </a:solidFill>
                <a:latin typeface="Inter"/>
              </a:rPr>
              <a:t>Bien que la base de donnees et la connexion PDO soient toutes deux configurees en utf8mb4, un premier import du jeu de donnees via le client en ligne de commande mysql produisait des caracteres accentues corrompus (mojibake) dans les textes en francais — un exemple classique de decalage entre l'encodage de la base cible et celui utilise par la commande d'import elle-meme.</a:t>
            </a:r>
          </a:p>
        </p:txBody>
      </p:sp>
      <p:sp>
        <p:nvSpPr>
          <p:cNvPr id="8" name="TextBox 7"/>
          <p:cNvSpPr txBox="1"/>
          <p:nvPr/>
        </p:nvSpPr>
        <p:spPr>
          <a:xfrm>
            <a:off x="626364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0E8F6B"/>
                </a:solidFill>
                <a:latin typeface="Inter"/>
              </a:rPr>
              <a:t>LA SOLUTION</a:t>
            </a:r>
          </a:p>
        </p:txBody>
      </p:sp>
      <p:sp>
        <p:nvSpPr>
          <p:cNvPr id="9" name="TextBox 8"/>
          <p:cNvSpPr txBox="1"/>
          <p:nvPr/>
        </p:nvSpPr>
        <p:spPr>
          <a:xfrm>
            <a:off x="6263640" y="1965960"/>
            <a:ext cx="5029200" cy="1005840"/>
          </a:xfrm>
          <a:prstGeom prst="rect">
            <a:avLst/>
          </a:prstGeom>
          <a:noFill/>
        </p:spPr>
        <p:txBody>
          <a:bodyPr wrap="square" anchor="t" lIns="0" rIns="0" tIns="0" bIns="0">
            <a:noAutofit/>
          </a:bodyPr>
          <a:lstStyle/>
          <a:p>
            <a:pPr algn="l">
              <a:lnSpc>
                <a:spcPct val="135000"/>
              </a:lnSpc>
            </a:pPr>
            <a:r>
              <a:rPr sz="1150" b="0" i="0">
                <a:solidFill>
                  <a:srgbClr val="44506A"/>
                </a:solidFill>
                <a:latin typeface="Inter"/>
              </a:rPr>
              <a:t>Ajout explicite du drapeau de jeu de caracteres a la commande d'import du client MySQL en ligne de commande :</a:t>
            </a:r>
          </a:p>
        </p:txBody>
      </p:sp>
      <p:sp>
        <p:nvSpPr>
          <p:cNvPr id="10" name="Rounded Rectangle 9"/>
          <p:cNvSpPr/>
          <p:nvPr/>
        </p:nvSpPr>
        <p:spPr>
          <a:xfrm>
            <a:off x="6263640" y="3063240"/>
            <a:ext cx="5029200" cy="914400"/>
          </a:xfrm>
          <a:prstGeom prst="roundRect">
            <a:avLst>
              <a:gd name="adj" fmla="val 8000"/>
            </a:avLst>
          </a:prstGeom>
          <a:solidFill>
            <a:srgbClr val="F5F7FA"/>
          </a:solidFill>
          <a:ln w="12700">
            <a:solidFill>
              <a:srgbClr val="DF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337560"/>
            <a:ext cx="4572000" cy="457200"/>
          </a:xfrm>
          <a:prstGeom prst="rect">
            <a:avLst/>
          </a:prstGeom>
          <a:noFill/>
        </p:spPr>
        <p:txBody>
          <a:bodyPr wrap="square" anchor="t" lIns="0" rIns="0" tIns="0" bIns="0">
            <a:noAutofit/>
          </a:bodyPr>
          <a:lstStyle/>
          <a:p>
            <a:pPr algn="l">
              <a:lnSpc>
                <a:spcPct val="130000"/>
              </a:lnSpc>
            </a:pPr>
            <a:r>
              <a:rPr sz="1050" b="1" i="0">
                <a:solidFill>
                  <a:srgbClr val="0E8F6B"/>
                </a:solidFill>
                <a:latin typeface="Consolas"/>
              </a:rPr>
              <a:t>mysql -u root -P 3307</a:t>
            </a:r>
          </a:p>
          <a:p>
            <a:pPr algn="l">
              <a:lnSpc>
                <a:spcPct val="130000"/>
              </a:lnSpc>
            </a:pPr>
            <a:r>
              <a:rPr sz="1050" b="1" i="0">
                <a:solidFill>
                  <a:srgbClr val="0E8F6B"/>
                </a:solidFill>
                <a:latin typeface="Consolas"/>
              </a:rPr>
              <a:t>  --default-character-set=utf8mb4 &lt; seed.sql</a:t>
            </a:r>
          </a:p>
        </p:txBody>
      </p:sp>
      <p:sp>
        <p:nvSpPr>
          <p:cNvPr id="12" name="TextBox 11"/>
          <p:cNvSpPr txBox="1"/>
          <p:nvPr/>
        </p:nvSpPr>
        <p:spPr>
          <a:xfrm>
            <a:off x="822960" y="4160520"/>
            <a:ext cx="5029200" cy="914400"/>
          </a:xfrm>
          <a:prstGeom prst="rect">
            <a:avLst/>
          </a:prstGeom>
          <a:noFill/>
        </p:spPr>
        <p:txBody>
          <a:bodyPr wrap="square" anchor="t" lIns="0" rIns="0" tIns="0" bIns="0">
            <a:noAutofit/>
          </a:bodyPr>
          <a:lstStyle/>
          <a:p>
            <a:pPr algn="l">
              <a:lnSpc>
                <a:spcPct val="130000"/>
              </a:lnSpc>
            </a:pPr>
            <a:r>
              <a:rPr sz="1100" b="0" i="1">
                <a:solidFill>
                  <a:srgbClr val="44506A"/>
                </a:solidFill>
                <a:latin typeface="Inter"/>
              </a:rPr>
              <a:t>Un rappel utile : configurer l'encodage de la base ne suffit pas si l'outil utilise pour y ecrire les donnees ne declare pas le meme encodage de son cote.</a:t>
            </a:r>
          </a:p>
        </p:txBody>
      </p:sp>
      <p:sp>
        <p:nvSpPr>
          <p:cNvPr id="13" name="TextBox 12"/>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40</a:t>
            </a:r>
          </a:p>
        </p:txBody>
      </p:sp>
      <p:sp>
        <p:nvSpPr>
          <p:cNvPr id="14" name="Rectangle 13"/>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1456057" cy="310896"/>
          </a:xfrm>
          <a:prstGeom prst="roundRect">
            <a:avLst>
              <a:gd name="adj" fmla="val 50000"/>
            </a:avLst>
          </a:prstGeom>
          <a:solidFill>
            <a:srgbClr val="C0392B">
              <a:alpha val="10000"/>
            </a:srgbClr>
          </a:solidFill>
          <a:ln w="12700">
            <a:solidFill>
              <a:srgbClr val="C0392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0392B"/>
                </a:solidFill>
                <a:latin typeface="Inter"/>
              </a:rPr>
              <a:t>DIFFICULTE 4 / 4</a:t>
            </a:r>
          </a:p>
        </p:txBody>
      </p:sp>
      <p:sp>
        <p:nvSpPr>
          <p:cNvPr id="5" name="TextBox 4"/>
          <p:cNvSpPr txBox="1"/>
          <p:nvPr/>
        </p:nvSpPr>
        <p:spPr>
          <a:xfrm>
            <a:off x="822960" y="914400"/>
            <a:ext cx="10058400" cy="594360"/>
          </a:xfrm>
          <a:prstGeom prst="rect">
            <a:avLst/>
          </a:prstGeom>
          <a:noFill/>
        </p:spPr>
        <p:txBody>
          <a:bodyPr wrap="square" anchor="t" lIns="0" rIns="0" tIns="0" bIns="0">
            <a:noAutofit/>
          </a:bodyPr>
          <a:lstStyle/>
          <a:p>
            <a:pPr algn="l">
              <a:lnSpc>
                <a:spcPct val="100000"/>
              </a:lnSpc>
            </a:pPr>
            <a:r>
              <a:rPr sz="2300" b="1" i="0">
                <a:solidFill>
                  <a:srgbClr val="16233A"/>
                </a:solidFill>
                <a:latin typeface="Sora"/>
              </a:rPr>
              <a:t>Une instance MySQL partagee et corrompue</a:t>
            </a:r>
          </a:p>
        </p:txBody>
      </p:sp>
      <p:sp>
        <p:nvSpPr>
          <p:cNvPr id="6" name="TextBox 5"/>
          <p:cNvSpPr txBox="1"/>
          <p:nvPr/>
        </p:nvSpPr>
        <p:spPr>
          <a:xfrm>
            <a:off x="82296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C0392B"/>
                </a:solidFill>
                <a:latin typeface="Inter"/>
              </a:rPr>
              <a:t>LE PROBLEME</a:t>
            </a:r>
          </a:p>
        </p:txBody>
      </p:sp>
      <p:sp>
        <p:nvSpPr>
          <p:cNvPr id="7" name="TextBox 6"/>
          <p:cNvSpPr txBox="1"/>
          <p:nvPr/>
        </p:nvSpPr>
        <p:spPr>
          <a:xfrm>
            <a:off x="822960" y="1965960"/>
            <a:ext cx="5029200" cy="2011680"/>
          </a:xfrm>
          <a:prstGeom prst="rect">
            <a:avLst/>
          </a:prstGeom>
          <a:noFill/>
        </p:spPr>
        <p:txBody>
          <a:bodyPr wrap="square" anchor="t" lIns="0" rIns="0" tIns="0" bIns="0">
            <a:noAutofit/>
          </a:bodyPr>
          <a:lstStyle/>
          <a:p>
            <a:pPr algn="l">
              <a:lnSpc>
                <a:spcPct val="132000"/>
              </a:lnSpc>
            </a:pPr>
            <a:r>
              <a:rPr sz="1150" b="0" i="0">
                <a:solidFill>
                  <a:srgbClr val="44506A"/>
                </a:solidFill>
                <a:latin typeface="Inter"/>
              </a:rPr>
              <a:t>L'instance MySQL fournie par l'environnement XAMPP local presentait une table systeme corrompue, l'empechant de demarrer. Cette meme instance hebergeait egalement d'autres bases de donnees preexistantes, sans lien avec ce projet — toute tentative de reparation risquait de les endommager davantage plutot que de les sauver.</a:t>
            </a:r>
          </a:p>
        </p:txBody>
      </p:sp>
      <p:sp>
        <p:nvSpPr>
          <p:cNvPr id="8" name="TextBox 7"/>
          <p:cNvSpPr txBox="1"/>
          <p:nvPr/>
        </p:nvSpPr>
        <p:spPr>
          <a:xfrm>
            <a:off x="6263640" y="1645920"/>
            <a:ext cx="5029200" cy="320040"/>
          </a:xfrm>
          <a:prstGeom prst="rect">
            <a:avLst/>
          </a:prstGeom>
          <a:noFill/>
        </p:spPr>
        <p:txBody>
          <a:bodyPr wrap="square" anchor="t" lIns="0" rIns="0" tIns="0" bIns="0">
            <a:noAutofit/>
          </a:bodyPr>
          <a:lstStyle/>
          <a:p>
            <a:pPr algn="l">
              <a:lnSpc>
                <a:spcPct val="100000"/>
              </a:lnSpc>
            </a:pPr>
            <a:r>
              <a:rPr sz="1050" b="1" i="0" spc="100">
                <a:solidFill>
                  <a:srgbClr val="0E8F6B"/>
                </a:solidFill>
                <a:latin typeface="Inter"/>
              </a:rPr>
              <a:t>LA SOLUTION</a:t>
            </a:r>
          </a:p>
        </p:txBody>
      </p:sp>
      <p:sp>
        <p:nvSpPr>
          <p:cNvPr id="9" name="TextBox 8"/>
          <p:cNvSpPr txBox="1"/>
          <p:nvPr/>
        </p:nvSpPr>
        <p:spPr>
          <a:xfrm>
            <a:off x="6263640" y="1965960"/>
            <a:ext cx="5029200" cy="2011680"/>
          </a:xfrm>
          <a:prstGeom prst="rect">
            <a:avLst/>
          </a:prstGeom>
          <a:noFill/>
        </p:spPr>
        <p:txBody>
          <a:bodyPr wrap="square" anchor="t" lIns="0" rIns="0" tIns="0" bIns="0">
            <a:noAutofit/>
          </a:bodyPr>
          <a:lstStyle/>
          <a:p>
            <a:pPr algn="l">
              <a:lnSpc>
                <a:spcPct val="132000"/>
              </a:lnSpc>
            </a:pPr>
            <a:r>
              <a:rPr sz="1150" b="0" i="0">
                <a:solidFill>
                  <a:srgbClr val="44506A"/>
                </a:solidFill>
                <a:latin typeface="Inter"/>
              </a:rPr>
              <a:t>Plutot que de risquer une reparation sur l'instance partagee, une instance MariaDB totalement independante et isolee a ete creee specifiquement pour NeoJob : port dedie (3307), repertoire de donnees propre. Cette approche a garanti l'integrite des autres projets heberges par le meme environnement XAMPP, au prix d'une gestion de deux instances MySQL en parallele.</a:t>
            </a:r>
          </a:p>
        </p:txBody>
      </p:sp>
      <p:sp>
        <p:nvSpPr>
          <p:cNvPr id="10" name="TextBox 9"/>
          <p:cNvSpPr txBox="1"/>
          <p:nvPr/>
        </p:nvSpPr>
        <p:spPr>
          <a:xfrm>
            <a:off x="822960" y="4297680"/>
            <a:ext cx="10424160" cy="822960"/>
          </a:xfrm>
          <a:prstGeom prst="rect">
            <a:avLst/>
          </a:prstGeom>
          <a:noFill/>
        </p:spPr>
        <p:txBody>
          <a:bodyPr wrap="square" anchor="t" lIns="0" rIns="0" tIns="0" bIns="0">
            <a:noAutofit/>
          </a:bodyPr>
          <a:lstStyle/>
          <a:p>
            <a:pPr algn="l">
              <a:lnSpc>
                <a:spcPct val="135000"/>
              </a:lnSpc>
            </a:pPr>
            <a:r>
              <a:rPr sz="1150" b="0" i="1">
                <a:solidFill>
                  <a:srgbClr val="44506A"/>
                </a:solidFill>
                <a:latin typeface="Inter"/>
              </a:rPr>
              <a:t>Une decision deliberement prudente : proteger des donnees preexistantes non liees au projet a ete priorise plutot que de tenter une reparation rapide mais risquee.</a:t>
            </a:r>
          </a:p>
        </p:txBody>
      </p:sp>
      <p:sp>
        <p:nvSpPr>
          <p:cNvPr id="11" name="TextBox 10"/>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41</a:t>
            </a:r>
          </a:p>
        </p:txBody>
      </p:sp>
      <p:sp>
        <p:nvSpPr>
          <p:cNvPr id="12" name="Rectangle 11"/>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02920"/>
            <a:ext cx="2100210"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CE QUI FAIT LA DIFFERENCE</a:t>
            </a:r>
          </a:p>
        </p:txBody>
      </p:sp>
      <p:sp>
        <p:nvSpPr>
          <p:cNvPr id="5" name="TextBox 4"/>
          <p:cNvSpPr txBox="1"/>
          <p:nvPr/>
        </p:nvSpPr>
        <p:spPr>
          <a:xfrm>
            <a:off x="822960" y="914400"/>
            <a:ext cx="9875520" cy="594360"/>
          </a:xfrm>
          <a:prstGeom prst="rect">
            <a:avLst/>
          </a:prstGeom>
          <a:noFill/>
        </p:spPr>
        <p:txBody>
          <a:bodyPr wrap="square" anchor="t" lIns="0" rIns="0" tIns="0" bIns="0">
            <a:noAutofit/>
          </a:bodyPr>
          <a:lstStyle/>
          <a:p>
            <a:pPr algn="l">
              <a:lnSpc>
                <a:spcPct val="100000"/>
              </a:lnSpc>
            </a:pPr>
            <a:r>
              <a:rPr sz="2400" b="1" i="0">
                <a:solidFill>
                  <a:srgbClr val="16233A"/>
                </a:solidFill>
                <a:latin typeface="Sora"/>
              </a:rPr>
              <a:t>Huit details qui depassent le simple CRUD</a:t>
            </a:r>
          </a:p>
        </p:txBody>
      </p:sp>
      <p:sp>
        <p:nvSpPr>
          <p:cNvPr id="6" name="Rounded Rectangle 5"/>
          <p:cNvSpPr/>
          <p:nvPr/>
        </p:nvSpPr>
        <p:spPr>
          <a:xfrm>
            <a:off x="822960" y="1783080"/>
            <a:ext cx="2542032" cy="1965960"/>
          </a:xfrm>
          <a:prstGeom prst="roundRect">
            <a:avLst>
              <a:gd name="adj" fmla="val 8000"/>
            </a:avLst>
          </a:prstGeom>
          <a:solidFill>
            <a:srgbClr val="FFFFFF"/>
          </a:solidFill>
          <a:ln w="12700">
            <a:solidFill>
              <a:srgbClr val="6D59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4128" y="1984248"/>
            <a:ext cx="365760" cy="54864"/>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148840"/>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Pipeline Kanban</a:t>
            </a:r>
          </a:p>
        </p:txBody>
      </p:sp>
      <p:sp>
        <p:nvSpPr>
          <p:cNvPr id="9" name="TextBox 8"/>
          <p:cNvSpPr txBox="1"/>
          <p:nvPr/>
        </p:nvSpPr>
        <p:spPr>
          <a:xfrm>
            <a:off x="1024128" y="2697480"/>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Candidatures glissees d'une etape a l'autre, pas juste une liste statique.</a:t>
            </a:r>
          </a:p>
        </p:txBody>
      </p:sp>
      <p:sp>
        <p:nvSpPr>
          <p:cNvPr id="10" name="Rounded Rectangle 9"/>
          <p:cNvSpPr/>
          <p:nvPr/>
        </p:nvSpPr>
        <p:spPr>
          <a:xfrm>
            <a:off x="3529584" y="1783080"/>
            <a:ext cx="2542032" cy="1965960"/>
          </a:xfrm>
          <a:prstGeom prst="roundRect">
            <a:avLst>
              <a:gd name="adj" fmla="val 8000"/>
            </a:avLst>
          </a:prstGeom>
          <a:solidFill>
            <a:srgbClr val="FFFFFF"/>
          </a:solidFill>
          <a:ln w="12700">
            <a:solidFill>
              <a:srgbClr val="0E8F6B">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30752" y="1984248"/>
            <a:ext cx="365760" cy="54864"/>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0752" y="2148840"/>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Quiz de competences</a:t>
            </a:r>
          </a:p>
        </p:txBody>
      </p:sp>
      <p:sp>
        <p:nvSpPr>
          <p:cNvPr id="13" name="TextBox 12"/>
          <p:cNvSpPr txBox="1"/>
          <p:nvPr/>
        </p:nvSpPr>
        <p:spPr>
          <a:xfrm>
            <a:off x="3730752" y="2697480"/>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Un badge « verifie » gagne, jamais auto-declare.</a:t>
            </a:r>
          </a:p>
        </p:txBody>
      </p:sp>
      <p:sp>
        <p:nvSpPr>
          <p:cNvPr id="14" name="Rounded Rectangle 13"/>
          <p:cNvSpPr/>
          <p:nvPr/>
        </p:nvSpPr>
        <p:spPr>
          <a:xfrm>
            <a:off x="6236208" y="1783080"/>
            <a:ext cx="2542032" cy="1965960"/>
          </a:xfrm>
          <a:prstGeom prst="roundRect">
            <a:avLst>
              <a:gd name="adj" fmla="val 8000"/>
            </a:avLst>
          </a:prstGeom>
          <a:solidFill>
            <a:srgbClr val="FFFFFF"/>
          </a:solidFill>
          <a:ln w="12700">
            <a:solidFill>
              <a:srgbClr val="2F6F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37376" y="1984248"/>
            <a:ext cx="365760" cy="54864"/>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2148840"/>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Simulateur de salaire</a:t>
            </a:r>
          </a:p>
        </p:txBody>
      </p:sp>
      <p:sp>
        <p:nvSpPr>
          <p:cNvPr id="17" name="TextBox 16"/>
          <p:cNvSpPr txBox="1"/>
          <p:nvPr/>
        </p:nvSpPr>
        <p:spPr>
          <a:xfrm>
            <a:off x="6437376" y="2697480"/>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Une estimation calculee sur les offres reelles de la plateforme.</a:t>
            </a:r>
          </a:p>
        </p:txBody>
      </p:sp>
      <p:sp>
        <p:nvSpPr>
          <p:cNvPr id="18" name="Rounded Rectangle 17"/>
          <p:cNvSpPr/>
          <p:nvPr/>
        </p:nvSpPr>
        <p:spPr>
          <a:xfrm>
            <a:off x="8942832" y="1783080"/>
            <a:ext cx="2542032" cy="1965960"/>
          </a:xfrm>
          <a:prstGeom prst="roundRect">
            <a:avLst>
              <a:gd name="adj" fmla="val 8000"/>
            </a:avLst>
          </a:prstGeom>
          <a:solidFill>
            <a:srgbClr val="FFFFFF"/>
          </a:solidFill>
          <a:ln w="12700">
            <a:solidFill>
              <a:srgbClr val="C9721E">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0" y="1984248"/>
            <a:ext cx="365760" cy="54864"/>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2148840"/>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Badges entreprise verifiee</a:t>
            </a:r>
          </a:p>
        </p:txBody>
      </p:sp>
      <p:sp>
        <p:nvSpPr>
          <p:cNvPr id="21" name="TextBox 20"/>
          <p:cNvSpPr txBox="1"/>
          <p:nvPr/>
        </p:nvSpPr>
        <p:spPr>
          <a:xfrm>
            <a:off x="9144000" y="2697480"/>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La confiance rendue visible cote candidat.</a:t>
            </a:r>
          </a:p>
        </p:txBody>
      </p:sp>
      <p:sp>
        <p:nvSpPr>
          <p:cNvPr id="22" name="Rounded Rectangle 21"/>
          <p:cNvSpPr/>
          <p:nvPr/>
        </p:nvSpPr>
        <p:spPr>
          <a:xfrm>
            <a:off x="822960" y="3950208"/>
            <a:ext cx="2542032" cy="1965960"/>
          </a:xfrm>
          <a:prstGeom prst="roundRect">
            <a:avLst>
              <a:gd name="adj" fmla="val 8000"/>
            </a:avLst>
          </a:prstGeom>
          <a:solidFill>
            <a:srgbClr val="FFFFFF"/>
          </a:solidFill>
          <a:ln w="12700">
            <a:solidFill>
              <a:srgbClr val="6D59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24128" y="4151376"/>
            <a:ext cx="365760" cy="54864"/>
          </a:xfrm>
          <a:prstGeom prst="rect">
            <a:avLst/>
          </a:prstGeom>
          <a:solidFill>
            <a:srgbClr val="6D5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315968"/>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Messagerie integree</a:t>
            </a:r>
          </a:p>
        </p:txBody>
      </p:sp>
      <p:sp>
        <p:nvSpPr>
          <p:cNvPr id="25" name="TextBox 24"/>
          <p:cNvSpPr txBox="1"/>
          <p:nvPr/>
        </p:nvSpPr>
        <p:spPr>
          <a:xfrm>
            <a:off x="1024128" y="4864608"/>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Candidat et recruteur echangent sans quitter NeoJob.</a:t>
            </a:r>
          </a:p>
        </p:txBody>
      </p:sp>
      <p:sp>
        <p:nvSpPr>
          <p:cNvPr id="26" name="Rounded Rectangle 25"/>
          <p:cNvSpPr/>
          <p:nvPr/>
        </p:nvSpPr>
        <p:spPr>
          <a:xfrm>
            <a:off x="3529584" y="3950208"/>
            <a:ext cx="2542032" cy="1965960"/>
          </a:xfrm>
          <a:prstGeom prst="roundRect">
            <a:avLst>
              <a:gd name="adj" fmla="val 8000"/>
            </a:avLst>
          </a:prstGeom>
          <a:solidFill>
            <a:srgbClr val="FFFFFF"/>
          </a:solidFill>
          <a:ln w="12700">
            <a:solidFill>
              <a:srgbClr val="0E8F6B">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730752" y="4151376"/>
            <a:ext cx="365760" cy="54864"/>
          </a:xfrm>
          <a:prstGeom prst="rect">
            <a:avLst/>
          </a:prstGeom>
          <a:solidFill>
            <a:srgbClr val="0E8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30752" y="4315968"/>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Alertes personnalisees</a:t>
            </a:r>
          </a:p>
        </p:txBody>
      </p:sp>
      <p:sp>
        <p:nvSpPr>
          <p:cNvPr id="29" name="TextBox 28"/>
          <p:cNvSpPr txBox="1"/>
          <p:nvPr/>
        </p:nvSpPr>
        <p:spPr>
          <a:xfrm>
            <a:off x="3730752" y="4864608"/>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Le marche surveille automatiquement pour le candidat.</a:t>
            </a:r>
          </a:p>
        </p:txBody>
      </p:sp>
      <p:sp>
        <p:nvSpPr>
          <p:cNvPr id="30" name="Rounded Rectangle 29"/>
          <p:cNvSpPr/>
          <p:nvPr/>
        </p:nvSpPr>
        <p:spPr>
          <a:xfrm>
            <a:off x="6236208" y="3950208"/>
            <a:ext cx="2542032" cy="1965960"/>
          </a:xfrm>
          <a:prstGeom prst="roundRect">
            <a:avLst>
              <a:gd name="adj" fmla="val 8000"/>
            </a:avLst>
          </a:prstGeom>
          <a:solidFill>
            <a:srgbClr val="FFFFFF"/>
          </a:solidFill>
          <a:ln w="12700">
            <a:solidFill>
              <a:srgbClr val="2F6FE0">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37376" y="4151376"/>
            <a:ext cx="365760" cy="54864"/>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7376" y="4315968"/>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17 tables normalisees 3NF</a:t>
            </a:r>
          </a:p>
        </p:txBody>
      </p:sp>
      <p:sp>
        <p:nvSpPr>
          <p:cNvPr id="33" name="TextBox 32"/>
          <p:cNvSpPr txBox="1"/>
          <p:nvPr/>
        </p:nvSpPr>
        <p:spPr>
          <a:xfrm>
            <a:off x="6437376" y="4864608"/>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Zero duplication de donnees, integrite garantie par la BDD.</a:t>
            </a:r>
          </a:p>
        </p:txBody>
      </p:sp>
      <p:sp>
        <p:nvSpPr>
          <p:cNvPr id="34" name="Rounded Rectangle 33"/>
          <p:cNvSpPr/>
          <p:nvPr/>
        </p:nvSpPr>
        <p:spPr>
          <a:xfrm>
            <a:off x="8942832" y="3950208"/>
            <a:ext cx="2542032" cy="1965960"/>
          </a:xfrm>
          <a:prstGeom prst="roundRect">
            <a:avLst>
              <a:gd name="adj" fmla="val 8000"/>
            </a:avLst>
          </a:prstGeom>
          <a:solidFill>
            <a:srgbClr val="FFFFFF"/>
          </a:solidFill>
          <a:ln w="12700">
            <a:solidFill>
              <a:srgbClr val="C9721E">
                <a:alpha val="40000"/>
              </a:srgbClr>
            </a:solidFill>
          </a:ln>
          <a:effectLst>
            <a:outerShdw blurRad="140000" dist="38000" dir="5400000" rotWithShape="0">
              <a:srgbClr val="16233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0" y="4151376"/>
            <a:ext cx="365760" cy="54864"/>
          </a:xfrm>
          <a:prstGeom prst="rect">
            <a:avLst/>
          </a:prstGeom>
          <a:solidFill>
            <a:srgbClr val="C97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4315968"/>
            <a:ext cx="2139696" cy="594360"/>
          </a:xfrm>
          <a:prstGeom prst="rect">
            <a:avLst/>
          </a:prstGeom>
          <a:noFill/>
        </p:spPr>
        <p:txBody>
          <a:bodyPr wrap="square" anchor="t" lIns="0" rIns="0" tIns="0" bIns="0">
            <a:noAutofit/>
          </a:bodyPr>
          <a:lstStyle/>
          <a:p>
            <a:pPr algn="l">
              <a:lnSpc>
                <a:spcPct val="105000"/>
              </a:lnSpc>
            </a:pPr>
            <a:r>
              <a:rPr sz="1250" b="1" i="0">
                <a:solidFill>
                  <a:srgbClr val="16233A"/>
                </a:solidFill>
                <a:latin typeface="Sora"/>
              </a:rPr>
              <a:t>Statistiques par offre</a:t>
            </a:r>
          </a:p>
        </p:txBody>
      </p:sp>
      <p:sp>
        <p:nvSpPr>
          <p:cNvPr id="37" name="TextBox 36"/>
          <p:cNvSpPr txBox="1"/>
          <p:nvPr/>
        </p:nvSpPr>
        <p:spPr>
          <a:xfrm>
            <a:off x="9144000" y="4864608"/>
            <a:ext cx="2139696" cy="960120"/>
          </a:xfrm>
          <a:prstGeom prst="rect">
            <a:avLst/>
          </a:prstGeom>
          <a:noFill/>
        </p:spPr>
        <p:txBody>
          <a:bodyPr wrap="square" anchor="t" lIns="0" rIns="0" tIns="0" bIns="0">
            <a:noAutofit/>
          </a:bodyPr>
          <a:lstStyle/>
          <a:p>
            <a:pPr algn="l">
              <a:lnSpc>
                <a:spcPct val="130000"/>
              </a:lnSpc>
            </a:pPr>
            <a:r>
              <a:rPr sz="950" b="0" i="0">
                <a:solidFill>
                  <a:srgbClr val="44506A"/>
                </a:solidFill>
                <a:latin typeface="Inter"/>
              </a:rPr>
              <a:t>Chaque offre publiee sait combien de vues elle a genere.</a:t>
            </a:r>
          </a:p>
        </p:txBody>
      </p:sp>
      <p:sp>
        <p:nvSpPr>
          <p:cNvPr id="38" name="TextBox 37"/>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42</a:t>
            </a:r>
          </a:p>
        </p:txBody>
      </p:sp>
      <p:sp>
        <p:nvSpPr>
          <p:cNvPr id="39" name="Rectangle 38"/>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539935" y="-1554480"/>
            <a:ext cx="3840480" cy="3840480"/>
          </a:xfrm>
          <a:prstGeom prst="ellipse">
            <a:avLst/>
          </a:prstGeom>
          <a:solidFill>
            <a:srgbClr val="2F6FE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4983480"/>
            <a:ext cx="3200400" cy="3200400"/>
          </a:xfrm>
          <a:prstGeom prst="ellipse">
            <a:avLst/>
          </a:prstGeom>
          <a:solidFill>
            <a:srgbClr val="6D59E0">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548640"/>
            <a:ext cx="668758" cy="310896"/>
          </a:xfrm>
          <a:prstGeom prst="roundRect">
            <a:avLst>
              <a:gd name="adj" fmla="val 50000"/>
            </a:avLst>
          </a:prstGeom>
          <a:solidFill>
            <a:srgbClr val="16233A">
              <a:alpha val="10000"/>
            </a:srgbClr>
          </a:solidFill>
          <a:ln w="12700">
            <a:solidFill>
              <a:srgbClr val="16233A">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16233A"/>
                </a:solidFill>
                <a:latin typeface="Inter"/>
              </a:rPr>
              <a:t>BILAN</a:t>
            </a:r>
          </a:p>
        </p:txBody>
      </p:sp>
      <p:sp>
        <p:nvSpPr>
          <p:cNvPr id="5" name="TextBox 4"/>
          <p:cNvSpPr txBox="1"/>
          <p:nvPr/>
        </p:nvSpPr>
        <p:spPr>
          <a:xfrm>
            <a:off x="822960" y="1005840"/>
            <a:ext cx="9875520" cy="640080"/>
          </a:xfrm>
          <a:prstGeom prst="rect">
            <a:avLst/>
          </a:prstGeom>
          <a:noFill/>
        </p:spPr>
        <p:txBody>
          <a:bodyPr wrap="square" anchor="t" lIns="0" rIns="0" tIns="0" bIns="0">
            <a:noAutofit/>
          </a:bodyPr>
          <a:lstStyle/>
          <a:p>
            <a:pPr algn="l">
              <a:lnSpc>
                <a:spcPct val="100000"/>
              </a:lnSpc>
            </a:pPr>
            <a:r>
              <a:rPr sz="2700" b="1" i="0">
                <a:solidFill>
                  <a:srgbClr val="16233A"/>
                </a:solidFill>
                <a:latin typeface="Sora"/>
              </a:rPr>
              <a:t>Conclusion et perspectives</a:t>
            </a:r>
          </a:p>
        </p:txBody>
      </p:sp>
      <p:sp>
        <p:nvSpPr>
          <p:cNvPr id="6" name="TextBox 5"/>
          <p:cNvSpPr txBox="1"/>
          <p:nvPr/>
        </p:nvSpPr>
        <p:spPr>
          <a:xfrm>
            <a:off x="822960" y="1783080"/>
            <a:ext cx="10332720" cy="1463040"/>
          </a:xfrm>
          <a:prstGeom prst="rect">
            <a:avLst/>
          </a:prstGeom>
          <a:noFill/>
        </p:spPr>
        <p:txBody>
          <a:bodyPr wrap="square" anchor="t" lIns="0" rIns="0" tIns="0" bIns="0">
            <a:noAutofit/>
          </a:bodyPr>
          <a:lstStyle/>
          <a:p>
            <a:pPr algn="l">
              <a:lnSpc>
                <a:spcPct val="140000"/>
              </a:lnSpc>
            </a:pPr>
            <a:r>
              <a:rPr sz="1250" b="0" i="0">
                <a:solidFill>
                  <a:srgbClr val="44506A"/>
                </a:solidFill>
                <a:latin typeface="Inter"/>
              </a:rPr>
              <a:t>NeoJob demontre qu'une plateforme d'emploi peut aller au-dela du simple depot de CV en materialisant un veritable pipeline de recrutement, visible et actionnable par les deux parties. La demarche progressive — interface complete d'abord, puis migration vers une architecture PHP/MySQL securisee — a permis de valider separement l'ergonomie et la robustesse technique, tout en gardant a chaque etape une application pleinement fonctionnelle.</a:t>
            </a:r>
          </a:p>
        </p:txBody>
      </p:sp>
      <p:sp>
        <p:nvSpPr>
          <p:cNvPr id="7" name="TextBox 6"/>
          <p:cNvSpPr txBox="1"/>
          <p:nvPr/>
        </p:nvSpPr>
        <p:spPr>
          <a:xfrm>
            <a:off x="822960" y="3429000"/>
            <a:ext cx="4937760" cy="365760"/>
          </a:xfrm>
          <a:prstGeom prst="rect">
            <a:avLst/>
          </a:prstGeom>
          <a:noFill/>
        </p:spPr>
        <p:txBody>
          <a:bodyPr wrap="square" anchor="t" lIns="0" rIns="0" tIns="0" bIns="0">
            <a:noAutofit/>
          </a:bodyPr>
          <a:lstStyle/>
          <a:p>
            <a:pPr algn="l">
              <a:lnSpc>
                <a:spcPct val="100000"/>
              </a:lnSpc>
            </a:pPr>
            <a:r>
              <a:rPr sz="1100" b="1" i="0" spc="100">
                <a:solidFill>
                  <a:srgbClr val="6D59E0"/>
                </a:solidFill>
                <a:latin typeface="Inter"/>
              </a:rPr>
              <a:t>PERSPECTIVES D'EVOLUTION</a:t>
            </a:r>
          </a:p>
        </p:txBody>
      </p:sp>
      <p:sp>
        <p:nvSpPr>
          <p:cNvPr id="8" name="TextBox 7"/>
          <p:cNvSpPr txBox="1"/>
          <p:nvPr/>
        </p:nvSpPr>
        <p:spPr>
          <a:xfrm>
            <a:off x="822960" y="3840480"/>
            <a:ext cx="4937760" cy="2468880"/>
          </a:xfrm>
          <a:prstGeom prst="rect">
            <a:avLst/>
          </a:prstGeom>
          <a:noFill/>
        </p:spPr>
        <p:txBody>
          <a:bodyPr wrap="square" lIns="0" rIns="0" tIns="0" bIns="0">
            <a:noAutofit/>
          </a:bodyPr>
          <a:lstStyle/>
          <a:p>
            <a:pPr algn="l">
              <a:lnSpc>
                <a:spcPct val="118000"/>
              </a:lnSpc>
              <a:spcAft>
                <a:spcPts val="900"/>
              </a:spcAft>
            </a:pPr>
            <a:r>
              <a:rPr sz="1100" b="1">
                <a:solidFill>
                  <a:srgbClr val="6D59E0"/>
                </a:solidFill>
                <a:latin typeface="Inter"/>
              </a:rPr>
              <a:t>–  </a:t>
            </a:r>
            <a:r>
              <a:rPr sz="1100">
                <a:solidFill>
                  <a:srgbClr val="44506A"/>
                </a:solidFill>
                <a:latin typeface="Inter"/>
              </a:rPr>
              <a:t>Comptes d'equipe cote recruteur (plusieurs utilisateurs par entreprise)</a:t>
            </a:r>
          </a:p>
          <a:p>
            <a:pPr algn="l">
              <a:lnSpc>
                <a:spcPct val="118000"/>
              </a:lnSpc>
              <a:spcAft>
                <a:spcPts val="900"/>
              </a:spcAft>
            </a:pPr>
            <a:r>
              <a:rPr sz="1100" b="1">
                <a:solidFill>
                  <a:srgbClr val="6D59E0"/>
                </a:solidFill>
                <a:latin typeface="Inter"/>
              </a:rPr>
              <a:t>–  </a:t>
            </a:r>
            <a:r>
              <a:rPr sz="1100">
                <a:solidFill>
                  <a:srgbClr val="44506A"/>
                </a:solidFill>
                <a:latin typeface="Inter"/>
              </a:rPr>
              <a:t>Vivier de talents (talent pool) hors candidature active</a:t>
            </a:r>
          </a:p>
          <a:p>
            <a:pPr algn="l">
              <a:lnSpc>
                <a:spcPct val="118000"/>
              </a:lnSpc>
              <a:spcAft>
                <a:spcPts val="900"/>
              </a:spcAft>
            </a:pPr>
            <a:r>
              <a:rPr sz="1100" b="1">
                <a:solidFill>
                  <a:srgbClr val="6D59E0"/>
                </a:solidFill>
                <a:latin typeface="Inter"/>
              </a:rPr>
              <a:t>–  </a:t>
            </a:r>
            <a:r>
              <a:rPr sz="1100">
                <a:solidFill>
                  <a:srgbClr val="44506A"/>
                </a:solidFill>
                <a:latin typeface="Inter"/>
              </a:rPr>
              <a:t>Signalement des offres ou avis abusifs</a:t>
            </a:r>
          </a:p>
          <a:p>
            <a:pPr algn="l">
              <a:lnSpc>
                <a:spcPct val="118000"/>
              </a:lnSpc>
              <a:spcAft>
                <a:spcPts val="900"/>
              </a:spcAft>
            </a:pPr>
            <a:r>
              <a:rPr sz="1100" b="1">
                <a:solidFill>
                  <a:srgbClr val="6D59E0"/>
                </a:solidFill>
                <a:latin typeface="Inter"/>
              </a:rPr>
              <a:t>–  </a:t>
            </a:r>
            <a:r>
              <a:rPr sz="1100">
                <a:solidFill>
                  <a:srgbClr val="44506A"/>
                </a:solidFill>
                <a:latin typeface="Inter"/>
              </a:rPr>
              <a:t>Support Francais / Arabe avec mise en page RTL</a:t>
            </a:r>
          </a:p>
        </p:txBody>
      </p:sp>
      <p:sp>
        <p:nvSpPr>
          <p:cNvPr id="9" name="TextBox 8"/>
          <p:cNvSpPr txBox="1"/>
          <p:nvPr/>
        </p:nvSpPr>
        <p:spPr>
          <a:xfrm>
            <a:off x="6263640" y="3429000"/>
            <a:ext cx="4937760" cy="365760"/>
          </a:xfrm>
          <a:prstGeom prst="rect">
            <a:avLst/>
          </a:prstGeom>
          <a:noFill/>
        </p:spPr>
        <p:txBody>
          <a:bodyPr wrap="square" anchor="t" lIns="0" rIns="0" tIns="0" bIns="0">
            <a:noAutofit/>
          </a:bodyPr>
          <a:lstStyle/>
          <a:p>
            <a:pPr algn="l">
              <a:lnSpc>
                <a:spcPct val="100000"/>
              </a:lnSpc>
            </a:pPr>
            <a:r>
              <a:rPr sz="1100" b="1" i="0" spc="100">
                <a:solidFill>
                  <a:srgbClr val="0E8F6B"/>
                </a:solidFill>
                <a:latin typeface="Inter"/>
              </a:rPr>
              <a:t>ET TECHNIQUEMENT</a:t>
            </a:r>
          </a:p>
        </p:txBody>
      </p:sp>
      <p:sp>
        <p:nvSpPr>
          <p:cNvPr id="10" name="TextBox 9"/>
          <p:cNvSpPr txBox="1"/>
          <p:nvPr/>
        </p:nvSpPr>
        <p:spPr>
          <a:xfrm>
            <a:off x="6263640" y="3840480"/>
            <a:ext cx="4937760" cy="2468880"/>
          </a:xfrm>
          <a:prstGeom prst="rect">
            <a:avLst/>
          </a:prstGeom>
          <a:noFill/>
        </p:spPr>
        <p:txBody>
          <a:bodyPr wrap="square" lIns="0" rIns="0" tIns="0" bIns="0">
            <a:noAutofit/>
          </a:bodyPr>
          <a:lstStyle/>
          <a:p>
            <a:pPr algn="l">
              <a:lnSpc>
                <a:spcPct val="118000"/>
              </a:lnSpc>
              <a:spcAft>
                <a:spcPts val="900"/>
              </a:spcAft>
            </a:pPr>
            <a:r>
              <a:rPr sz="1100" b="1">
                <a:solidFill>
                  <a:srgbClr val="0E8F6B"/>
                </a:solidFill>
                <a:latin typeface="Inter"/>
              </a:rPr>
              <a:t>–  </a:t>
            </a:r>
            <a:r>
              <a:rPr sz="1100">
                <a:solidFill>
                  <a:srgbClr val="44506A"/>
                </a:solidFill>
                <a:latin typeface="Inter"/>
              </a:rPr>
              <a:t>Combler les endpoints API sans controle de role identifie</a:t>
            </a:r>
          </a:p>
          <a:p>
            <a:pPr algn="l">
              <a:lnSpc>
                <a:spcPct val="118000"/>
              </a:lnSpc>
              <a:spcAft>
                <a:spcPts val="900"/>
              </a:spcAft>
            </a:pPr>
            <a:r>
              <a:rPr sz="1100" b="1">
                <a:solidFill>
                  <a:srgbClr val="0E8F6B"/>
                </a:solidFill>
                <a:latin typeface="Inter"/>
              </a:rPr>
              <a:t>–  </a:t>
            </a:r>
            <a:r>
              <a:rPr sz="1100">
                <a:solidFill>
                  <a:srgbClr val="44506A"/>
                </a:solidFill>
                <a:latin typeface="Inter"/>
              </a:rPr>
              <a:t>Notifications par e-mail en complement des notifications in-app</a:t>
            </a:r>
          </a:p>
          <a:p>
            <a:pPr algn="l">
              <a:lnSpc>
                <a:spcPct val="118000"/>
              </a:lnSpc>
              <a:spcAft>
                <a:spcPts val="900"/>
              </a:spcAft>
            </a:pPr>
            <a:r>
              <a:rPr sz="1100" b="1">
                <a:solidFill>
                  <a:srgbClr val="0E8F6B"/>
                </a:solidFill>
                <a:latin typeface="Inter"/>
              </a:rPr>
              <a:t>–  </a:t>
            </a:r>
            <a:r>
              <a:rPr sz="1100">
                <a:solidFill>
                  <a:srgbClr val="44506A"/>
                </a:solidFill>
                <a:latin typeface="Inter"/>
              </a:rPr>
              <a:t>Journal d'audit des actions de moderation</a:t>
            </a:r>
          </a:p>
          <a:p>
            <a:pPr algn="l">
              <a:lnSpc>
                <a:spcPct val="118000"/>
              </a:lnSpc>
              <a:spcAft>
                <a:spcPts val="900"/>
              </a:spcAft>
            </a:pPr>
            <a:r>
              <a:rPr sz="1100" b="1">
                <a:solidFill>
                  <a:srgbClr val="0E8F6B"/>
                </a:solidFill>
                <a:latin typeface="Inter"/>
              </a:rPr>
              <a:t>–  </a:t>
            </a:r>
            <a:r>
              <a:rPr sz="1100">
                <a:solidFill>
                  <a:srgbClr val="44506A"/>
                </a:solidFill>
                <a:latin typeface="Inter"/>
              </a:rPr>
              <a:t>Suite de tests automatises (unitaires + end-to-end)</a:t>
            </a:r>
          </a:p>
        </p:txBody>
      </p:sp>
      <p:sp>
        <p:nvSpPr>
          <p:cNvPr id="11" name="TextBox 10"/>
          <p:cNvSpPr txBox="1"/>
          <p:nvPr/>
        </p:nvSpPr>
        <p:spPr>
          <a:xfrm>
            <a:off x="11185855" y="6446520"/>
            <a:ext cx="640080" cy="274320"/>
          </a:xfrm>
          <a:prstGeom prst="rect">
            <a:avLst/>
          </a:prstGeom>
          <a:noFill/>
        </p:spPr>
        <p:txBody>
          <a:bodyPr wrap="square" anchor="t" lIns="0" rIns="0" tIns="0" bIns="0">
            <a:noAutofit/>
          </a:bodyPr>
          <a:lstStyle/>
          <a:p>
            <a:pPr algn="r">
              <a:lnSpc>
                <a:spcPct val="100000"/>
              </a:lnSpc>
            </a:pPr>
            <a:r>
              <a:rPr sz="900" b="0" i="0">
                <a:solidFill>
                  <a:srgbClr val="7A879C"/>
                </a:solidFill>
                <a:latin typeface="Consolas"/>
              </a:rPr>
              <a:t>43</a:t>
            </a:r>
          </a:p>
        </p:txBody>
      </p:sp>
      <p:sp>
        <p:nvSpPr>
          <p:cNvPr id="12" name="Rectangle 11"/>
          <p:cNvSpPr/>
          <p:nvPr/>
        </p:nvSpPr>
        <p:spPr>
          <a:xfrm>
            <a:off x="640080" y="6473952"/>
            <a:ext cx="10362895" cy="9525"/>
          </a:xfrm>
          <a:prstGeom prst="rect">
            <a:avLst/>
          </a:prstGeom>
          <a:solidFill>
            <a:srgbClr val="DF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Oval 1"/>
          <p:cNvSpPr/>
          <p:nvPr/>
        </p:nvSpPr>
        <p:spPr>
          <a:xfrm>
            <a:off x="-1371600" y="3108960"/>
            <a:ext cx="6400800" cy="6400800"/>
          </a:xfrm>
          <a:prstGeom prst="ellipse">
            <a:avLst/>
          </a:prstGeom>
          <a:solidFill>
            <a:srgbClr val="6D59E0">
              <a:alpha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49640" y="-2240280"/>
            <a:ext cx="5943600" cy="5943600"/>
          </a:xfrm>
          <a:prstGeom prst="ellipse">
            <a:avLst/>
          </a:prstGeom>
          <a:solidFill>
            <a:srgbClr val="2F6FE0">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515600" cy="1463040"/>
          </a:xfrm>
          <a:prstGeom prst="rect">
            <a:avLst/>
          </a:prstGeom>
          <a:noFill/>
        </p:spPr>
        <p:txBody>
          <a:bodyPr wrap="square" anchor="t" lIns="0" rIns="0" tIns="0" bIns="0">
            <a:noAutofit/>
          </a:bodyPr>
          <a:lstStyle/>
          <a:p>
            <a:pPr algn="l"/>
            <a:r>
              <a:rPr sz="8800" b="1">
                <a:solidFill>
                  <a:srgbClr val="16233A"/>
                </a:solidFill>
                <a:latin typeface="Sora"/>
              </a:rPr>
              <a:t>Merci.</a:t>
            </a:r>
          </a:p>
        </p:txBody>
      </p:sp>
      <p:sp>
        <p:nvSpPr>
          <p:cNvPr id="5" name="TextBox 4"/>
          <p:cNvSpPr txBox="1"/>
          <p:nvPr/>
        </p:nvSpPr>
        <p:spPr>
          <a:xfrm>
            <a:off x="868680" y="3703320"/>
            <a:ext cx="8686800" cy="548640"/>
          </a:xfrm>
          <a:prstGeom prst="rect">
            <a:avLst/>
          </a:prstGeom>
          <a:noFill/>
        </p:spPr>
        <p:txBody>
          <a:bodyPr wrap="square" anchor="t" lIns="0" rIns="0" tIns="0" bIns="0">
            <a:noAutofit/>
          </a:bodyPr>
          <a:lstStyle/>
          <a:p>
            <a:pPr algn="l">
              <a:lnSpc>
                <a:spcPct val="100000"/>
              </a:lnSpc>
            </a:pPr>
            <a:r>
              <a:rPr sz="1600" b="0" i="0">
                <a:solidFill>
                  <a:srgbClr val="44506A"/>
                </a:solidFill>
                <a:latin typeface="Sora"/>
              </a:rPr>
              <a:t>NeoJob — une candidature qui se suit, un recrutement qui s'organise.</a:t>
            </a:r>
          </a:p>
        </p:txBody>
      </p:sp>
      <p:sp>
        <p:nvSpPr>
          <p:cNvPr id="6" name="Rectangle 5"/>
          <p:cNvSpPr/>
          <p:nvPr/>
        </p:nvSpPr>
        <p:spPr>
          <a:xfrm>
            <a:off x="868680" y="4343400"/>
            <a:ext cx="1005840" cy="38100"/>
          </a:xfrm>
          <a:prstGeom prst="rect">
            <a:avLst/>
          </a:prstGeom>
          <a:solidFill>
            <a:srgbClr val="2F6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4572000"/>
            <a:ext cx="525613" cy="310896"/>
          </a:xfrm>
          <a:prstGeom prst="roundRect">
            <a:avLst>
              <a:gd name="adj" fmla="val 50000"/>
            </a:avLst>
          </a:prstGeom>
          <a:solidFill>
            <a:srgbClr val="2F6FE0">
              <a:alpha val="10000"/>
            </a:srgbClr>
          </a:solidFill>
          <a:ln w="12700">
            <a:solidFill>
              <a:srgbClr val="2F6F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2F6FE0"/>
                </a:solidFill>
                <a:latin typeface="Inter"/>
              </a:rPr>
              <a:t>PHP</a:t>
            </a:r>
          </a:p>
        </p:txBody>
      </p:sp>
      <p:sp>
        <p:nvSpPr>
          <p:cNvPr id="8" name="Rounded Rectangle 7"/>
          <p:cNvSpPr/>
          <p:nvPr/>
        </p:nvSpPr>
        <p:spPr>
          <a:xfrm>
            <a:off x="1522309" y="4572000"/>
            <a:ext cx="668758" cy="310896"/>
          </a:xfrm>
          <a:prstGeom prst="roundRect">
            <a:avLst>
              <a:gd name="adj" fmla="val 50000"/>
            </a:avLst>
          </a:prstGeom>
          <a:solidFill>
            <a:srgbClr val="0E8F6B">
              <a:alpha val="10000"/>
            </a:srgbClr>
          </a:solidFill>
          <a:ln w="12700">
            <a:solidFill>
              <a:srgbClr val="0E8F6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E8F6B"/>
                </a:solidFill>
                <a:latin typeface="Inter"/>
              </a:rPr>
              <a:t>MySQL</a:t>
            </a:r>
          </a:p>
        </p:txBody>
      </p:sp>
      <p:sp>
        <p:nvSpPr>
          <p:cNvPr id="9" name="Rounded Rectangle 8"/>
          <p:cNvSpPr/>
          <p:nvPr/>
        </p:nvSpPr>
        <p:spPr>
          <a:xfrm>
            <a:off x="2319083" y="4572000"/>
            <a:ext cx="1026621" cy="310896"/>
          </a:xfrm>
          <a:prstGeom prst="roundRect">
            <a:avLst>
              <a:gd name="adj" fmla="val 50000"/>
            </a:avLst>
          </a:prstGeom>
          <a:solidFill>
            <a:srgbClr val="6D59E0">
              <a:alpha val="10000"/>
            </a:srgbClr>
          </a:solidFill>
          <a:ln w="12700">
            <a:solidFill>
              <a:srgbClr val="6D59E0">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6D59E0"/>
                </a:solidFill>
                <a:latin typeface="Inter"/>
              </a:rPr>
              <a:t>JavaScript</a:t>
            </a:r>
          </a:p>
        </p:txBody>
      </p:sp>
      <p:sp>
        <p:nvSpPr>
          <p:cNvPr id="10" name="Rounded Rectangle 9"/>
          <p:cNvSpPr/>
          <p:nvPr/>
        </p:nvSpPr>
        <p:spPr>
          <a:xfrm>
            <a:off x="3473720" y="4572000"/>
            <a:ext cx="1098194" cy="310896"/>
          </a:xfrm>
          <a:prstGeom prst="roundRect">
            <a:avLst>
              <a:gd name="adj" fmla="val 50000"/>
            </a:avLst>
          </a:prstGeom>
          <a:solidFill>
            <a:srgbClr val="C9721E">
              <a:alpha val="10000"/>
            </a:srgbClr>
          </a:solidFill>
          <a:ln w="12700">
            <a:solidFill>
              <a:srgbClr val="C9721E">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C9721E"/>
                </a:solidFill>
                <a:latin typeface="Inter"/>
              </a:rPr>
              <a:t>Bootstrap 5</a:t>
            </a:r>
          </a:p>
        </p:txBody>
      </p:sp>
      <p:sp>
        <p:nvSpPr>
          <p:cNvPr id="11" name="TextBox 10"/>
          <p:cNvSpPr txBox="1"/>
          <p:nvPr/>
        </p:nvSpPr>
        <p:spPr>
          <a:xfrm>
            <a:off x="8899855" y="6309360"/>
            <a:ext cx="2926080" cy="365760"/>
          </a:xfrm>
          <a:prstGeom prst="rect">
            <a:avLst/>
          </a:prstGeom>
          <a:noFill/>
        </p:spPr>
        <p:txBody>
          <a:bodyPr wrap="square" anchor="t" lIns="0" rIns="0" tIns="0" bIns="0">
            <a:noAutofit/>
          </a:bodyPr>
          <a:lstStyle/>
          <a:p>
            <a:pPr algn="r">
              <a:lnSpc>
                <a:spcPct val="100000"/>
              </a:lnSpc>
            </a:pPr>
            <a:r>
              <a:rPr sz="1000" b="0" i="0">
                <a:solidFill>
                  <a:srgbClr val="7A879C"/>
                </a:solidFill>
                <a:latin typeface="Consolas"/>
              </a:rPr>
              <a:t>NEOJOB.MA —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